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project reproduces and extends the report Drawing: A New Way To Search. The task is to classify hand-drawn doodles, and the authors' motivation is that a sketch could work as a search query. The data is Google QuickDraw: 28 by 28 grayscale bitmaps. Like the report, we use 3, 10 and 50 classes with 20,000 drawings per class, split 80, 10, 10 per class into training, validation and test. On the right you can see five drawings from each of the ten classes in the 10-class set.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compares four model families. Logistic regression is the simple, fast baseline. SVMs test whether non-linear kernels help, with four kernels capped at 500 iterations, and only on 3 and 10 classes. The CNNs learn spatial patterns: V1 has two convolution and pooling blocks, and V2 to V4 simplify it step by step, on raw and binarized input. Transfer learning reuses ImageNet networks with a frozen base and a small head, on 3 classes. The report measures validation accuracy and training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kept everything the report specifies: the same data, models, hyperparameters and metrics. One fixed split is saved once and shared by every model, so all comparisons are fair. We ran on a laptop RTX 4070 with current library versions, which is one source of differences. For transfer learning we computed the frozen networks' features once and trained only the head; that is mathematically the same, and took about 30.9 minutes. We also read the authors' code to explain the gaps.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 regression reproduces within about 1.2 points. The SVMs with RBF and polynomial kernels score far above the report, for example 84.0 against 62.7. The authors' logs imply about 70,000 drawings per class, and with the same 500-iteration cap more data means less convergence; our 70k rerun drops RBF to 75.0. For CNNs, our V1 matches their V2, while our real V2 is much lower: their code overwrote V2 with V1. The V3 gap remains unexplained.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VGG19 has no BatchNorm layers, and it reproduces almost exactly: 95.4 against 95.6. The three networks with BatchNorm score far higher for us, up to 93.1 against 45.7 for Inception. In 2018 Keras, frozen BatchNorm layers still used batch statistics during training, so training and validation behaved differently; their own Inception log shows near-perfect training accuracy with poor validation accuracy. So the report's conclusion that complex networks do not help doodles is most likely an artefact of that behaviour.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our extension we added XGBoost, because the reference has no tree-based model. Boosting adds trees one at a time, each correcting the errors of the previous ones. We tuned it with Optuna, a Bayesian optimiser, on the validation set. Our first run was time-capped at 50 classes; the extended run removed the cap and widened the search. Test accuracy moved from 77.4 to 77.9 at 50 classes. The curves show every 50-class setting levelling off at about 78 percent.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puts every model on one accuracy against training-time plot, with a log time axis, one panel per class size. The table gives the best model of each family. At 50 classes the CNN leads with 81.2 percent in 431.4 seconds, while tuned XGBoost reaches 78.0 in 7,191.1 seconds. Transfer learning is the most accurate at 3 classes. Logistic regression is the fastest but falls off quickly as classes increase, and the SVMs sit between it and the CNNs.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findings. First, the CNN is the best model at 50 classes and about 16.7 times faster to train than tuned XGBoost. Second, XGBoost keeps up with CNNs on 3 and 10 classes but stalls near 78 percent on 50, because trees look at individual pixels while convolutions learn shapes. Third, three surprising results in the reference have clear explanations: a version bug, a larger SVM dataset, and frozen BatchNorm. Finally, a natural next step is feeding transfer-learning features into XGBoost.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Drawing: A New Way To Search — Reproduce &amp; Extend</a:t>
            </a:r>
          </a:p>
        </p:txBody>
      </p:sp>
      <p:sp>
        <p:nvSpPr>
          <p:cNvPr id="3" name="TextBox 2"/>
          <p:cNvSpPr txBox="1"/>
          <p:nvPr/>
        </p:nvSpPr>
        <p:spPr>
          <a:xfrm>
            <a:off x="548640" y="1005840"/>
            <a:ext cx="7315200" cy="411480"/>
          </a:xfrm>
          <a:prstGeom prst="rect">
            <a:avLst/>
          </a:prstGeom>
          <a:noFill/>
        </p:spPr>
        <p:txBody>
          <a:bodyPr wrap="square" anchor="t">
            <a:spAutoFit/>
          </a:bodyPr>
          <a:lstStyle/>
          <a:p>
            <a:pPr algn="l"/>
            <a:r>
              <a:rPr sz="1800" b="0">
                <a:solidFill>
                  <a:srgbClr val="5A5A5A"/>
                </a:solidFill>
                <a:latin typeface="Arial"/>
              </a:rPr>
              <a:t>[Name 1, SRN] · [Name 2, SRN]</a:t>
            </a:r>
          </a:p>
        </p:txBody>
      </p:sp>
      <p:sp>
        <p:nvSpPr>
          <p:cNvPr id="4" name="TextBox 3"/>
          <p:cNvSpPr txBox="1"/>
          <p:nvPr/>
        </p:nvSpPr>
        <p:spPr>
          <a:xfrm>
            <a:off x="548640" y="1645920"/>
            <a:ext cx="6766560" cy="4572000"/>
          </a:xfrm>
          <a:prstGeom prst="rect">
            <a:avLst/>
          </a:prstGeom>
          <a:noFill/>
        </p:spPr>
        <p:txBody>
          <a:bodyPr wrap="square">
            <a:spAutoFit/>
          </a:bodyPr>
          <a:lstStyle/>
          <a:p>
            <a:pPr marL="274320" indent="-274320">
              <a:spcAft>
                <a:spcPts val="1000"/>
              </a:spcAft>
              <a:buChar char="•"/>
            </a:pPr>
            <a:r>
              <a:rPr sz="1800" b="0">
                <a:solidFill>
                  <a:srgbClr val="1A1A1A"/>
                </a:solidFill>
                <a:latin typeface="Arial"/>
              </a:rPr>
              <a:t>Goal: classify hand-drawn doodles; the reference's motivation is drawing as a search interface</a:t>
            </a:r>
          </a:p>
          <a:p>
            <a:pPr marL="274320" indent="-274320">
              <a:spcAft>
                <a:spcPts val="1000"/>
              </a:spcAft>
              <a:buChar char="•"/>
            </a:pPr>
            <a:r>
              <a:rPr sz="1800" b="0">
                <a:solidFill>
                  <a:srgbClr val="1A1A1A"/>
                </a:solidFill>
                <a:latin typeface="Arial"/>
              </a:rPr>
              <a:t>Data: Google QuickDraw, 28×28 grayscale bitmaps</a:t>
            </a:r>
          </a:p>
          <a:p>
            <a:pPr marL="274320" indent="-274320">
              <a:spcAft>
                <a:spcPts val="1000"/>
              </a:spcAft>
              <a:buChar char="•"/>
            </a:pPr>
            <a:r>
              <a:rPr sz="1800" b="0">
                <a:solidFill>
                  <a:srgbClr val="1A1A1A"/>
                </a:solidFill>
                <a:latin typeface="Arial"/>
              </a:rPr>
              <a:t>3 / 10 / 50 classes, 20,000 drawings per class</a:t>
            </a:r>
          </a:p>
          <a:p>
            <a:pPr marL="274320" indent="-274320">
              <a:spcAft>
                <a:spcPts val="1000"/>
              </a:spcAft>
              <a:buChar char="•"/>
            </a:pPr>
            <a:r>
              <a:rPr sz="1800" b="0">
                <a:solidFill>
                  <a:srgbClr val="1A1A1A"/>
                </a:solidFill>
                <a:latin typeface="Arial"/>
              </a:rPr>
              <a:t>Split per class 80/10/10: 16,000 / 2,000 / 2,000 (train / validation / test)</a:t>
            </a:r>
          </a:p>
        </p:txBody>
      </p:sp>
      <p:pic>
        <p:nvPicPr>
          <p:cNvPr id="5" name="Picture 4" descr="samples_10x5.png"/>
          <p:cNvPicPr>
            <a:picLocks noChangeAspect="1"/>
          </p:cNvPicPr>
          <p:nvPr/>
        </p:nvPicPr>
        <p:blipFill>
          <a:blip r:embed="rId2"/>
          <a:stretch>
            <a:fillRect/>
          </a:stretch>
        </p:blipFill>
        <p:spPr>
          <a:xfrm>
            <a:off x="7589520" y="1134386"/>
            <a:ext cx="4114800" cy="5137866"/>
          </a:xfrm>
          <a:prstGeom prst="rect">
            <a:avLst/>
          </a:prstGeom>
        </p:spPr>
      </p:pic>
      <p:sp>
        <p:nvSpPr>
          <p:cNvPr id="6" name="TextBox 5"/>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7" name="TextBox 6"/>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Reference approach (the original paper)</a:t>
            </a:r>
          </a:p>
        </p:txBody>
      </p:sp>
      <p:graphicFrame>
        <p:nvGraphicFramePr>
          <p:cNvPr id="3" name="Table 2"/>
          <p:cNvGraphicFramePr>
            <a:graphicFrameLocks noGrp="1"/>
          </p:cNvGraphicFramePr>
          <p:nvPr/>
        </p:nvGraphicFramePr>
        <p:xfrm>
          <a:off x="548640" y="1143000"/>
          <a:ext cx="11064240" cy="2286000"/>
        </p:xfrm>
        <a:graphic>
          <a:graphicData uri="http://schemas.openxmlformats.org/drawingml/2006/table">
            <a:tbl>
              <a:tblPr firstRow="1" bandRow="1">
                <a:tableStyleId>{5C22544A-7EE6-4342-B048-85BDC9FD1C3A}</a:tableStyleId>
              </a:tblPr>
              <a:tblGrid>
                <a:gridCol w="2011680"/>
                <a:gridCol w="2651760"/>
                <a:gridCol w="2377440"/>
                <a:gridCol w="4023360"/>
              </a:tblGrid>
              <a:tr h="457200">
                <a:tc>
                  <a:txBody>
                    <a:bodyPr wrap="square"/>
                    <a:lstStyle/>
                    <a:p>
                      <a:pPr algn="l"/>
                      <a:r>
                        <a:rPr sz="1800" b="1">
                          <a:solidFill>
                            <a:srgbClr val="FFFFFF"/>
                          </a:solidFill>
                          <a:latin typeface="Arial"/>
                        </a:rPr>
                        <a:t>Family</a:t>
                      </a:r>
                    </a:p>
                  </a:txBody>
                  <a:tcPr marL="73152" marR="73152" marT="27432" marB="27432" anchor="ctr">
                    <a:solidFill>
                      <a:srgbClr val="1F3A5F"/>
                    </a:solidFill>
                  </a:tcPr>
                </a:tc>
                <a:tc>
                  <a:txBody>
                    <a:bodyPr wrap="square"/>
                    <a:lstStyle/>
                    <a:p>
                      <a:pPr algn="l"/>
                      <a:r>
                        <a:rPr sz="1800" b="1">
                          <a:solidFill>
                            <a:srgbClr val="FFFFFF"/>
                          </a:solidFill>
                          <a:latin typeface="Arial"/>
                        </a:rPr>
                        <a:t>Models</a:t>
                      </a:r>
                    </a:p>
                  </a:txBody>
                  <a:tcPr marL="73152" marR="73152" marT="27432" marB="27432" anchor="ctr">
                    <a:solidFill>
                      <a:srgbClr val="1F3A5F"/>
                    </a:solidFill>
                  </a:tcPr>
                </a:tc>
                <a:tc>
                  <a:txBody>
                    <a:bodyPr wrap="square"/>
                    <a:lstStyle/>
                    <a:p>
                      <a:pPr algn="l"/>
                      <a:r>
                        <a:rPr sz="1800" b="1">
                          <a:solidFill>
                            <a:srgbClr val="FFFFFF"/>
                          </a:solidFill>
                          <a:latin typeface="Arial"/>
                        </a:rPr>
                        <a:t>Why it was used</a:t>
                      </a:r>
                    </a:p>
                  </a:txBody>
                  <a:tcPr marL="73152" marR="73152" marT="27432" marB="27432" anchor="ctr">
                    <a:solidFill>
                      <a:srgbClr val="1F3A5F"/>
                    </a:solidFill>
                  </a:tcPr>
                </a:tc>
                <a:tc>
                  <a:txBody>
                    <a:bodyPr wrap="square"/>
                    <a:lstStyle/>
                    <a:p>
                      <a:pPr algn="l"/>
                      <a:r>
                        <a:rPr sz="1800" b="1">
                          <a:solidFill>
                            <a:srgbClr val="FFFFFF"/>
                          </a:solidFill>
                          <a:latin typeface="Arial"/>
                        </a:rPr>
                        <a:t>Key settings</a:t>
                      </a:r>
                    </a:p>
                  </a:txBody>
                  <a:tcPr marL="73152" marR="73152" marT="27432" marB="27432" anchor="ctr">
                    <a:solidFill>
                      <a:srgbClr val="1F3A5F"/>
                    </a:solidFill>
                  </a:tcPr>
                </a:tc>
              </a:tr>
              <a:tr h="457200">
                <a:tc>
                  <a:txBody>
                    <a:bodyPr wrap="square"/>
                    <a:lstStyle/>
                    <a:p>
                      <a:pPr algn="l"/>
                      <a:r>
                        <a:rPr sz="1800" b="0">
                          <a:solidFill>
                            <a:srgbClr val="1A1A1A"/>
                          </a:solidFill>
                          <a:latin typeface="Arial"/>
                        </a:rPr>
                        <a:t>Logistic Regression</a:t>
                      </a:r>
                    </a:p>
                  </a:txBody>
                  <a:tcPr marL="73152" marR="73152" marT="27432" marB="27432" anchor="ctr">
                    <a:solidFill>
                      <a:srgbClr val="FFFFFF"/>
                    </a:solidFill>
                  </a:tcPr>
                </a:tc>
                <a:tc>
                  <a:txBody>
                    <a:bodyPr wrap="square"/>
                    <a:lstStyle/>
                    <a:p>
                      <a:pPr algn="l"/>
                      <a:r>
                        <a:rPr sz="1800" b="0">
                          <a:solidFill>
                            <a:srgbClr val="1A1A1A"/>
                          </a:solidFill>
                          <a:latin typeface="Arial"/>
                        </a:rPr>
                        <a:t>LR</a:t>
                      </a:r>
                    </a:p>
                  </a:txBody>
                  <a:tcPr marL="73152" marR="73152" marT="27432" marB="27432" anchor="ctr">
                    <a:solidFill>
                      <a:srgbClr val="FFFFFF"/>
                    </a:solidFill>
                  </a:tcPr>
                </a:tc>
                <a:tc>
                  <a:txBody>
                    <a:bodyPr wrap="square"/>
                    <a:lstStyle/>
                    <a:p>
                      <a:pPr algn="l"/>
                      <a:r>
                        <a:rPr sz="1800" b="0">
                          <a:solidFill>
                            <a:srgbClr val="1A1A1A"/>
                          </a:solidFill>
                          <a:latin typeface="Arial"/>
                        </a:rPr>
                        <a:t>Simple, fast baseline</a:t>
                      </a:r>
                    </a:p>
                  </a:txBody>
                  <a:tcPr marL="73152" marR="73152" marT="27432" marB="27432" anchor="ctr">
                    <a:solidFill>
                      <a:srgbClr val="FFFFFF"/>
                    </a:solidFill>
                  </a:tcPr>
                </a:tc>
                <a:tc>
                  <a:txBody>
                    <a:bodyPr wrap="square"/>
                    <a:lstStyle/>
                    <a:p>
                      <a:pPr algn="l"/>
                      <a:r>
                        <a:rPr sz="1800" b="0">
                          <a:solidFill>
                            <a:srgbClr val="1A1A1A"/>
                          </a:solidFill>
                          <a:latin typeface="Arial"/>
                        </a:rPr>
                        <a:t>lbfgs, 100 iterations, raw pixels</a:t>
                      </a:r>
                    </a:p>
                  </a:txBody>
                  <a:tcPr marL="73152" marR="73152" marT="27432" marB="27432" anchor="ctr">
                    <a:solidFill>
                      <a:srgbClr val="FFFFFF"/>
                    </a:solidFill>
                  </a:tcPr>
                </a:tc>
              </a:tr>
              <a:tr h="457200">
                <a:tc>
                  <a:txBody>
                    <a:bodyPr wrap="square"/>
                    <a:lstStyle/>
                    <a:p>
                      <a:pPr algn="l"/>
                      <a:r>
                        <a:rPr sz="1800" b="0">
                          <a:solidFill>
                            <a:srgbClr val="1A1A1A"/>
                          </a:solidFill>
                          <a:latin typeface="Arial"/>
                        </a:rPr>
                        <a:t>SVM</a:t>
                      </a:r>
                    </a:p>
                  </a:txBody>
                  <a:tcPr marL="73152" marR="73152" marT="27432" marB="27432" anchor="ctr">
                    <a:solidFill>
                      <a:srgbClr val="F2F4F7"/>
                    </a:solidFill>
                  </a:tcPr>
                </a:tc>
                <a:tc>
                  <a:txBody>
                    <a:bodyPr wrap="square"/>
                    <a:lstStyle/>
                    <a:p>
                      <a:pPr algn="l"/>
                      <a:r>
                        <a:rPr sz="1800" b="0">
                          <a:solidFill>
                            <a:srgbClr val="1A1A1A"/>
                          </a:solidFill>
                          <a:latin typeface="Arial"/>
                        </a:rPr>
                        <a:t>Linear, RBF, poly (deg 5), sigmoid</a:t>
                      </a:r>
                    </a:p>
                  </a:txBody>
                  <a:tcPr marL="73152" marR="73152" marT="27432" marB="27432" anchor="ctr">
                    <a:solidFill>
                      <a:srgbClr val="F2F4F7"/>
                    </a:solidFill>
                  </a:tcPr>
                </a:tc>
                <a:tc>
                  <a:txBody>
                    <a:bodyPr wrap="square"/>
                    <a:lstStyle/>
                    <a:p>
                      <a:pPr algn="l"/>
                      <a:r>
                        <a:rPr sz="1800" b="0">
                          <a:solidFill>
                            <a:srgbClr val="1A1A1A"/>
                          </a:solidFill>
                          <a:latin typeface="Arial"/>
                        </a:rPr>
                        <a:t>Tests kernel non-linearity</a:t>
                      </a:r>
                    </a:p>
                  </a:txBody>
                  <a:tcPr marL="73152" marR="73152" marT="27432" marB="27432" anchor="ctr">
                    <a:solidFill>
                      <a:srgbClr val="F2F4F7"/>
                    </a:solidFill>
                  </a:tcPr>
                </a:tc>
                <a:tc>
                  <a:txBody>
                    <a:bodyPr wrap="square"/>
                    <a:lstStyle/>
                    <a:p>
                      <a:pPr algn="l"/>
                      <a:r>
                        <a:rPr sz="1800" b="0">
                          <a:solidFill>
                            <a:srgbClr val="1A1A1A"/>
                          </a:solidFill>
                          <a:latin typeface="Arial"/>
                        </a:rPr>
                        <a:t>500 iterations, inputs scaled to [−1, 1], 3 and 10 classes only</a:t>
                      </a:r>
                    </a:p>
                  </a:txBody>
                  <a:tcPr marL="73152" marR="73152" marT="27432" marB="27432" anchor="ctr">
                    <a:solidFill>
                      <a:srgbClr val="F2F4F7"/>
                    </a:solidFill>
                  </a:tcPr>
                </a:tc>
              </a:tr>
              <a:tr h="457200">
                <a:tc>
                  <a:txBody>
                    <a:bodyPr wrap="square"/>
                    <a:lstStyle/>
                    <a:p>
                      <a:pPr algn="l"/>
                      <a:r>
                        <a:rPr sz="1800" b="0">
                          <a:solidFill>
                            <a:srgbClr val="1A1A1A"/>
                          </a:solidFill>
                          <a:latin typeface="Arial"/>
                        </a:rPr>
                        <a:t>CNN</a:t>
                      </a:r>
                    </a:p>
                  </a:txBody>
                  <a:tcPr marL="73152" marR="73152" marT="27432" marB="27432" anchor="ctr">
                    <a:solidFill>
                      <a:srgbClr val="FFFFFF"/>
                    </a:solidFill>
                  </a:tcPr>
                </a:tc>
                <a:tc>
                  <a:txBody>
                    <a:bodyPr wrap="square"/>
                    <a:lstStyle/>
                    <a:p>
                      <a:pPr algn="l"/>
                      <a:r>
                        <a:rPr sz="1800" b="0">
                          <a:solidFill>
                            <a:srgbClr val="1A1A1A"/>
                          </a:solidFill>
                          <a:latin typeface="Arial"/>
                        </a:rPr>
                        <a:t>V1–V4</a:t>
                      </a:r>
                    </a:p>
                  </a:txBody>
                  <a:tcPr marL="73152" marR="73152" marT="27432" marB="27432" anchor="ctr">
                    <a:solidFill>
                      <a:srgbClr val="FFFFFF"/>
                    </a:solidFill>
                  </a:tcPr>
                </a:tc>
                <a:tc>
                  <a:txBody>
                    <a:bodyPr wrap="square"/>
                    <a:lstStyle/>
                    <a:p>
                      <a:pPr algn="l"/>
                      <a:r>
                        <a:rPr sz="1800" b="0">
                          <a:solidFill>
                            <a:srgbClr val="1A1A1A"/>
                          </a:solidFill>
                          <a:latin typeface="Arial"/>
                        </a:rPr>
                        <a:t>Learns spatial patterns</a:t>
                      </a:r>
                    </a:p>
                  </a:txBody>
                  <a:tcPr marL="73152" marR="73152" marT="27432" marB="27432" anchor="ctr">
                    <a:solidFill>
                      <a:srgbClr val="FFFFFF"/>
                    </a:solidFill>
                  </a:tcPr>
                </a:tc>
                <a:tc>
                  <a:txBody>
                    <a:bodyPr wrap="square"/>
                    <a:lstStyle/>
                    <a:p>
                      <a:pPr algn="l"/>
                      <a:r>
                        <a:rPr sz="1800" b="0">
                          <a:solidFill>
                            <a:srgbClr val="1A1A1A"/>
                          </a:solidFill>
                          <a:latin typeface="Arial"/>
                        </a:rPr>
                        <a:t>V1 = 2 conv + 2 max-pool + Dense 128, simplified to V2–V4; Adam, batch 500, 100 epochs; raw and binarized inputs</a:t>
                      </a:r>
                    </a:p>
                  </a:txBody>
                  <a:tcPr marL="73152" marR="73152" marT="27432" marB="27432" anchor="ctr">
                    <a:solidFill>
                      <a:srgbClr val="FFFFFF"/>
                    </a:solidFill>
                  </a:tcPr>
                </a:tc>
              </a:tr>
              <a:tr h="457200">
                <a:tc>
                  <a:txBody>
                    <a:bodyPr wrap="square"/>
                    <a:lstStyle/>
                    <a:p>
                      <a:pPr algn="l"/>
                      <a:r>
                        <a:rPr sz="1800" b="0">
                          <a:solidFill>
                            <a:srgbClr val="1A1A1A"/>
                          </a:solidFill>
                          <a:latin typeface="Arial"/>
                        </a:rPr>
                        <a:t>Transfer learning</a:t>
                      </a:r>
                    </a:p>
                  </a:txBody>
                  <a:tcPr marL="73152" marR="73152" marT="27432" marB="27432" anchor="ctr">
                    <a:solidFill>
                      <a:srgbClr val="F2F4F7"/>
                    </a:solidFill>
                  </a:tcPr>
                </a:tc>
                <a:tc>
                  <a:txBody>
                    <a:bodyPr wrap="square"/>
                    <a:lstStyle/>
                    <a:p>
                      <a:pPr algn="l"/>
                      <a:r>
                        <a:rPr sz="1800" b="0">
                          <a:solidFill>
                            <a:srgbClr val="1A1A1A"/>
                          </a:solidFill>
                          <a:latin typeface="Arial"/>
                        </a:rPr>
                        <a:t>VGG19, InceptionV3, ResNet50, MobileNet</a:t>
                      </a:r>
                    </a:p>
                  </a:txBody>
                  <a:tcPr marL="73152" marR="73152" marT="27432" marB="27432" anchor="ctr">
                    <a:solidFill>
                      <a:srgbClr val="F2F4F7"/>
                    </a:solidFill>
                  </a:tcPr>
                </a:tc>
                <a:tc>
                  <a:txBody>
                    <a:bodyPr wrap="square"/>
                    <a:lstStyle/>
                    <a:p>
                      <a:pPr algn="l"/>
                      <a:r>
                        <a:rPr sz="1800" b="0">
                          <a:solidFill>
                            <a:srgbClr val="1A1A1A"/>
                          </a:solidFill>
                          <a:latin typeface="Arial"/>
                        </a:rPr>
                        <a:t>Reuses ImageNet knowledge</a:t>
                      </a:r>
                    </a:p>
                  </a:txBody>
                  <a:tcPr marL="73152" marR="73152" marT="27432" marB="27432" anchor="ctr">
                    <a:solidFill>
                      <a:srgbClr val="F2F4F7"/>
                    </a:solidFill>
                  </a:tcPr>
                </a:tc>
                <a:tc>
                  <a:txBody>
                    <a:bodyPr wrap="square"/>
                    <a:lstStyle/>
                    <a:p>
                      <a:pPr algn="l"/>
                      <a:r>
                        <a:rPr sz="1800" b="0">
                          <a:solidFill>
                            <a:srgbClr val="1A1A1A"/>
                          </a:solidFill>
                          <a:latin typeface="Arial"/>
                        </a:rPr>
                        <a:t>Frozen base + small head, 3 classes</a:t>
                      </a:r>
                    </a:p>
                  </a:txBody>
                  <a:tcPr marL="73152" marR="73152" marT="27432" marB="27432" anchor="ctr">
                    <a:solidFill>
                      <a:srgbClr val="F2F4F7"/>
                    </a:solidFill>
                  </a:tcPr>
                </a:tc>
              </a:tr>
            </a:tbl>
          </a:graphicData>
        </a:graphic>
      </p:graphicFrame>
      <p:sp>
        <p:nvSpPr>
          <p:cNvPr id="4" name="TextBox 3"/>
          <p:cNvSpPr txBox="1"/>
          <p:nvPr/>
        </p:nvSpPr>
        <p:spPr>
          <a:xfrm>
            <a:off x="548640" y="5897880"/>
            <a:ext cx="10972800" cy="411480"/>
          </a:xfrm>
          <a:prstGeom prst="rect">
            <a:avLst/>
          </a:prstGeom>
          <a:noFill/>
        </p:spPr>
        <p:txBody>
          <a:bodyPr wrap="square" anchor="t">
            <a:spAutoFit/>
          </a:bodyPr>
          <a:lstStyle/>
          <a:p>
            <a:pPr algn="l"/>
            <a:r>
              <a:rPr sz="1800" b="0">
                <a:solidFill>
                  <a:srgbClr val="5A5A5A"/>
                </a:solidFill>
                <a:latin typeface="Arial"/>
              </a:rPr>
              <a:t>Metrics: validation accuracy and training time (report §5.1).</a:t>
            </a:r>
          </a:p>
        </p:txBody>
      </p:sp>
      <p:sp>
        <p:nvSpPr>
          <p:cNvPr id="5" name="TextBox 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6" name="TextBox 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Our reproduction setup</a:t>
            </a:r>
          </a:p>
        </p:txBody>
      </p:sp>
      <p:sp>
        <p:nvSpPr>
          <p:cNvPr id="3" name="TextBox 2"/>
          <p:cNvSpPr txBox="1"/>
          <p:nvPr/>
        </p:nvSpPr>
        <p:spPr>
          <a:xfrm>
            <a:off x="548640" y="1188720"/>
            <a:ext cx="11064240" cy="3840480"/>
          </a:xfrm>
          <a:prstGeom prst="rect">
            <a:avLst/>
          </a:prstGeom>
          <a:noFill/>
        </p:spPr>
        <p:txBody>
          <a:bodyPr wrap="square">
            <a:spAutoFit/>
          </a:bodyPr>
          <a:lstStyle/>
          <a:p>
            <a:pPr marL="274320" indent="-274320">
              <a:spcAft>
                <a:spcPts val="1000"/>
              </a:spcAft>
              <a:buChar char="•"/>
            </a:pPr>
            <a:r>
              <a:rPr sz="1800" b="0">
                <a:solidFill>
                  <a:srgbClr val="1A1A1A"/>
                </a:solidFill>
                <a:latin typeface="Arial"/>
              </a:rPr>
              <a:t>Same data, split, models, hyperparameters and metrics as the report</a:t>
            </a:r>
          </a:p>
          <a:p>
            <a:pPr marL="274320" indent="-274320">
              <a:spcAft>
                <a:spcPts val="1000"/>
              </a:spcAft>
              <a:buChar char="•"/>
            </a:pPr>
            <a:r>
              <a:rPr sz="1800" b="0">
                <a:solidFill>
                  <a:srgbClr val="1A1A1A"/>
                </a:solidFill>
                <a:latin typeface="Arial"/>
              </a:rPr>
              <a:t>One fixed train / validation / test split, shared by every model</a:t>
            </a:r>
          </a:p>
          <a:p>
            <a:pPr marL="274320" indent="-274320">
              <a:spcAft>
                <a:spcPts val="1000"/>
              </a:spcAft>
              <a:buChar char="•"/>
            </a:pPr>
            <a:r>
              <a:rPr sz="1800" b="0">
                <a:solidFill>
                  <a:srgbClr val="1A1A1A"/>
                </a:solidFill>
                <a:latin typeface="Arial"/>
              </a:rPr>
              <a:t>RTX 4070 Laptop 8 GB, i7-14650HX; Python 3.12.14, TensorFlow 2.21.0 (Keras 3.15.1), scikit-learn 1.9.1, XGBoost 3.4.1</a:t>
            </a:r>
          </a:p>
          <a:p>
            <a:pPr marL="274320" indent="-274320">
              <a:spcAft>
                <a:spcPts val="1000"/>
              </a:spcAft>
              <a:buChar char="•"/>
            </a:pPr>
            <a:r>
              <a:rPr sz="1800" b="0">
                <a:solidFill>
                  <a:srgbClr val="1A1A1A"/>
                </a:solidFill>
                <a:latin typeface="Arial"/>
              </a:rPr>
              <a:t>Transfer learning on features precomputed once by the frozen networks: same maths as frozen training, 30.9 min in total instead of [PLACEHOLDER: ~16 GPU-hours, not in results/]</a:t>
            </a:r>
          </a:p>
          <a:p>
            <a:pPr marL="274320" indent="-274320">
              <a:spcAft>
                <a:spcPts val="1000"/>
              </a:spcAft>
              <a:buChar char="•"/>
            </a:pPr>
            <a:r>
              <a:rPr sz="1800" b="0">
                <a:solidFill>
                  <a:srgbClr val="1A1A1A"/>
                </a:solidFill>
                <a:latin typeface="Arial"/>
              </a:rPr>
              <a:t>We also read the authors' original code to explain differences</a:t>
            </a:r>
          </a:p>
        </p:txBody>
      </p:sp>
      <p:sp>
        <p:nvSpPr>
          <p:cNvPr id="4" name="Rectangle 3"/>
          <p:cNvSpPr/>
          <p:nvPr/>
        </p:nvSpPr>
        <p:spPr>
          <a:xfrm>
            <a:off x="1463040" y="5257800"/>
            <a:ext cx="1737360" cy="6858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Data</a:t>
            </a:r>
          </a:p>
        </p:txBody>
      </p:sp>
      <p:sp>
        <p:nvSpPr>
          <p:cNvPr id="5" name="Rectangle 4"/>
          <p:cNvSpPr/>
          <p:nvPr/>
        </p:nvSpPr>
        <p:spPr>
          <a:xfrm>
            <a:off x="3977639" y="5257800"/>
            <a:ext cx="1737360" cy="6858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Split</a:t>
            </a:r>
          </a:p>
        </p:txBody>
      </p:sp>
      <p:cxnSp>
        <p:nvCxnSpPr>
          <p:cNvPr id="6" name="Connector 5"/>
          <p:cNvCxnSpPr/>
          <p:nvPr/>
        </p:nvCxnSpPr>
        <p:spPr>
          <a:xfrm>
            <a:off x="3200399" y="5600700"/>
            <a:ext cx="758953" cy="0"/>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492240" y="5257800"/>
            <a:ext cx="1737360" cy="6858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Model</a:t>
            </a:r>
          </a:p>
        </p:txBody>
      </p:sp>
      <p:cxnSp>
        <p:nvCxnSpPr>
          <p:cNvPr id="8" name="Connector 7"/>
          <p:cNvCxnSpPr/>
          <p:nvPr/>
        </p:nvCxnSpPr>
        <p:spPr>
          <a:xfrm>
            <a:off x="5715000" y="5600700"/>
            <a:ext cx="758952" cy="0"/>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9006840" y="5257800"/>
            <a:ext cx="1737360" cy="68580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Metrics</a:t>
            </a:r>
          </a:p>
        </p:txBody>
      </p:sp>
      <p:cxnSp>
        <p:nvCxnSpPr>
          <p:cNvPr id="10" name="Connector 9"/>
          <p:cNvCxnSpPr/>
          <p:nvPr/>
        </p:nvCxnSpPr>
        <p:spPr>
          <a:xfrm>
            <a:off x="8229600" y="5600700"/>
            <a:ext cx="758952" cy="0"/>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12" name="TextBox 11"/>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Reproduced results: LR, SVM, CNN (validation %)</a:t>
            </a:r>
          </a:p>
        </p:txBody>
      </p:sp>
      <p:graphicFrame>
        <p:nvGraphicFramePr>
          <p:cNvPr id="3" name="Table 2"/>
          <p:cNvGraphicFramePr>
            <a:graphicFrameLocks noGrp="1"/>
          </p:cNvGraphicFramePr>
          <p:nvPr/>
        </p:nvGraphicFramePr>
        <p:xfrm>
          <a:off x="548640" y="1143000"/>
          <a:ext cx="6949440" cy="4425696"/>
        </p:xfrm>
        <a:graphic>
          <a:graphicData uri="http://schemas.openxmlformats.org/drawingml/2006/table">
            <a:tbl>
              <a:tblPr firstRow="1" bandRow="1">
                <a:tableStyleId>{5C22544A-7EE6-4342-B048-85BDC9FD1C3A}</a:tableStyleId>
              </a:tblPr>
              <a:tblGrid>
                <a:gridCol w="2286000"/>
                <a:gridCol w="1188720"/>
                <a:gridCol w="1188720"/>
                <a:gridCol w="1005840"/>
                <a:gridCol w="1280160"/>
              </a:tblGrid>
              <a:tr h="402336">
                <a:tc>
                  <a:txBody>
                    <a:bodyPr wrap="square"/>
                    <a:lstStyle/>
                    <a:p>
                      <a:pPr algn="l"/>
                      <a:r>
                        <a:rPr sz="1800" b="1">
                          <a:solidFill>
                            <a:srgbClr val="FFFFFF"/>
                          </a:solidFill>
                          <a:latin typeface="Arial"/>
                        </a:rPr>
                        <a:t>Model</a:t>
                      </a:r>
                    </a:p>
                  </a:txBody>
                  <a:tcPr marL="73152" marR="73152" marT="27432" marB="27432" anchor="ctr">
                    <a:solidFill>
                      <a:srgbClr val="1F3A5F"/>
                    </a:solidFill>
                  </a:tcPr>
                </a:tc>
                <a:tc>
                  <a:txBody>
                    <a:bodyPr wrap="square"/>
                    <a:lstStyle/>
                    <a:p>
                      <a:pPr algn="ctr"/>
                      <a:r>
                        <a:rPr sz="1800" b="1">
                          <a:solidFill>
                            <a:srgbClr val="FFFFFF"/>
                          </a:solidFill>
                          <a:latin typeface="Arial"/>
                        </a:rPr>
                        <a:t>Classes</a:t>
                      </a:r>
                    </a:p>
                  </a:txBody>
                  <a:tcPr marL="73152" marR="73152" marT="27432" marB="27432" anchor="ctr">
                    <a:solidFill>
                      <a:srgbClr val="1F3A5F"/>
                    </a:solidFill>
                  </a:tcPr>
                </a:tc>
                <a:tc>
                  <a:txBody>
                    <a:bodyPr wrap="square"/>
                    <a:lstStyle/>
                    <a:p>
                      <a:pPr algn="ctr"/>
                      <a:r>
                        <a:rPr sz="1800" b="1">
                          <a:solidFill>
                            <a:srgbClr val="FFFFFF"/>
                          </a:solidFill>
                          <a:latin typeface="Arial"/>
                        </a:rPr>
                        <a:t>Reported</a:t>
                      </a:r>
                    </a:p>
                  </a:txBody>
                  <a:tcPr marL="73152" marR="73152" marT="27432" marB="27432" anchor="ctr">
                    <a:solidFill>
                      <a:srgbClr val="1F3A5F"/>
                    </a:solidFill>
                  </a:tcPr>
                </a:tc>
                <a:tc>
                  <a:txBody>
                    <a:bodyPr wrap="square"/>
                    <a:lstStyle/>
                    <a:p>
                      <a:pPr algn="ctr"/>
                      <a:r>
                        <a:rPr sz="1800" b="1">
                          <a:solidFill>
                            <a:srgbClr val="FFFFFF"/>
                          </a:solidFill>
                          <a:latin typeface="Arial"/>
                        </a:rPr>
                        <a:t>Ours</a:t>
                      </a:r>
                    </a:p>
                  </a:txBody>
                  <a:tcPr marL="73152" marR="73152" marT="27432" marB="27432" anchor="ctr">
                    <a:solidFill>
                      <a:srgbClr val="1F3A5F"/>
                    </a:solidFill>
                  </a:tcPr>
                </a:tc>
                <a:tc>
                  <a:txBody>
                    <a:bodyPr wrap="square"/>
                    <a:lstStyle/>
                    <a:p>
                      <a:pPr algn="ctr"/>
                      <a:r>
                        <a:rPr sz="1800" b="1">
                          <a:solidFill>
                            <a:srgbClr val="FFFFFF"/>
                          </a:solidFill>
                          <a:latin typeface="Arial"/>
                        </a:rPr>
                        <a:t>Ours, 70k</a:t>
                      </a:r>
                    </a:p>
                  </a:txBody>
                  <a:tcPr marL="73152" marR="73152" marT="27432" marB="27432" anchor="ctr">
                    <a:solidFill>
                      <a:srgbClr val="1F3A5F"/>
                    </a:solidFill>
                  </a:tcPr>
                </a:tc>
              </a:tr>
              <a:tr h="402336">
                <a:tc>
                  <a:txBody>
                    <a:bodyPr wrap="square"/>
                    <a:lstStyle/>
                    <a:p>
                      <a:pPr algn="l"/>
                      <a:r>
                        <a:rPr sz="1800" b="0">
                          <a:solidFill>
                            <a:srgbClr val="1A1A1A"/>
                          </a:solidFill>
                          <a:latin typeface="Arial"/>
                        </a:rPr>
                        <a:t>LR</a:t>
                      </a:r>
                    </a:p>
                  </a:txBody>
                  <a:tcPr marL="73152" marR="73152" marT="27432" marB="27432" anchor="ctr">
                    <a:solidFill>
                      <a:srgbClr val="FFFFFF"/>
                    </a:solidFill>
                  </a:tcPr>
                </a:tc>
                <a:tc>
                  <a:txBody>
                    <a:bodyPr wrap="square"/>
                    <a:lstStyle/>
                    <a:p>
                      <a:pPr algn="ctr"/>
                      <a:r>
                        <a:rPr sz="1800" b="0">
                          <a:solidFill>
                            <a:srgbClr val="1A1A1A"/>
                          </a:solidFill>
                          <a:latin typeface="Arial"/>
                        </a:rPr>
                        <a:t>3</a:t>
                      </a:r>
                    </a:p>
                  </a:txBody>
                  <a:tcPr marL="73152" marR="73152" marT="27432" marB="27432" anchor="ctr">
                    <a:solidFill>
                      <a:srgbClr val="FFFFFF"/>
                    </a:solidFill>
                  </a:tcPr>
                </a:tc>
                <a:tc>
                  <a:txBody>
                    <a:bodyPr wrap="square"/>
                    <a:lstStyle/>
                    <a:p>
                      <a:pPr algn="ctr"/>
                      <a:r>
                        <a:rPr sz="1800" b="0">
                          <a:solidFill>
                            <a:srgbClr val="1A1A1A"/>
                          </a:solidFill>
                          <a:latin typeface="Arial"/>
                        </a:rPr>
                        <a:t>79.5</a:t>
                      </a:r>
                    </a:p>
                  </a:txBody>
                  <a:tcPr marL="73152" marR="73152" marT="27432" marB="27432" anchor="ctr">
                    <a:solidFill>
                      <a:srgbClr val="FFFFFF"/>
                    </a:solidFill>
                  </a:tcPr>
                </a:tc>
                <a:tc>
                  <a:txBody>
                    <a:bodyPr wrap="square"/>
                    <a:lstStyle/>
                    <a:p>
                      <a:pPr algn="ctr"/>
                      <a:r>
                        <a:rPr sz="1800" b="0">
                          <a:solidFill>
                            <a:srgbClr val="1A1A1A"/>
                          </a:solidFill>
                          <a:latin typeface="Arial"/>
                        </a:rPr>
                        <a:t>79.3</a:t>
                      </a:r>
                    </a:p>
                  </a:txBody>
                  <a:tcPr marL="73152" marR="73152" marT="27432" marB="27432" anchor="ctr">
                    <a:solidFill>
                      <a:srgbClr val="FFFFFF"/>
                    </a:solidFill>
                  </a:tcPr>
                </a:tc>
                <a:tc>
                  <a:txBody>
                    <a:bodyPr wrap="square"/>
                    <a:lstStyle/>
                    <a:p>
                      <a:pPr algn="ctr"/>
                      <a:r>
                        <a:rPr sz="1800" b="0">
                          <a:solidFill>
                            <a:srgbClr val="1A1A1A"/>
                          </a:solidFill>
                          <a:latin typeface="Arial"/>
                        </a:rPr>
                        <a:t>—</a:t>
                      </a:r>
                    </a:p>
                  </a:txBody>
                  <a:tcPr marL="73152" marR="73152" marT="27432" marB="27432" anchor="ctr">
                    <a:solidFill>
                      <a:srgbClr val="FFFFFF"/>
                    </a:solidFill>
                  </a:tcPr>
                </a:tc>
              </a:tr>
              <a:tr h="402336">
                <a:tc>
                  <a:txBody>
                    <a:bodyPr wrap="square"/>
                    <a:lstStyle/>
                    <a:p>
                      <a:pPr algn="l"/>
                      <a:r>
                        <a:rPr sz="1800" b="0">
                          <a:solidFill>
                            <a:srgbClr val="1A1A1A"/>
                          </a:solidFill>
                          <a:latin typeface="Arial"/>
                        </a:rPr>
                        <a:t>LR</a:t>
                      </a:r>
                    </a:p>
                  </a:txBody>
                  <a:tcPr marL="73152" marR="73152" marT="27432" marB="27432" anchor="ctr">
                    <a:solidFill>
                      <a:srgbClr val="F2F4F7"/>
                    </a:solidFill>
                  </a:tcPr>
                </a:tc>
                <a:tc>
                  <a:txBody>
                    <a:bodyPr wrap="square"/>
                    <a:lstStyle/>
                    <a:p>
                      <a:pPr algn="ctr"/>
                      <a:r>
                        <a:rPr sz="1800" b="0">
                          <a:solidFill>
                            <a:srgbClr val="1A1A1A"/>
                          </a:solidFill>
                          <a:latin typeface="Arial"/>
                        </a:rPr>
                        <a:t>10</a:t>
                      </a:r>
                    </a:p>
                  </a:txBody>
                  <a:tcPr marL="73152" marR="73152" marT="27432" marB="27432" anchor="ctr">
                    <a:solidFill>
                      <a:srgbClr val="F2F4F7"/>
                    </a:solidFill>
                  </a:tcPr>
                </a:tc>
                <a:tc>
                  <a:txBody>
                    <a:bodyPr wrap="square"/>
                    <a:lstStyle/>
                    <a:p>
                      <a:pPr algn="ctr"/>
                      <a:r>
                        <a:rPr sz="1800" b="0">
                          <a:solidFill>
                            <a:srgbClr val="1A1A1A"/>
                          </a:solidFill>
                          <a:latin typeface="Arial"/>
                        </a:rPr>
                        <a:t>64.6</a:t>
                      </a:r>
                    </a:p>
                  </a:txBody>
                  <a:tcPr marL="73152" marR="73152" marT="27432" marB="27432" anchor="ctr">
                    <a:solidFill>
                      <a:srgbClr val="F2F4F7"/>
                    </a:solidFill>
                  </a:tcPr>
                </a:tc>
                <a:tc>
                  <a:txBody>
                    <a:bodyPr wrap="square"/>
                    <a:lstStyle/>
                    <a:p>
                      <a:pPr algn="ctr"/>
                      <a:r>
                        <a:rPr sz="1800" b="0">
                          <a:solidFill>
                            <a:srgbClr val="1A1A1A"/>
                          </a:solidFill>
                          <a:latin typeface="Arial"/>
                        </a:rPr>
                        <a:t>65.8</a:t>
                      </a:r>
                    </a:p>
                  </a:txBody>
                  <a:tcPr marL="73152" marR="73152" marT="27432" marB="27432" anchor="ctr">
                    <a:solidFill>
                      <a:srgbClr val="F2F4F7"/>
                    </a:solidFill>
                  </a:tcPr>
                </a:tc>
                <a:tc>
                  <a:txBody>
                    <a:bodyPr wrap="square"/>
                    <a:lstStyle/>
                    <a:p>
                      <a:pPr algn="ctr"/>
                      <a:r>
                        <a:rPr sz="1800" b="0">
                          <a:solidFill>
                            <a:srgbClr val="1A1A1A"/>
                          </a:solidFill>
                          <a:latin typeface="Arial"/>
                        </a:rPr>
                        <a:t>—</a:t>
                      </a:r>
                    </a:p>
                  </a:txBody>
                  <a:tcPr marL="73152" marR="73152" marT="27432" marB="27432" anchor="ctr">
                    <a:solidFill>
                      <a:srgbClr val="F2F4F7"/>
                    </a:solidFill>
                  </a:tcPr>
                </a:tc>
              </a:tr>
              <a:tr h="402336">
                <a:tc>
                  <a:txBody>
                    <a:bodyPr wrap="square"/>
                    <a:lstStyle/>
                    <a:p>
                      <a:pPr algn="l"/>
                      <a:r>
                        <a:rPr sz="1800" b="0">
                          <a:solidFill>
                            <a:srgbClr val="1A1A1A"/>
                          </a:solidFill>
                          <a:latin typeface="Arial"/>
                        </a:rPr>
                        <a:t>LR</a:t>
                      </a:r>
                    </a:p>
                  </a:txBody>
                  <a:tcPr marL="73152" marR="73152" marT="27432" marB="27432" anchor="ctr">
                    <a:solidFill>
                      <a:srgbClr val="FFFFFF"/>
                    </a:solidFill>
                  </a:tcPr>
                </a:tc>
                <a:tc>
                  <a:txBody>
                    <a:bodyPr wrap="square"/>
                    <a:lstStyle/>
                    <a:p>
                      <a:pPr algn="ctr"/>
                      <a:r>
                        <a:rPr sz="1800" b="0">
                          <a:solidFill>
                            <a:srgbClr val="1A1A1A"/>
                          </a:solidFill>
                          <a:latin typeface="Arial"/>
                        </a:rPr>
                        <a:t>50</a:t>
                      </a:r>
                    </a:p>
                  </a:txBody>
                  <a:tcPr marL="73152" marR="73152" marT="27432" marB="27432" anchor="ctr">
                    <a:solidFill>
                      <a:srgbClr val="FFFFFF"/>
                    </a:solidFill>
                  </a:tcPr>
                </a:tc>
                <a:tc>
                  <a:txBody>
                    <a:bodyPr wrap="square"/>
                    <a:lstStyle/>
                    <a:p>
                      <a:pPr algn="ctr"/>
                      <a:r>
                        <a:rPr sz="1800" b="0">
                          <a:solidFill>
                            <a:srgbClr val="1A1A1A"/>
                          </a:solidFill>
                          <a:latin typeface="Arial"/>
                        </a:rPr>
                        <a:t>43.9</a:t>
                      </a:r>
                    </a:p>
                  </a:txBody>
                  <a:tcPr marL="73152" marR="73152" marT="27432" marB="27432" anchor="ctr">
                    <a:solidFill>
                      <a:srgbClr val="FFFFFF"/>
                    </a:solidFill>
                  </a:tcPr>
                </a:tc>
                <a:tc>
                  <a:txBody>
                    <a:bodyPr wrap="square"/>
                    <a:lstStyle/>
                    <a:p>
                      <a:pPr algn="ctr"/>
                      <a:r>
                        <a:rPr sz="1800" b="0">
                          <a:solidFill>
                            <a:srgbClr val="1A1A1A"/>
                          </a:solidFill>
                          <a:latin typeface="Arial"/>
                        </a:rPr>
                        <a:t>43.3</a:t>
                      </a:r>
                    </a:p>
                  </a:txBody>
                  <a:tcPr marL="73152" marR="73152" marT="27432" marB="27432" anchor="ctr">
                    <a:solidFill>
                      <a:srgbClr val="FFFFFF"/>
                    </a:solidFill>
                  </a:tcPr>
                </a:tc>
                <a:tc>
                  <a:txBody>
                    <a:bodyPr wrap="square"/>
                    <a:lstStyle/>
                    <a:p>
                      <a:pPr algn="ctr"/>
                      <a:r>
                        <a:rPr sz="1800" b="0">
                          <a:solidFill>
                            <a:srgbClr val="1A1A1A"/>
                          </a:solidFill>
                          <a:latin typeface="Arial"/>
                        </a:rPr>
                        <a:t>—</a:t>
                      </a:r>
                    </a:p>
                  </a:txBody>
                  <a:tcPr marL="73152" marR="73152" marT="27432" marB="27432" anchor="ctr">
                    <a:solidFill>
                      <a:srgbClr val="FFFFFF"/>
                    </a:solidFill>
                  </a:tcPr>
                </a:tc>
              </a:tr>
              <a:tr h="402336">
                <a:tc>
                  <a:txBody>
                    <a:bodyPr wrap="square"/>
                    <a:lstStyle/>
                    <a:p>
                      <a:pPr algn="l"/>
                      <a:r>
                        <a:rPr sz="1800" b="0">
                          <a:solidFill>
                            <a:srgbClr val="1A1A1A"/>
                          </a:solidFill>
                          <a:latin typeface="Arial"/>
                        </a:rPr>
                        <a:t>SVM RBF</a:t>
                      </a:r>
                    </a:p>
                  </a:txBody>
                  <a:tcPr marL="73152" marR="73152" marT="27432" marB="27432" anchor="ctr">
                    <a:solidFill>
                      <a:srgbClr val="F2F4F7"/>
                    </a:solidFill>
                  </a:tcPr>
                </a:tc>
                <a:tc>
                  <a:txBody>
                    <a:bodyPr wrap="square"/>
                    <a:lstStyle/>
                    <a:p>
                      <a:pPr algn="ctr"/>
                      <a:r>
                        <a:rPr sz="1800" b="0">
                          <a:solidFill>
                            <a:srgbClr val="1A1A1A"/>
                          </a:solidFill>
                          <a:latin typeface="Arial"/>
                        </a:rPr>
                        <a:t>3</a:t>
                      </a:r>
                    </a:p>
                  </a:txBody>
                  <a:tcPr marL="73152" marR="73152" marT="27432" marB="27432" anchor="ctr">
                    <a:solidFill>
                      <a:srgbClr val="F2F4F7"/>
                    </a:solidFill>
                  </a:tcPr>
                </a:tc>
                <a:tc>
                  <a:txBody>
                    <a:bodyPr wrap="square"/>
                    <a:lstStyle/>
                    <a:p>
                      <a:pPr algn="ctr"/>
                      <a:r>
                        <a:rPr sz="1800" b="0">
                          <a:solidFill>
                            <a:srgbClr val="1A1A1A"/>
                          </a:solidFill>
                          <a:latin typeface="Arial"/>
                        </a:rPr>
                        <a:t>62.7</a:t>
                      </a:r>
                    </a:p>
                  </a:txBody>
                  <a:tcPr marL="73152" marR="73152" marT="27432" marB="27432" anchor="ctr">
                    <a:solidFill>
                      <a:srgbClr val="F2F4F7"/>
                    </a:solidFill>
                  </a:tcPr>
                </a:tc>
                <a:tc>
                  <a:txBody>
                    <a:bodyPr wrap="square"/>
                    <a:lstStyle/>
                    <a:p>
                      <a:pPr algn="ctr"/>
                      <a:r>
                        <a:rPr sz="1800" b="0">
                          <a:solidFill>
                            <a:srgbClr val="1A1A1A"/>
                          </a:solidFill>
                          <a:latin typeface="Arial"/>
                        </a:rPr>
                        <a:t>84.0</a:t>
                      </a:r>
                    </a:p>
                  </a:txBody>
                  <a:tcPr marL="73152" marR="73152" marT="27432" marB="27432" anchor="ctr">
                    <a:solidFill>
                      <a:srgbClr val="F2F4F7"/>
                    </a:solidFill>
                  </a:tcPr>
                </a:tc>
                <a:tc>
                  <a:txBody>
                    <a:bodyPr wrap="square"/>
                    <a:lstStyle/>
                    <a:p>
                      <a:pPr algn="ctr"/>
                      <a:r>
                        <a:rPr sz="1800" b="0">
                          <a:solidFill>
                            <a:srgbClr val="1A1A1A"/>
                          </a:solidFill>
                          <a:latin typeface="Arial"/>
                        </a:rPr>
                        <a:t>75.0</a:t>
                      </a:r>
                    </a:p>
                  </a:txBody>
                  <a:tcPr marL="73152" marR="73152" marT="27432" marB="27432" anchor="ctr">
                    <a:solidFill>
                      <a:srgbClr val="F2F4F7"/>
                    </a:solidFill>
                  </a:tcPr>
                </a:tc>
              </a:tr>
              <a:tr h="402336">
                <a:tc>
                  <a:txBody>
                    <a:bodyPr wrap="square"/>
                    <a:lstStyle/>
                    <a:p>
                      <a:pPr algn="l"/>
                      <a:r>
                        <a:rPr sz="1800" b="0">
                          <a:solidFill>
                            <a:srgbClr val="1A1A1A"/>
                          </a:solidFill>
                          <a:latin typeface="Arial"/>
                        </a:rPr>
                        <a:t>SVM RBF</a:t>
                      </a:r>
                    </a:p>
                  </a:txBody>
                  <a:tcPr marL="73152" marR="73152" marT="27432" marB="27432" anchor="ctr">
                    <a:solidFill>
                      <a:srgbClr val="FFFFFF"/>
                    </a:solidFill>
                  </a:tcPr>
                </a:tc>
                <a:tc>
                  <a:txBody>
                    <a:bodyPr wrap="square"/>
                    <a:lstStyle/>
                    <a:p>
                      <a:pPr algn="ctr"/>
                      <a:r>
                        <a:rPr sz="1800" b="0">
                          <a:solidFill>
                            <a:srgbClr val="1A1A1A"/>
                          </a:solidFill>
                          <a:latin typeface="Arial"/>
                        </a:rPr>
                        <a:t>10</a:t>
                      </a:r>
                    </a:p>
                  </a:txBody>
                  <a:tcPr marL="73152" marR="73152" marT="27432" marB="27432" anchor="ctr">
                    <a:solidFill>
                      <a:srgbClr val="FFFFFF"/>
                    </a:solidFill>
                  </a:tcPr>
                </a:tc>
                <a:tc>
                  <a:txBody>
                    <a:bodyPr wrap="square"/>
                    <a:lstStyle/>
                    <a:p>
                      <a:pPr algn="ctr"/>
                      <a:r>
                        <a:rPr sz="1800" b="0">
                          <a:solidFill>
                            <a:srgbClr val="1A1A1A"/>
                          </a:solidFill>
                          <a:latin typeface="Arial"/>
                        </a:rPr>
                        <a:t>61.0</a:t>
                      </a:r>
                    </a:p>
                  </a:txBody>
                  <a:tcPr marL="73152" marR="73152" marT="27432" marB="27432" anchor="ctr">
                    <a:solidFill>
                      <a:srgbClr val="FFFFFF"/>
                    </a:solidFill>
                  </a:tcPr>
                </a:tc>
                <a:tc>
                  <a:txBody>
                    <a:bodyPr wrap="square"/>
                    <a:lstStyle/>
                    <a:p>
                      <a:pPr algn="ctr"/>
                      <a:r>
                        <a:rPr sz="1800" b="0">
                          <a:solidFill>
                            <a:srgbClr val="1A1A1A"/>
                          </a:solidFill>
                          <a:latin typeface="Arial"/>
                        </a:rPr>
                        <a:t>74.6</a:t>
                      </a:r>
                    </a:p>
                  </a:txBody>
                  <a:tcPr marL="73152" marR="73152" marT="27432" marB="27432" anchor="ctr">
                    <a:solidFill>
                      <a:srgbClr val="FFFFFF"/>
                    </a:solidFill>
                  </a:tcPr>
                </a:tc>
                <a:tc>
                  <a:txBody>
                    <a:bodyPr wrap="square"/>
                    <a:lstStyle/>
                    <a:p>
                      <a:pPr algn="ctr"/>
                      <a:r>
                        <a:rPr sz="1800" b="0">
                          <a:solidFill>
                            <a:srgbClr val="1A1A1A"/>
                          </a:solidFill>
                          <a:latin typeface="Arial"/>
                        </a:rPr>
                        <a:t>64.3</a:t>
                      </a:r>
                    </a:p>
                  </a:txBody>
                  <a:tcPr marL="73152" marR="73152" marT="27432" marB="27432" anchor="ctr">
                    <a:solidFill>
                      <a:srgbClr val="FFFFFF"/>
                    </a:solidFill>
                  </a:tcPr>
                </a:tc>
              </a:tr>
              <a:tr h="402336">
                <a:tc>
                  <a:txBody>
                    <a:bodyPr wrap="square"/>
                    <a:lstStyle/>
                    <a:p>
                      <a:pPr algn="l"/>
                      <a:r>
                        <a:rPr sz="1800" b="0">
                          <a:solidFill>
                            <a:srgbClr val="1A1A1A"/>
                          </a:solidFill>
                          <a:latin typeface="Arial"/>
                        </a:rPr>
                        <a:t>SVM poly</a:t>
                      </a:r>
                    </a:p>
                  </a:txBody>
                  <a:tcPr marL="73152" marR="73152" marT="27432" marB="27432" anchor="ctr">
                    <a:solidFill>
                      <a:srgbClr val="F2F4F7"/>
                    </a:solidFill>
                  </a:tcPr>
                </a:tc>
                <a:tc>
                  <a:txBody>
                    <a:bodyPr wrap="square"/>
                    <a:lstStyle/>
                    <a:p>
                      <a:pPr algn="ctr"/>
                      <a:r>
                        <a:rPr sz="1800" b="0">
                          <a:solidFill>
                            <a:srgbClr val="1A1A1A"/>
                          </a:solidFill>
                          <a:latin typeface="Arial"/>
                        </a:rPr>
                        <a:t>3</a:t>
                      </a:r>
                    </a:p>
                  </a:txBody>
                  <a:tcPr marL="73152" marR="73152" marT="27432" marB="27432" anchor="ctr">
                    <a:solidFill>
                      <a:srgbClr val="F2F4F7"/>
                    </a:solidFill>
                  </a:tcPr>
                </a:tc>
                <a:tc>
                  <a:txBody>
                    <a:bodyPr wrap="square"/>
                    <a:lstStyle/>
                    <a:p>
                      <a:pPr algn="ctr"/>
                      <a:r>
                        <a:rPr sz="1800" b="0">
                          <a:solidFill>
                            <a:srgbClr val="1A1A1A"/>
                          </a:solidFill>
                          <a:latin typeface="Arial"/>
                        </a:rPr>
                        <a:t>51.7</a:t>
                      </a:r>
                    </a:p>
                  </a:txBody>
                  <a:tcPr marL="73152" marR="73152" marT="27432" marB="27432" anchor="ctr">
                    <a:solidFill>
                      <a:srgbClr val="F2F4F7"/>
                    </a:solidFill>
                  </a:tcPr>
                </a:tc>
                <a:tc>
                  <a:txBody>
                    <a:bodyPr wrap="square"/>
                    <a:lstStyle/>
                    <a:p>
                      <a:pPr algn="ctr"/>
                      <a:r>
                        <a:rPr sz="1800" b="0">
                          <a:solidFill>
                            <a:srgbClr val="1A1A1A"/>
                          </a:solidFill>
                          <a:latin typeface="Arial"/>
                        </a:rPr>
                        <a:t>66.7</a:t>
                      </a:r>
                    </a:p>
                  </a:txBody>
                  <a:tcPr marL="73152" marR="73152" marT="27432" marB="27432" anchor="ctr">
                    <a:solidFill>
                      <a:srgbClr val="F2F4F7"/>
                    </a:solidFill>
                  </a:tcPr>
                </a:tc>
                <a:tc>
                  <a:txBody>
                    <a:bodyPr wrap="square"/>
                    <a:lstStyle/>
                    <a:p>
                      <a:pPr algn="ctr"/>
                      <a:r>
                        <a:rPr sz="1800" b="0">
                          <a:solidFill>
                            <a:srgbClr val="1A1A1A"/>
                          </a:solidFill>
                          <a:latin typeface="Arial"/>
                        </a:rPr>
                        <a:t>54.2</a:t>
                      </a:r>
                    </a:p>
                  </a:txBody>
                  <a:tcPr marL="73152" marR="73152" marT="27432" marB="27432" anchor="ctr">
                    <a:solidFill>
                      <a:srgbClr val="F2F4F7"/>
                    </a:solidFill>
                  </a:tcPr>
                </a:tc>
              </a:tr>
              <a:tr h="402336">
                <a:tc>
                  <a:txBody>
                    <a:bodyPr wrap="square"/>
                    <a:lstStyle/>
                    <a:p>
                      <a:pPr algn="l"/>
                      <a:r>
                        <a:rPr sz="1800" b="0">
                          <a:solidFill>
                            <a:srgbClr val="1A1A1A"/>
                          </a:solidFill>
                          <a:latin typeface="Arial"/>
                        </a:rPr>
                        <a:t>SVM poly</a:t>
                      </a:r>
                    </a:p>
                  </a:txBody>
                  <a:tcPr marL="73152" marR="73152" marT="27432" marB="27432" anchor="ctr">
                    <a:solidFill>
                      <a:srgbClr val="FFFFFF"/>
                    </a:solidFill>
                  </a:tcPr>
                </a:tc>
                <a:tc>
                  <a:txBody>
                    <a:bodyPr wrap="square"/>
                    <a:lstStyle/>
                    <a:p>
                      <a:pPr algn="ctr"/>
                      <a:r>
                        <a:rPr sz="1800" b="0">
                          <a:solidFill>
                            <a:srgbClr val="1A1A1A"/>
                          </a:solidFill>
                          <a:latin typeface="Arial"/>
                        </a:rPr>
                        <a:t>10</a:t>
                      </a:r>
                    </a:p>
                  </a:txBody>
                  <a:tcPr marL="73152" marR="73152" marT="27432" marB="27432" anchor="ctr">
                    <a:solidFill>
                      <a:srgbClr val="FFFFFF"/>
                    </a:solidFill>
                  </a:tcPr>
                </a:tc>
                <a:tc>
                  <a:txBody>
                    <a:bodyPr wrap="square"/>
                    <a:lstStyle/>
                    <a:p>
                      <a:pPr algn="ctr"/>
                      <a:r>
                        <a:rPr sz="1800" b="0">
                          <a:solidFill>
                            <a:srgbClr val="1A1A1A"/>
                          </a:solidFill>
                          <a:latin typeface="Arial"/>
                        </a:rPr>
                        <a:t>50.9</a:t>
                      </a:r>
                    </a:p>
                  </a:txBody>
                  <a:tcPr marL="73152" marR="73152" marT="27432" marB="27432" anchor="ctr">
                    <a:solidFill>
                      <a:srgbClr val="FFFFFF"/>
                    </a:solidFill>
                  </a:tcPr>
                </a:tc>
                <a:tc>
                  <a:txBody>
                    <a:bodyPr wrap="square"/>
                    <a:lstStyle/>
                    <a:p>
                      <a:pPr algn="ctr"/>
                      <a:r>
                        <a:rPr sz="1800" b="0">
                          <a:solidFill>
                            <a:srgbClr val="1A1A1A"/>
                          </a:solidFill>
                          <a:latin typeface="Arial"/>
                        </a:rPr>
                        <a:t>73.9</a:t>
                      </a:r>
                    </a:p>
                  </a:txBody>
                  <a:tcPr marL="73152" marR="73152" marT="27432" marB="27432" anchor="ctr">
                    <a:solidFill>
                      <a:srgbClr val="FFFFFF"/>
                    </a:solidFill>
                  </a:tcPr>
                </a:tc>
                <a:tc>
                  <a:txBody>
                    <a:bodyPr wrap="square"/>
                    <a:lstStyle/>
                    <a:p>
                      <a:pPr algn="ctr"/>
                      <a:r>
                        <a:rPr sz="1800" b="0">
                          <a:solidFill>
                            <a:srgbClr val="1A1A1A"/>
                          </a:solidFill>
                          <a:latin typeface="Arial"/>
                        </a:rPr>
                        <a:t>56.6</a:t>
                      </a:r>
                    </a:p>
                  </a:txBody>
                  <a:tcPr marL="73152" marR="73152" marT="27432" marB="27432" anchor="ctr">
                    <a:solidFill>
                      <a:srgbClr val="FFFFFF"/>
                    </a:solidFill>
                  </a:tcPr>
                </a:tc>
              </a:tr>
              <a:tr h="402336">
                <a:tc>
                  <a:txBody>
                    <a:bodyPr wrap="square"/>
                    <a:lstStyle/>
                    <a:p>
                      <a:pPr algn="l"/>
                      <a:r>
                        <a:rPr sz="1800" b="0">
                          <a:solidFill>
                            <a:srgbClr val="1A1A1A"/>
                          </a:solidFill>
                          <a:latin typeface="Arial"/>
                        </a:rPr>
                        <a:t>CNN V1 raw</a:t>
                      </a:r>
                    </a:p>
                  </a:txBody>
                  <a:tcPr marL="73152" marR="73152" marT="27432" marB="27432" anchor="ctr">
                    <a:solidFill>
                      <a:srgbClr val="F2F4F7"/>
                    </a:solidFill>
                  </a:tcPr>
                </a:tc>
                <a:tc>
                  <a:txBody>
                    <a:bodyPr wrap="square"/>
                    <a:lstStyle/>
                    <a:p>
                      <a:pPr algn="ctr"/>
                      <a:r>
                        <a:rPr sz="1800" b="0">
                          <a:solidFill>
                            <a:srgbClr val="1A1A1A"/>
                          </a:solidFill>
                          <a:latin typeface="Arial"/>
                        </a:rPr>
                        <a:t>50</a:t>
                      </a:r>
                    </a:p>
                  </a:txBody>
                  <a:tcPr marL="73152" marR="73152" marT="27432" marB="27432" anchor="ctr">
                    <a:solidFill>
                      <a:srgbClr val="F2F4F7"/>
                    </a:solidFill>
                  </a:tcPr>
                </a:tc>
                <a:tc>
                  <a:txBody>
                    <a:bodyPr wrap="square"/>
                    <a:lstStyle/>
                    <a:p>
                      <a:pPr algn="ctr"/>
                      <a:r>
                        <a:rPr sz="1800" b="0">
                          <a:solidFill>
                            <a:srgbClr val="1A1A1A"/>
                          </a:solidFill>
                          <a:latin typeface="Arial"/>
                        </a:rPr>
                        <a:t>81.8</a:t>
                      </a:r>
                    </a:p>
                  </a:txBody>
                  <a:tcPr marL="73152" marR="73152" marT="27432" marB="27432" anchor="ctr">
                    <a:solidFill>
                      <a:srgbClr val="F2F4F7"/>
                    </a:solidFill>
                  </a:tcPr>
                </a:tc>
                <a:tc>
                  <a:txBody>
                    <a:bodyPr wrap="square"/>
                    <a:lstStyle/>
                    <a:p>
                      <a:pPr algn="ctr"/>
                      <a:r>
                        <a:rPr sz="1800" b="0">
                          <a:solidFill>
                            <a:srgbClr val="1A1A1A"/>
                          </a:solidFill>
                          <a:latin typeface="Arial"/>
                        </a:rPr>
                        <a:t>81.2</a:t>
                      </a:r>
                    </a:p>
                  </a:txBody>
                  <a:tcPr marL="73152" marR="73152" marT="27432" marB="27432" anchor="ctr">
                    <a:solidFill>
                      <a:srgbClr val="F2F4F7"/>
                    </a:solidFill>
                  </a:tcPr>
                </a:tc>
                <a:tc>
                  <a:txBody>
                    <a:bodyPr wrap="square"/>
                    <a:lstStyle/>
                    <a:p>
                      <a:pPr algn="ctr"/>
                      <a:r>
                        <a:rPr sz="1800" b="0">
                          <a:solidFill>
                            <a:srgbClr val="1A1A1A"/>
                          </a:solidFill>
                          <a:latin typeface="Arial"/>
                        </a:rPr>
                        <a:t>—</a:t>
                      </a:r>
                    </a:p>
                  </a:txBody>
                  <a:tcPr marL="73152" marR="73152" marT="27432" marB="27432" anchor="ctr">
                    <a:solidFill>
                      <a:srgbClr val="F2F4F7"/>
                    </a:solidFill>
                  </a:tcPr>
                </a:tc>
              </a:tr>
              <a:tr h="402336">
                <a:tc>
                  <a:txBody>
                    <a:bodyPr wrap="square"/>
                    <a:lstStyle/>
                    <a:p>
                      <a:pPr algn="l"/>
                      <a:r>
                        <a:rPr sz="1800" b="0">
                          <a:solidFill>
                            <a:srgbClr val="1A1A1A"/>
                          </a:solidFill>
                          <a:latin typeface="Arial"/>
                        </a:rPr>
                        <a:t>CNN V2 raw</a:t>
                      </a:r>
                    </a:p>
                  </a:txBody>
                  <a:tcPr marL="73152" marR="73152" marT="27432" marB="27432" anchor="ctr">
                    <a:solidFill>
                      <a:srgbClr val="FFFFFF"/>
                    </a:solidFill>
                  </a:tcPr>
                </a:tc>
                <a:tc>
                  <a:txBody>
                    <a:bodyPr wrap="square"/>
                    <a:lstStyle/>
                    <a:p>
                      <a:pPr algn="ctr"/>
                      <a:r>
                        <a:rPr sz="1800" b="0">
                          <a:solidFill>
                            <a:srgbClr val="1A1A1A"/>
                          </a:solidFill>
                          <a:latin typeface="Arial"/>
                        </a:rPr>
                        <a:t>50</a:t>
                      </a:r>
                    </a:p>
                  </a:txBody>
                  <a:tcPr marL="73152" marR="73152" marT="27432" marB="27432" anchor="ctr">
                    <a:solidFill>
                      <a:srgbClr val="FFFFFF"/>
                    </a:solidFill>
                  </a:tcPr>
                </a:tc>
                <a:tc>
                  <a:txBody>
                    <a:bodyPr wrap="square"/>
                    <a:lstStyle/>
                    <a:p>
                      <a:pPr algn="ctr"/>
                      <a:r>
                        <a:rPr sz="1800" b="0">
                          <a:solidFill>
                            <a:srgbClr val="1A1A1A"/>
                          </a:solidFill>
                          <a:latin typeface="Arial"/>
                        </a:rPr>
                        <a:t>81.8</a:t>
                      </a:r>
                    </a:p>
                  </a:txBody>
                  <a:tcPr marL="73152" marR="73152" marT="27432" marB="27432" anchor="ctr">
                    <a:solidFill>
                      <a:srgbClr val="FFFFFF"/>
                    </a:solidFill>
                  </a:tcPr>
                </a:tc>
                <a:tc>
                  <a:txBody>
                    <a:bodyPr wrap="square"/>
                    <a:lstStyle/>
                    <a:p>
                      <a:pPr algn="ctr"/>
                      <a:r>
                        <a:rPr sz="1800" b="0">
                          <a:solidFill>
                            <a:srgbClr val="1A1A1A"/>
                          </a:solidFill>
                          <a:latin typeface="Arial"/>
                        </a:rPr>
                        <a:t>75.1</a:t>
                      </a:r>
                    </a:p>
                  </a:txBody>
                  <a:tcPr marL="73152" marR="73152" marT="27432" marB="27432" anchor="ctr">
                    <a:solidFill>
                      <a:srgbClr val="FFFFFF"/>
                    </a:solidFill>
                  </a:tcPr>
                </a:tc>
                <a:tc>
                  <a:txBody>
                    <a:bodyPr wrap="square"/>
                    <a:lstStyle/>
                    <a:p>
                      <a:pPr algn="ctr"/>
                      <a:r>
                        <a:rPr sz="1800" b="0">
                          <a:solidFill>
                            <a:srgbClr val="1A1A1A"/>
                          </a:solidFill>
                          <a:latin typeface="Arial"/>
                        </a:rPr>
                        <a:t>—</a:t>
                      </a:r>
                    </a:p>
                  </a:txBody>
                  <a:tcPr marL="73152" marR="73152" marT="27432" marB="27432" anchor="ctr">
                    <a:solidFill>
                      <a:srgbClr val="FFFFFF"/>
                    </a:solidFill>
                  </a:tcPr>
                </a:tc>
              </a:tr>
              <a:tr h="402336">
                <a:tc>
                  <a:txBody>
                    <a:bodyPr wrap="square"/>
                    <a:lstStyle/>
                    <a:p>
                      <a:pPr algn="l"/>
                      <a:r>
                        <a:rPr sz="1800" b="0">
                          <a:solidFill>
                            <a:srgbClr val="1A1A1A"/>
                          </a:solidFill>
                          <a:latin typeface="Arial"/>
                        </a:rPr>
                        <a:t>CNN V3 binarized</a:t>
                      </a:r>
                    </a:p>
                  </a:txBody>
                  <a:tcPr marL="73152" marR="73152" marT="27432" marB="27432" anchor="ctr">
                    <a:solidFill>
                      <a:srgbClr val="F2F4F7"/>
                    </a:solidFill>
                  </a:tcPr>
                </a:tc>
                <a:tc>
                  <a:txBody>
                    <a:bodyPr wrap="square"/>
                    <a:lstStyle/>
                    <a:p>
                      <a:pPr algn="ctr"/>
                      <a:r>
                        <a:rPr sz="1800" b="0">
                          <a:solidFill>
                            <a:srgbClr val="1A1A1A"/>
                          </a:solidFill>
                          <a:latin typeface="Arial"/>
                        </a:rPr>
                        <a:t>50</a:t>
                      </a:r>
                    </a:p>
                  </a:txBody>
                  <a:tcPr marL="73152" marR="73152" marT="27432" marB="27432" anchor="ctr">
                    <a:solidFill>
                      <a:srgbClr val="F2F4F7"/>
                    </a:solidFill>
                  </a:tcPr>
                </a:tc>
                <a:tc>
                  <a:txBody>
                    <a:bodyPr wrap="square"/>
                    <a:lstStyle/>
                    <a:p>
                      <a:pPr algn="ctr"/>
                      <a:r>
                        <a:rPr sz="1800" b="0">
                          <a:solidFill>
                            <a:srgbClr val="1A1A1A"/>
                          </a:solidFill>
                          <a:latin typeface="Arial"/>
                        </a:rPr>
                        <a:t>70.3</a:t>
                      </a:r>
                    </a:p>
                  </a:txBody>
                  <a:tcPr marL="73152" marR="73152" marT="27432" marB="27432" anchor="ctr">
                    <a:solidFill>
                      <a:srgbClr val="F2F4F7"/>
                    </a:solidFill>
                  </a:tcPr>
                </a:tc>
                <a:tc>
                  <a:txBody>
                    <a:bodyPr wrap="square"/>
                    <a:lstStyle/>
                    <a:p>
                      <a:pPr algn="ctr"/>
                      <a:r>
                        <a:rPr sz="1800" b="0">
                          <a:solidFill>
                            <a:srgbClr val="1A1A1A"/>
                          </a:solidFill>
                          <a:latin typeface="Arial"/>
                        </a:rPr>
                        <a:t>65.1</a:t>
                      </a:r>
                    </a:p>
                  </a:txBody>
                  <a:tcPr marL="73152" marR="73152" marT="27432" marB="27432" anchor="ctr">
                    <a:solidFill>
                      <a:srgbClr val="F2F4F7"/>
                    </a:solidFill>
                  </a:tcPr>
                </a:tc>
                <a:tc>
                  <a:txBody>
                    <a:bodyPr wrap="square"/>
                    <a:lstStyle/>
                    <a:p>
                      <a:pPr algn="ctr"/>
                      <a:r>
                        <a:rPr sz="1800" b="0">
                          <a:solidFill>
                            <a:srgbClr val="1A1A1A"/>
                          </a:solidFill>
                          <a:latin typeface="Arial"/>
                        </a:rPr>
                        <a:t>—</a:t>
                      </a:r>
                    </a:p>
                  </a:txBody>
                  <a:tcPr marL="73152" marR="73152" marT="27432" marB="27432" anchor="ctr">
                    <a:solidFill>
                      <a:srgbClr val="F2F4F7"/>
                    </a:solidFill>
                  </a:tcPr>
                </a:tc>
              </a:tr>
            </a:tbl>
          </a:graphicData>
        </a:graphic>
      </p:graphicFrame>
      <p:sp>
        <p:nvSpPr>
          <p:cNvPr id="4" name="TextBox 3"/>
          <p:cNvSpPr txBox="1"/>
          <p:nvPr/>
        </p:nvSpPr>
        <p:spPr>
          <a:xfrm>
            <a:off x="7772400" y="1143000"/>
            <a:ext cx="3931920" cy="5120640"/>
          </a:xfrm>
          <a:prstGeom prst="rect">
            <a:avLst/>
          </a:prstGeom>
          <a:noFill/>
        </p:spPr>
        <p:txBody>
          <a:bodyPr wrap="square">
            <a:spAutoFit/>
          </a:bodyPr>
          <a:lstStyle/>
          <a:p>
            <a:pPr marL="274320" indent="-274320">
              <a:spcAft>
                <a:spcPts val="1000"/>
              </a:spcAft>
              <a:buChar char="•"/>
            </a:pPr>
            <a:r>
              <a:rPr sz="1800" b="0">
                <a:solidFill>
                  <a:srgbClr val="1A1A1A"/>
                </a:solidFill>
                <a:latin typeface="Arial"/>
              </a:rPr>
              <a:t>LR within 1.2 points at all class sizes</a:t>
            </a:r>
          </a:p>
          <a:p>
            <a:pPr marL="274320" indent="-274320">
              <a:spcAft>
                <a:spcPts val="1000"/>
              </a:spcAft>
              <a:buChar char="•"/>
            </a:pPr>
            <a:r>
              <a:rPr sz="1800" b="0">
                <a:solidFill>
                  <a:srgbClr val="1A1A1A"/>
                </a:solidFill>
                <a:latin typeface="Arial"/>
              </a:rPr>
              <a:t>SVM RBF / poly above the report: its runs used ~70,000 drawings per class under the same 500-iteration cap; our 70k rerun moves them back toward it</a:t>
            </a:r>
          </a:p>
          <a:p>
            <a:pPr marL="274320" indent="-274320">
              <a:spcAft>
                <a:spcPts val="1000"/>
              </a:spcAft>
              <a:buChar char="•"/>
            </a:pPr>
            <a:r>
              <a:rPr sz="1800" b="0">
                <a:solidFill>
                  <a:srgbClr val="1A1A1A"/>
                </a:solidFill>
                <a:latin typeface="Arial"/>
              </a:rPr>
              <a:t>Our CNN V1 (81.2) matches the reported "V2" (81.8); our true V2 gets 75.1: the original code ran V1 under the V2 label</a:t>
            </a:r>
          </a:p>
          <a:p>
            <a:pPr marL="274320" indent="-274320">
              <a:spcAft>
                <a:spcPts val="1000"/>
              </a:spcAft>
              <a:buChar char="•"/>
            </a:pPr>
            <a:r>
              <a:rPr sz="1800" b="0">
                <a:solidFill>
                  <a:srgbClr val="1A1A1A"/>
                </a:solidFill>
                <a:latin typeface="Arial"/>
              </a:rPr>
              <a:t>CNN V3: 2.5 / 5.2 points below at 10 / 50 classes, unexplained</a:t>
            </a:r>
          </a:p>
        </p:txBody>
      </p:sp>
      <p:sp>
        <p:nvSpPr>
          <p:cNvPr id="5" name="TextBox 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6" name="TextBox 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Reproduced results: transfer learning (3 classes)</a:t>
            </a:r>
          </a:p>
        </p:txBody>
      </p:sp>
      <p:pic>
        <p:nvPicPr>
          <p:cNvPr id="3" name="Picture 2" descr="tl_batchnorm.png"/>
          <p:cNvPicPr>
            <a:picLocks noChangeAspect="1"/>
          </p:cNvPicPr>
          <p:nvPr/>
        </p:nvPicPr>
        <p:blipFill>
          <a:blip r:embed="rId2"/>
          <a:stretch>
            <a:fillRect/>
          </a:stretch>
        </p:blipFill>
        <p:spPr>
          <a:xfrm>
            <a:off x="548640" y="1587979"/>
            <a:ext cx="6766560" cy="4230680"/>
          </a:xfrm>
          <a:prstGeom prst="rect">
            <a:avLst/>
          </a:prstGeom>
        </p:spPr>
      </p:pic>
      <p:sp>
        <p:nvSpPr>
          <p:cNvPr id="4" name="TextBox 3"/>
          <p:cNvSpPr txBox="1"/>
          <p:nvPr/>
        </p:nvSpPr>
        <p:spPr>
          <a:xfrm>
            <a:off x="7589520" y="1143000"/>
            <a:ext cx="4114800" cy="5120640"/>
          </a:xfrm>
          <a:prstGeom prst="rect">
            <a:avLst/>
          </a:prstGeom>
          <a:noFill/>
        </p:spPr>
        <p:txBody>
          <a:bodyPr wrap="square">
            <a:spAutoFit/>
          </a:bodyPr>
          <a:lstStyle/>
          <a:p>
            <a:pPr marL="274320" indent="-274320">
              <a:spcAft>
                <a:spcPts val="1000"/>
              </a:spcAft>
              <a:buChar char="•"/>
            </a:pPr>
            <a:r>
              <a:rPr sz="1800" b="0">
                <a:solidFill>
                  <a:srgbClr val="1A1A1A"/>
                </a:solidFill>
                <a:latin typeface="Arial"/>
              </a:rPr>
              <a:t>VGG19 (no BatchNorm) matches: 95.4 vs 95.6 reported</a:t>
            </a:r>
          </a:p>
          <a:p>
            <a:pPr marL="274320" indent="-274320">
              <a:spcAft>
                <a:spcPts val="1000"/>
              </a:spcAft>
              <a:buChar char="•"/>
            </a:pPr>
            <a:r>
              <a:rPr sz="1800" b="0">
                <a:solidFill>
                  <a:srgbClr val="1A1A1A"/>
                </a:solidFill>
                <a:latin typeface="Arial"/>
              </a:rPr>
              <a:t>BatchNorm networks far higher: MobileNet 94.6 vs 75.4, ResNet50 95.4 vs 62.7, InceptionV3 93.1 vs 45.7</a:t>
            </a:r>
          </a:p>
          <a:p>
            <a:pPr marL="274320" indent="-274320">
              <a:spcAft>
                <a:spcPts val="1000"/>
              </a:spcAft>
              <a:buChar char="•"/>
            </a:pPr>
            <a:r>
              <a:rPr sz="1800" b="0">
                <a:solidFill>
                  <a:srgbClr val="1A1A1A"/>
                </a:solidFill>
                <a:latin typeface="Arial"/>
              </a:rPr>
              <a:t>Cause: frozen BatchNorm behaved differently in 2018 Keras; their Inception log shows [PLACEHOLDER: ~100% training, not in results/] vs 45.7% validation</a:t>
            </a:r>
          </a:p>
          <a:p>
            <a:pPr marL="274320" indent="-274320">
              <a:spcAft>
                <a:spcPts val="1000"/>
              </a:spcAft>
              <a:buChar char="•"/>
            </a:pPr>
            <a:r>
              <a:rPr sz="1800" b="0">
                <a:solidFill>
                  <a:srgbClr val="1A1A1A"/>
                </a:solidFill>
                <a:latin typeface="Arial"/>
              </a:rPr>
              <a:t>So "complex networks don't help doodles" is likely an artefact</a:t>
            </a:r>
          </a:p>
        </p:txBody>
      </p:sp>
      <p:sp>
        <p:nvSpPr>
          <p:cNvPr id="5" name="TextBox 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6" name="TextBox 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Extension: XGBoost (gradient-boosted trees)</a:t>
            </a:r>
          </a:p>
        </p:txBody>
      </p:sp>
      <p:sp>
        <p:nvSpPr>
          <p:cNvPr id="3" name="Rectangle 2"/>
          <p:cNvSpPr/>
          <p:nvPr/>
        </p:nvSpPr>
        <p:spPr>
          <a:xfrm>
            <a:off x="822960" y="1234440"/>
            <a:ext cx="2377440" cy="50292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Tree 1</a:t>
            </a:r>
          </a:p>
        </p:txBody>
      </p:sp>
      <p:cxnSp>
        <p:nvCxnSpPr>
          <p:cNvPr id="4" name="Connector 3"/>
          <p:cNvCxnSpPr/>
          <p:nvPr/>
        </p:nvCxnSpPr>
        <p:spPr>
          <a:xfrm>
            <a:off x="2011680" y="1755648"/>
            <a:ext cx="0" cy="237744"/>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822960" y="2011680"/>
            <a:ext cx="2377440" cy="50292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Tree 2</a:t>
            </a:r>
          </a:p>
        </p:txBody>
      </p:sp>
      <p:cxnSp>
        <p:nvCxnSpPr>
          <p:cNvPr id="6" name="Connector 5"/>
          <p:cNvCxnSpPr/>
          <p:nvPr/>
        </p:nvCxnSpPr>
        <p:spPr>
          <a:xfrm>
            <a:off x="2011680" y="2532888"/>
            <a:ext cx="0" cy="237744"/>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788920"/>
            <a:ext cx="2377440" cy="502920"/>
          </a:xfrm>
          <a:prstGeom prst="rect">
            <a:avLst/>
          </a:prstGeom>
          <a:noFill/>
        </p:spPr>
        <p:txBody>
          <a:bodyPr wrap="square" anchor="ctr">
            <a:spAutoFit/>
          </a:bodyPr>
          <a:lstStyle/>
          <a:p>
            <a:pPr algn="ctr"/>
            <a:r>
              <a:rPr sz="1800" b="0">
                <a:solidFill>
                  <a:srgbClr val="1A1A1A"/>
                </a:solidFill>
                <a:latin typeface="Arial"/>
              </a:rPr>
              <a:t>…</a:t>
            </a:r>
          </a:p>
        </p:txBody>
      </p:sp>
      <p:cxnSp>
        <p:nvCxnSpPr>
          <p:cNvPr id="8" name="Connector 7"/>
          <p:cNvCxnSpPr/>
          <p:nvPr/>
        </p:nvCxnSpPr>
        <p:spPr>
          <a:xfrm>
            <a:off x="2011680" y="3310128"/>
            <a:ext cx="0" cy="237744"/>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822960" y="3566160"/>
            <a:ext cx="2377440" cy="50292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Tree N</a:t>
            </a:r>
          </a:p>
        </p:txBody>
      </p:sp>
      <p:cxnSp>
        <p:nvCxnSpPr>
          <p:cNvPr id="10" name="Connector 9"/>
          <p:cNvCxnSpPr/>
          <p:nvPr/>
        </p:nvCxnSpPr>
        <p:spPr>
          <a:xfrm>
            <a:off x="2011680" y="4087368"/>
            <a:ext cx="0" cy="237744"/>
          </a:xfrm>
          <a:prstGeom prst="line">
            <a:avLst/>
          </a:prstGeom>
          <a:ln w="19050">
            <a:solidFill>
              <a:srgbClr val="1F3A5F"/>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22960" y="4343400"/>
            <a:ext cx="2377440" cy="502920"/>
          </a:xfrm>
          <a:prstGeom prst="rect">
            <a:avLst/>
          </a:prstGeom>
          <a:solidFill>
            <a:srgbClr val="FFFFF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1A1A1A"/>
                </a:solidFill>
                <a:latin typeface="Arial"/>
              </a:rPr>
              <a:t>Sum → prediction</a:t>
            </a:r>
          </a:p>
        </p:txBody>
      </p:sp>
      <p:sp>
        <p:nvSpPr>
          <p:cNvPr id="12" name="TextBox 11"/>
          <p:cNvSpPr txBox="1"/>
          <p:nvPr/>
        </p:nvSpPr>
        <p:spPr>
          <a:xfrm>
            <a:off x="548640" y="5166359"/>
            <a:ext cx="2926080" cy="914400"/>
          </a:xfrm>
          <a:prstGeom prst="rect">
            <a:avLst/>
          </a:prstGeom>
          <a:noFill/>
        </p:spPr>
        <p:txBody>
          <a:bodyPr wrap="square" anchor="t">
            <a:spAutoFit/>
          </a:bodyPr>
          <a:lstStyle/>
          <a:p>
            <a:pPr algn="l"/>
            <a:r>
              <a:rPr sz="1800" b="0">
                <a:solidFill>
                  <a:srgbClr val="1A1A1A"/>
                </a:solidFill>
                <a:latin typeface="Arial"/>
              </a:rPr>
              <a:t>Each tree corrects the errors of the trees before it</a:t>
            </a:r>
          </a:p>
        </p:txBody>
      </p:sp>
      <p:pic>
        <p:nvPicPr>
          <p:cNvPr id="13" name="Picture 12" descr="xgb50_capped_vs_converged_curve.png"/>
          <p:cNvPicPr>
            <a:picLocks noChangeAspect="1"/>
          </p:cNvPicPr>
          <p:nvPr/>
        </p:nvPicPr>
        <p:blipFill>
          <a:blip r:embed="rId2"/>
          <a:stretch>
            <a:fillRect/>
          </a:stretch>
        </p:blipFill>
        <p:spPr>
          <a:xfrm>
            <a:off x="3669574" y="1142999"/>
            <a:ext cx="8022771" cy="3063240"/>
          </a:xfrm>
          <a:prstGeom prst="rect">
            <a:avLst/>
          </a:prstGeom>
        </p:spPr>
      </p:pic>
      <p:sp>
        <p:nvSpPr>
          <p:cNvPr id="14" name="TextBox 13"/>
          <p:cNvSpPr txBox="1"/>
          <p:nvPr/>
        </p:nvSpPr>
        <p:spPr>
          <a:xfrm>
            <a:off x="3657600" y="4297680"/>
            <a:ext cx="8046720" cy="2103120"/>
          </a:xfrm>
          <a:prstGeom prst="rect">
            <a:avLst/>
          </a:prstGeom>
          <a:noFill/>
        </p:spPr>
        <p:txBody>
          <a:bodyPr wrap="square">
            <a:spAutoFit/>
          </a:bodyPr>
          <a:lstStyle/>
          <a:p>
            <a:pPr marL="274320" indent="-274320">
              <a:spcAft>
                <a:spcPts val="400"/>
              </a:spcAft>
              <a:buChar char="•"/>
            </a:pPr>
            <a:r>
              <a:rPr sz="1800" b="0">
                <a:solidFill>
                  <a:srgbClr val="1A1A1A"/>
                </a:solidFill>
                <a:latin typeface="Arial"/>
              </a:rPr>
              <a:t>Why: the reference had no tree-based model, so a fourth model family</a:t>
            </a:r>
          </a:p>
          <a:p>
            <a:pPr marL="274320" indent="-274320">
              <a:spcAft>
                <a:spcPts val="400"/>
              </a:spcAft>
              <a:buChar char="•"/>
            </a:pPr>
            <a:r>
              <a:rPr sz="1800" b="0">
                <a:solidFill>
                  <a:srgbClr val="1A1A1A"/>
                </a:solidFill>
                <a:latin typeface="Arial"/>
              </a:rPr>
              <a:t>Optuna (TPE, Bayesian) on validation: 45 / 31 + 32 trials at 3 / 10 classes; top 4 settings on 50</a:t>
            </a:r>
          </a:p>
          <a:p>
            <a:pPr marL="274320" indent="-274320">
              <a:spcAft>
                <a:spcPts val="400"/>
              </a:spcAft>
              <a:buChar char="•"/>
            </a:pPr>
            <a:r>
              <a:rPr sz="1800" b="0">
                <a:solidFill>
                  <a:srgbClr val="1A1A1A"/>
                </a:solidFill>
                <a:latin typeface="Arial"/>
              </a:rPr>
              <a:t>Phase 8 time-capped; 8B uncapped, wider search. Test % at 3 / 10 / 50: 90.8 / 89.7 / 77.4 → 90.8 / 89.8 / 77.9</a:t>
            </a:r>
          </a:p>
          <a:p>
            <a:pPr marL="274320" indent="-274320">
              <a:spcAft>
                <a:spcPts val="400"/>
              </a:spcAft>
              <a:buChar char="•"/>
            </a:pPr>
            <a:r>
              <a:rPr sz="1800" b="0">
                <a:solidFill>
                  <a:srgbClr val="1A1A1A"/>
                </a:solidFill>
                <a:latin typeface="Arial"/>
              </a:rPr>
              <a:t>Every 50-class setting plateaued at about 78%</a:t>
            </a:r>
          </a:p>
        </p:txBody>
      </p:sp>
      <p:sp>
        <p:nvSpPr>
          <p:cNvPr id="15" name="TextBox 1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16" name="TextBox 1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Comparison of all models (our runs, validation accuracy)</a:t>
            </a:r>
          </a:p>
        </p:txBody>
      </p:sp>
      <p:pic>
        <p:nvPicPr>
          <p:cNvPr id="3" name="Picture 2" descr="accuracy_vs_time.png"/>
          <p:cNvPicPr>
            <a:picLocks noChangeAspect="1"/>
          </p:cNvPicPr>
          <p:nvPr/>
        </p:nvPicPr>
        <p:blipFill>
          <a:blip r:embed="rId2"/>
          <a:stretch>
            <a:fillRect/>
          </a:stretch>
        </p:blipFill>
        <p:spPr>
          <a:xfrm>
            <a:off x="1941440" y="1005839"/>
            <a:ext cx="8278639" cy="3520440"/>
          </a:xfrm>
          <a:prstGeom prst="rect">
            <a:avLst/>
          </a:prstGeom>
        </p:spPr>
      </p:pic>
      <p:graphicFrame>
        <p:nvGraphicFramePr>
          <p:cNvPr id="4" name="Table 3"/>
          <p:cNvGraphicFramePr>
            <a:graphicFrameLocks noGrp="1"/>
          </p:cNvGraphicFramePr>
          <p:nvPr/>
        </p:nvGraphicFramePr>
        <p:xfrm>
          <a:off x="548640" y="4617720"/>
          <a:ext cx="11064240" cy="1536192"/>
        </p:xfrm>
        <a:graphic>
          <a:graphicData uri="http://schemas.openxmlformats.org/drawingml/2006/table">
            <a:tbl>
              <a:tblPr firstRow="1" bandRow="1">
                <a:tableStyleId>{5C22544A-7EE6-4342-B048-85BDC9FD1C3A}</a:tableStyleId>
              </a:tblPr>
              <a:tblGrid>
                <a:gridCol w="1097280"/>
                <a:gridCol w="1737360"/>
                <a:gridCol w="1828800"/>
                <a:gridCol w="1828800"/>
                <a:gridCol w="2103120"/>
                <a:gridCol w="2468880"/>
              </a:tblGrid>
              <a:tr h="384048">
                <a:tc>
                  <a:txBody>
                    <a:bodyPr wrap="square"/>
                    <a:lstStyle/>
                    <a:p>
                      <a:pPr algn="l"/>
                      <a:r>
                        <a:rPr sz="1800" b="1">
                          <a:solidFill>
                            <a:srgbClr val="FFFFFF"/>
                          </a:solidFill>
                          <a:latin typeface="Arial"/>
                        </a:rPr>
                        <a:t>Classes</a:t>
                      </a:r>
                    </a:p>
                  </a:txBody>
                  <a:tcPr marL="73152" marR="73152" marT="27432" marB="27432" anchor="ctr">
                    <a:solidFill>
                      <a:srgbClr val="1F3A5F"/>
                    </a:solidFill>
                  </a:tcPr>
                </a:tc>
                <a:tc>
                  <a:txBody>
                    <a:bodyPr wrap="square"/>
                    <a:lstStyle/>
                    <a:p>
                      <a:pPr algn="ctr"/>
                      <a:r>
                        <a:rPr sz="1800" b="1">
                          <a:solidFill>
                            <a:srgbClr val="FFFFFF"/>
                          </a:solidFill>
                          <a:latin typeface="Arial"/>
                        </a:rPr>
                        <a:t>LR</a:t>
                      </a:r>
                    </a:p>
                  </a:txBody>
                  <a:tcPr marL="73152" marR="73152" marT="27432" marB="27432" anchor="ctr">
                    <a:solidFill>
                      <a:srgbClr val="1F3A5F"/>
                    </a:solidFill>
                  </a:tcPr>
                </a:tc>
                <a:tc>
                  <a:txBody>
                    <a:bodyPr wrap="square"/>
                    <a:lstStyle/>
                    <a:p>
                      <a:pPr algn="ctr"/>
                      <a:r>
                        <a:rPr sz="1800" b="1">
                          <a:solidFill>
                            <a:srgbClr val="FFFFFF"/>
                          </a:solidFill>
                          <a:latin typeface="Arial"/>
                        </a:rPr>
                        <a:t>SVM (RBF)</a:t>
                      </a:r>
                    </a:p>
                  </a:txBody>
                  <a:tcPr marL="73152" marR="73152" marT="27432" marB="27432" anchor="ctr">
                    <a:solidFill>
                      <a:srgbClr val="1F3A5F"/>
                    </a:solidFill>
                  </a:tcPr>
                </a:tc>
                <a:tc>
                  <a:txBody>
                    <a:bodyPr wrap="square"/>
                    <a:lstStyle/>
                    <a:p>
                      <a:pPr algn="ctr"/>
                      <a:r>
                        <a:rPr sz="1800" b="1">
                          <a:solidFill>
                            <a:srgbClr val="FFFFFF"/>
                          </a:solidFill>
                          <a:latin typeface="Arial"/>
                        </a:rPr>
                        <a:t>CNN (best)</a:t>
                      </a:r>
                    </a:p>
                  </a:txBody>
                  <a:tcPr marL="73152" marR="73152" marT="27432" marB="27432" anchor="ctr">
                    <a:solidFill>
                      <a:srgbClr val="1F3A5F"/>
                    </a:solidFill>
                  </a:tcPr>
                </a:tc>
                <a:tc>
                  <a:txBody>
                    <a:bodyPr wrap="square"/>
                    <a:lstStyle/>
                    <a:p>
                      <a:pPr algn="ctr"/>
                      <a:r>
                        <a:rPr sz="1800" b="1">
                          <a:solidFill>
                            <a:srgbClr val="FFFFFF"/>
                          </a:solidFill>
                          <a:latin typeface="Arial"/>
                        </a:rPr>
                        <a:t>TL (ResNet50)</a:t>
                      </a:r>
                    </a:p>
                  </a:txBody>
                  <a:tcPr marL="73152" marR="73152" marT="27432" marB="27432" anchor="ctr">
                    <a:solidFill>
                      <a:srgbClr val="1F3A5F"/>
                    </a:solidFill>
                  </a:tcPr>
                </a:tc>
                <a:tc>
                  <a:txBody>
                    <a:bodyPr wrap="square"/>
                    <a:lstStyle/>
                    <a:p>
                      <a:pPr algn="ctr"/>
                      <a:r>
                        <a:rPr sz="1800" b="1">
                          <a:solidFill>
                            <a:srgbClr val="FFFFFF"/>
                          </a:solidFill>
                          <a:latin typeface="Arial"/>
                        </a:rPr>
                        <a:t>XGBoost</a:t>
                      </a:r>
                    </a:p>
                  </a:txBody>
                  <a:tcPr marL="73152" marR="73152" marT="27432" marB="27432" anchor="ctr">
                    <a:solidFill>
                      <a:srgbClr val="1F3A5F"/>
                    </a:solidFill>
                  </a:tcPr>
                </a:tc>
              </a:tr>
              <a:tr h="384048">
                <a:tc>
                  <a:txBody>
                    <a:bodyPr wrap="square"/>
                    <a:lstStyle/>
                    <a:p>
                      <a:pPr algn="l"/>
                      <a:r>
                        <a:rPr sz="1800" b="0">
                          <a:solidFill>
                            <a:srgbClr val="1A1A1A"/>
                          </a:solidFill>
                          <a:latin typeface="Arial"/>
                        </a:rPr>
                        <a:t>3</a:t>
                      </a:r>
                    </a:p>
                  </a:txBody>
                  <a:tcPr marL="73152" marR="73152" marT="27432" marB="27432" anchor="ctr">
                    <a:solidFill>
                      <a:srgbClr val="FFFFFF"/>
                    </a:solidFill>
                  </a:tcPr>
                </a:tc>
                <a:tc>
                  <a:txBody>
                    <a:bodyPr wrap="square"/>
                    <a:lstStyle/>
                    <a:p>
                      <a:pPr algn="ctr"/>
                      <a:r>
                        <a:rPr sz="1800" b="0">
                          <a:solidFill>
                            <a:srgbClr val="1A1A1A"/>
                          </a:solidFill>
                          <a:latin typeface="Arial"/>
                        </a:rPr>
                        <a:t>79.3% · 19.9 s</a:t>
                      </a:r>
                    </a:p>
                  </a:txBody>
                  <a:tcPr marL="73152" marR="73152" marT="27432" marB="27432" anchor="ctr">
                    <a:solidFill>
                      <a:srgbClr val="FFFFFF"/>
                    </a:solidFill>
                  </a:tcPr>
                </a:tc>
                <a:tc>
                  <a:txBody>
                    <a:bodyPr wrap="square"/>
                    <a:lstStyle/>
                    <a:p>
                      <a:pPr algn="ctr"/>
                      <a:r>
                        <a:rPr sz="1800" b="0">
                          <a:solidFill>
                            <a:srgbClr val="1A1A1A"/>
                          </a:solidFill>
                          <a:latin typeface="Arial"/>
                        </a:rPr>
                        <a:t>84.0% · 41.4 s</a:t>
                      </a:r>
                    </a:p>
                  </a:txBody>
                  <a:tcPr marL="73152" marR="73152" marT="27432" marB="27432" anchor="ctr">
                    <a:solidFill>
                      <a:srgbClr val="FFFFFF"/>
                    </a:solidFill>
                  </a:tcPr>
                </a:tc>
                <a:tc>
                  <a:txBody>
                    <a:bodyPr wrap="square"/>
                    <a:lstStyle/>
                    <a:p>
                      <a:pPr algn="ctr"/>
                      <a:r>
                        <a:rPr sz="1800" b="0">
                          <a:solidFill>
                            <a:srgbClr val="1A1A1A"/>
                          </a:solidFill>
                          <a:latin typeface="Arial"/>
                        </a:rPr>
                        <a:t>91.7% · 37.7 s</a:t>
                      </a:r>
                    </a:p>
                  </a:txBody>
                  <a:tcPr marL="73152" marR="73152" marT="27432" marB="27432" anchor="ctr">
                    <a:solidFill>
                      <a:srgbClr val="FFFFFF"/>
                    </a:solidFill>
                  </a:tcPr>
                </a:tc>
                <a:tc>
                  <a:txBody>
                    <a:bodyPr wrap="square"/>
                    <a:lstStyle/>
                    <a:p>
                      <a:pPr algn="ctr"/>
                      <a:r>
                        <a:rPr sz="1800" b="0">
                          <a:solidFill>
                            <a:srgbClr val="1A1A1A"/>
                          </a:solidFill>
                          <a:latin typeface="Arial"/>
                        </a:rPr>
                        <a:t>95.4% · 169.8 s</a:t>
                      </a:r>
                    </a:p>
                  </a:txBody>
                  <a:tcPr marL="73152" marR="73152" marT="27432" marB="27432" anchor="ctr">
                    <a:solidFill>
                      <a:srgbClr val="FFFFFF"/>
                    </a:solidFill>
                  </a:tcPr>
                </a:tc>
                <a:tc>
                  <a:txBody>
                    <a:bodyPr wrap="square"/>
                    <a:lstStyle/>
                    <a:p>
                      <a:pPr algn="ctr"/>
                      <a:r>
                        <a:rPr sz="1800" b="0">
                          <a:solidFill>
                            <a:srgbClr val="1A1A1A"/>
                          </a:solidFill>
                          <a:latin typeface="Arial"/>
                        </a:rPr>
                        <a:t>91.7% · 56.8 s</a:t>
                      </a:r>
                    </a:p>
                  </a:txBody>
                  <a:tcPr marL="73152" marR="73152" marT="27432" marB="27432" anchor="ctr">
                    <a:solidFill>
                      <a:srgbClr val="FFFFFF"/>
                    </a:solidFill>
                  </a:tcPr>
                </a:tc>
              </a:tr>
              <a:tr h="384048">
                <a:tc>
                  <a:txBody>
                    <a:bodyPr wrap="square"/>
                    <a:lstStyle/>
                    <a:p>
                      <a:pPr algn="l"/>
                      <a:r>
                        <a:rPr sz="1800" b="0">
                          <a:solidFill>
                            <a:srgbClr val="1A1A1A"/>
                          </a:solidFill>
                          <a:latin typeface="Arial"/>
                        </a:rPr>
                        <a:t>10</a:t>
                      </a:r>
                    </a:p>
                  </a:txBody>
                  <a:tcPr marL="73152" marR="73152" marT="27432" marB="27432" anchor="ctr">
                    <a:solidFill>
                      <a:srgbClr val="F2F4F7"/>
                    </a:solidFill>
                  </a:tcPr>
                </a:tc>
                <a:tc>
                  <a:txBody>
                    <a:bodyPr wrap="square"/>
                    <a:lstStyle/>
                    <a:p>
                      <a:pPr algn="ctr"/>
                      <a:r>
                        <a:rPr sz="1800" b="0">
                          <a:solidFill>
                            <a:srgbClr val="1A1A1A"/>
                          </a:solidFill>
                          <a:latin typeface="Arial"/>
                        </a:rPr>
                        <a:t>65.8% · 20.0 s</a:t>
                      </a:r>
                    </a:p>
                  </a:txBody>
                  <a:tcPr marL="73152" marR="73152" marT="27432" marB="27432" anchor="ctr">
                    <a:solidFill>
                      <a:srgbClr val="F2F4F7"/>
                    </a:solidFill>
                  </a:tcPr>
                </a:tc>
                <a:tc>
                  <a:txBody>
                    <a:bodyPr wrap="square"/>
                    <a:lstStyle/>
                    <a:p>
                      <a:pPr algn="ctr"/>
                      <a:r>
                        <a:rPr sz="1800" b="0">
                          <a:solidFill>
                            <a:srgbClr val="1A1A1A"/>
                          </a:solidFill>
                          <a:latin typeface="Arial"/>
                        </a:rPr>
                        <a:t>74.6% · 655.3 s</a:t>
                      </a:r>
                    </a:p>
                  </a:txBody>
                  <a:tcPr marL="73152" marR="73152" marT="27432" marB="27432" anchor="ctr">
                    <a:solidFill>
                      <a:srgbClr val="F2F4F7"/>
                    </a:solidFill>
                  </a:tcPr>
                </a:tc>
                <a:tc>
                  <a:txBody>
                    <a:bodyPr wrap="square"/>
                    <a:lstStyle/>
                    <a:p>
                      <a:pPr algn="ctr"/>
                      <a:r>
                        <a:rPr sz="1800" b="0">
                          <a:solidFill>
                            <a:srgbClr val="1A1A1A"/>
                          </a:solidFill>
                          <a:latin typeface="Arial"/>
                        </a:rPr>
                        <a:t>88.8% · 109.2 s</a:t>
                      </a:r>
                    </a:p>
                  </a:txBody>
                  <a:tcPr marL="73152" marR="73152" marT="27432" marB="27432" anchor="ctr">
                    <a:solidFill>
                      <a:srgbClr val="F2F4F7"/>
                    </a:solidFill>
                  </a:tcPr>
                </a:tc>
                <a:tc>
                  <a:txBody>
                    <a:bodyPr wrap="square"/>
                    <a:lstStyle/>
                    <a:p>
                      <a:pPr algn="ctr"/>
                      <a:r>
                        <a:rPr sz="1800" b="0">
                          <a:solidFill>
                            <a:srgbClr val="1A1A1A"/>
                          </a:solidFill>
                          <a:latin typeface="Arial"/>
                        </a:rPr>
                        <a:t>—</a:t>
                      </a:r>
                    </a:p>
                  </a:txBody>
                  <a:tcPr marL="73152" marR="73152" marT="27432" marB="27432" anchor="ctr">
                    <a:solidFill>
                      <a:srgbClr val="F2F4F7"/>
                    </a:solidFill>
                  </a:tcPr>
                </a:tc>
                <a:tc>
                  <a:txBody>
                    <a:bodyPr wrap="square"/>
                    <a:lstStyle/>
                    <a:p>
                      <a:pPr algn="ctr"/>
                      <a:r>
                        <a:rPr sz="1800" b="0">
                          <a:solidFill>
                            <a:srgbClr val="1A1A1A"/>
                          </a:solidFill>
                          <a:latin typeface="Arial"/>
                        </a:rPr>
                        <a:t>89.8% · 485.8 s</a:t>
                      </a:r>
                    </a:p>
                  </a:txBody>
                  <a:tcPr marL="73152" marR="73152" marT="27432" marB="27432" anchor="ctr">
                    <a:solidFill>
                      <a:srgbClr val="F2F4F7"/>
                    </a:solidFill>
                  </a:tcPr>
                </a:tc>
              </a:tr>
              <a:tr h="384048">
                <a:tc>
                  <a:txBody>
                    <a:bodyPr wrap="square"/>
                    <a:lstStyle/>
                    <a:p>
                      <a:pPr algn="l"/>
                      <a:r>
                        <a:rPr sz="1800" b="0">
                          <a:solidFill>
                            <a:srgbClr val="1A1A1A"/>
                          </a:solidFill>
                          <a:latin typeface="Arial"/>
                        </a:rPr>
                        <a:t>50</a:t>
                      </a:r>
                    </a:p>
                  </a:txBody>
                  <a:tcPr marL="73152" marR="73152" marT="27432" marB="27432" anchor="ctr">
                    <a:solidFill>
                      <a:srgbClr val="FFFFFF"/>
                    </a:solidFill>
                  </a:tcPr>
                </a:tc>
                <a:tc>
                  <a:txBody>
                    <a:bodyPr wrap="square"/>
                    <a:lstStyle/>
                    <a:p>
                      <a:pPr algn="ctr"/>
                      <a:r>
                        <a:rPr sz="1800" b="0">
                          <a:solidFill>
                            <a:srgbClr val="1A1A1A"/>
                          </a:solidFill>
                          <a:latin typeface="Arial"/>
                        </a:rPr>
                        <a:t>43.3% · 86.0 s</a:t>
                      </a:r>
                    </a:p>
                  </a:txBody>
                  <a:tcPr marL="73152" marR="73152" marT="27432" marB="27432" anchor="ctr">
                    <a:solidFill>
                      <a:srgbClr val="FFFFFF"/>
                    </a:solidFill>
                  </a:tcPr>
                </a:tc>
                <a:tc>
                  <a:txBody>
                    <a:bodyPr wrap="square"/>
                    <a:lstStyle/>
                    <a:p>
                      <a:pPr algn="ctr"/>
                      <a:r>
                        <a:rPr sz="1800" b="0">
                          <a:solidFill>
                            <a:srgbClr val="1A1A1A"/>
                          </a:solidFill>
                          <a:latin typeface="Arial"/>
                        </a:rPr>
                        <a:t>—</a:t>
                      </a:r>
                    </a:p>
                  </a:txBody>
                  <a:tcPr marL="73152" marR="73152" marT="27432" marB="27432" anchor="ctr">
                    <a:solidFill>
                      <a:srgbClr val="FFFFFF"/>
                    </a:solidFill>
                  </a:tcPr>
                </a:tc>
                <a:tc>
                  <a:txBody>
                    <a:bodyPr wrap="square"/>
                    <a:lstStyle/>
                    <a:p>
                      <a:pPr algn="ctr"/>
                      <a:r>
                        <a:rPr sz="1800" b="0">
                          <a:solidFill>
                            <a:srgbClr val="1A1A1A"/>
                          </a:solidFill>
                          <a:latin typeface="Arial"/>
                        </a:rPr>
                        <a:t>81.2% · 431.4 s</a:t>
                      </a:r>
                    </a:p>
                  </a:txBody>
                  <a:tcPr marL="73152" marR="73152" marT="27432" marB="27432" anchor="ctr">
                    <a:solidFill>
                      <a:srgbClr val="FFFFFF"/>
                    </a:solidFill>
                  </a:tcPr>
                </a:tc>
                <a:tc>
                  <a:txBody>
                    <a:bodyPr wrap="square"/>
                    <a:lstStyle/>
                    <a:p>
                      <a:pPr algn="ctr"/>
                      <a:r>
                        <a:rPr sz="1800" b="0">
                          <a:solidFill>
                            <a:srgbClr val="1A1A1A"/>
                          </a:solidFill>
                          <a:latin typeface="Arial"/>
                        </a:rPr>
                        <a:t>—</a:t>
                      </a:r>
                    </a:p>
                  </a:txBody>
                  <a:tcPr marL="73152" marR="73152" marT="27432" marB="27432" anchor="ctr">
                    <a:solidFill>
                      <a:srgbClr val="FFFFFF"/>
                    </a:solidFill>
                  </a:tcPr>
                </a:tc>
                <a:tc>
                  <a:txBody>
                    <a:bodyPr wrap="square"/>
                    <a:lstStyle/>
                    <a:p>
                      <a:pPr algn="ctr"/>
                      <a:r>
                        <a:rPr sz="1800" b="0">
                          <a:solidFill>
                            <a:srgbClr val="1A1A1A"/>
                          </a:solidFill>
                          <a:latin typeface="Arial"/>
                        </a:rPr>
                        <a:t>78.0% · 7,191.1 s</a:t>
                      </a:r>
                    </a:p>
                  </a:txBody>
                  <a:tcPr marL="73152" marR="73152" marT="27432" marB="27432" anchor="ctr">
                    <a:solidFill>
                      <a:srgbClr val="FFFFFF"/>
                    </a:solidFill>
                  </a:tcPr>
                </a:tc>
              </a:tr>
            </a:tbl>
          </a:graphicData>
        </a:graphic>
      </p:graphicFrame>
      <p:sp>
        <p:nvSpPr>
          <p:cNvPr id="5" name="TextBox 4"/>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6" name="TextBox 5"/>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a:spAutoFit/>
          </a:bodyPr>
          <a:lstStyle/>
          <a:p>
            <a:pPr algn="l"/>
            <a:r>
              <a:rPr sz="3000" b="1">
                <a:solidFill>
                  <a:srgbClr val="1F3A5F"/>
                </a:solidFill>
                <a:latin typeface="Arial"/>
              </a:rPr>
              <a:t>Key findings</a:t>
            </a:r>
          </a:p>
        </p:txBody>
      </p:sp>
      <p:sp>
        <p:nvSpPr>
          <p:cNvPr id="3" name="TextBox 2"/>
          <p:cNvSpPr txBox="1"/>
          <p:nvPr/>
        </p:nvSpPr>
        <p:spPr>
          <a:xfrm>
            <a:off x="548640" y="1280160"/>
            <a:ext cx="11064240" cy="4937760"/>
          </a:xfrm>
          <a:prstGeom prst="rect">
            <a:avLst/>
          </a:prstGeom>
          <a:noFill/>
        </p:spPr>
        <p:txBody>
          <a:bodyPr wrap="square">
            <a:spAutoFit/>
          </a:bodyPr>
          <a:lstStyle/>
          <a:p>
            <a:pPr marL="274320" indent="-274320">
              <a:spcAft>
                <a:spcPts val="1600"/>
              </a:spcAft>
              <a:buChar char="•"/>
            </a:pPr>
            <a:r>
              <a:rPr sz="1800" b="0">
                <a:solidFill>
                  <a:srgbClr val="1A1A1A"/>
                </a:solidFill>
                <a:latin typeface="Arial"/>
              </a:rPr>
              <a:t>CNN is best on 50 classes: 81.2% in 431.4 s, about 16.7× faster than tuned XGBoost (78.0%, 7,191.1 s)</a:t>
            </a:r>
          </a:p>
          <a:p>
            <a:pPr marL="274320" indent="-274320">
              <a:spcAft>
                <a:spcPts val="1600"/>
              </a:spcAft>
              <a:buChar char="•"/>
            </a:pPr>
            <a:r>
              <a:rPr sz="1800" b="0">
                <a:solidFill>
                  <a:srgbClr val="1A1A1A"/>
                </a:solidFill>
                <a:latin typeface="Arial"/>
              </a:rPr>
              <a:t>XGBoost matches CNNs on 3 and 10 classes (91.7 vs 91.7; 89.8 vs 88.8) but plateaus at about 78% on 50: trees judge single pixels, CNNs learn shapes</a:t>
            </a:r>
          </a:p>
          <a:p>
            <a:pPr marL="274320" indent="-274320">
              <a:spcAft>
                <a:spcPts val="1600"/>
              </a:spcAft>
              <a:buChar char="•"/>
            </a:pPr>
            <a:r>
              <a:rPr sz="1800" b="0">
                <a:solidFill>
                  <a:srgbClr val="1A1A1A"/>
                </a:solidFill>
                <a:latin typeface="Arial"/>
              </a:rPr>
              <a:t>Three inconsistencies in the reference explained: the CNN version bug, the SVM data size, the frozen BatchNorm effect</a:t>
            </a:r>
          </a:p>
          <a:p>
            <a:pPr marL="274320" indent="-274320">
              <a:spcAft>
                <a:spcPts val="1600"/>
              </a:spcAft>
              <a:buChar char="•"/>
            </a:pPr>
            <a:r>
              <a:rPr sz="1800" b="0">
                <a:solidFill>
                  <a:srgbClr val="1A1A1A"/>
                </a:solidFill>
                <a:latin typeface="Arial"/>
              </a:rPr>
              <a:t>Future work: feed transfer-learning features into XGBoost or LR, as the report suggests</a:t>
            </a:r>
          </a:p>
        </p:txBody>
      </p:sp>
      <p:sp>
        <p:nvSpPr>
          <p:cNvPr id="4" name="TextBox 3"/>
          <p:cNvSpPr txBox="1"/>
          <p:nvPr/>
        </p:nvSpPr>
        <p:spPr>
          <a:xfrm>
            <a:off x="548640" y="6446520"/>
            <a:ext cx="9144000" cy="274320"/>
          </a:xfrm>
          <a:prstGeom prst="rect">
            <a:avLst/>
          </a:prstGeom>
          <a:noFill/>
        </p:spPr>
        <p:txBody>
          <a:bodyPr wrap="square" anchor="t">
            <a:spAutoFit/>
          </a:bodyPr>
          <a:lstStyle/>
          <a:p>
            <a:pPr algn="l"/>
            <a:r>
              <a:rPr sz="1000" b="0">
                <a:solidFill>
                  <a:srgbClr val="5A5A5A"/>
                </a:solidFill>
                <a:latin typeface="Arial"/>
              </a:rPr>
              <a:t>Drawing: A New Way To Search — Reproduce &amp; Extend</a:t>
            </a:r>
          </a:p>
        </p:txBody>
      </p:sp>
      <p:sp>
        <p:nvSpPr>
          <p:cNvPr id="5" name="TextBox 4"/>
          <p:cNvSpPr txBox="1"/>
          <p:nvPr/>
        </p:nvSpPr>
        <p:spPr>
          <a:xfrm>
            <a:off x="10698480" y="6446520"/>
            <a:ext cx="914400" cy="274320"/>
          </a:xfrm>
          <a:prstGeom prst="rect">
            <a:avLst/>
          </a:prstGeom>
          <a:noFill/>
        </p:spPr>
        <p:txBody>
          <a:bodyPr wrap="square" anchor="t">
            <a:spAutoFit/>
          </a:bodyPr>
          <a:lstStyle/>
          <a:p>
            <a:pPr algn="r"/>
            <a:r>
              <a:rPr sz="1000" b="0">
                <a:solidFill>
                  <a:srgbClr val="5A5A5A"/>
                </a:solidFill>
                <a:latin typeface="Arial"/>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