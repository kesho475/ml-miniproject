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project asks a simple question: can a computer recognise quick doodles? The reference report argues that if it can, drawing could become a way to search. The data is Google QuickDraw: tiny 28 by 28 grayscale drawings. We use 3, 10 and 50 classes, with 20,000 drawings per class, split into 16,000 for training, 2,000 for validation and 2,000 for testing. Our job was to reproduce the paper, then add one new model.</a:t>
            </a:r>
          </a:p>
          <a:p/>
          <a:p>
            <a:r>
              <a:t>(about 34 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original team compared four model families, from simple to complex. Logistic regression draws straight lines between classes and is the fast baseline. An SVM looks for the widest gap between classes, and its kernels allow curved boundaries. A CNN slides small filters over the image to find strokes and shapes; V1 is their full network and V2 to V4 are simpler versions. Transfer learning reuses networks trained on over a million photos.</a:t>
            </a:r>
          </a:p>
          <a:p/>
          <a:p>
            <a:r>
              <a:t>(about 34 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rebuilt their pipeline step by step. The same QuickDraw data, one fixed split shared by every model, the same preprocessing for each model, the same models and settings, and the same two measurements. What differed: we used a newer laptop GPU and newer libraries. For transfer learning we computed the frozen networks' outputs once and trained only the new head, which gives the same result in 30.9 minutes instead of about 15.7 hours.</a:t>
            </a:r>
          </a:p>
          <a:p/>
          <a:p>
            <a:r>
              <a:t>(about 34 s)</a:t>
            </a:r>
          </a:p>
          <a:p/>
          <a:p>
            <a:r>
              <a:t>--- Reference, not spoken ---</a:t>
            </a:r>
          </a:p>
          <a:p>
            <a:r>
              <a:t>Their time = report Table 6 seconds per epoch × epochs in their logs: VGG19 207 s × 20 + MobileNet 103 s × 100 + ResNet50 152 s × 100 + InceptionV3 540 s × 50 = 56,640 s = 15.7 h. Ours = sum of transfer-learning training times in cross_model_ours.csv (feature extraction + head) = 1,852 s = 30.9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scorecard, all in validation accuracy. Logistic regression matches at every class size, within 1.2 points. Our CNN V1 matches their V1 on 50 classes, and VGG19 transfer learning matches almost exactly. So the pipeline is right. But three results differ. Our SVM with the RBF kernel scores much higher than theirs. Their CNN called V2 scores much higher than our V2. And three of the four transfer-learning networks score far higher for us. Because the setup is the same, each of these gaps needs a cause, which is the next slide. The full tables are in the repository.</a:t>
            </a:r>
          </a:p>
          <a:p/>
          <a:p>
            <a:r>
              <a:t>(about 47 s)</a:t>
            </a:r>
          </a:p>
          <a:p/>
          <a:p>
            <a:r>
              <a:t>--- Reference, not spoken ---</a:t>
            </a:r>
          </a:p>
          <a:p>
            <a:r>
              <a:t>LR: Logistic regression raw 3 cls 79.5 vs 79.3; Logistic regression raw 10 cls 64.6 vs 65.8; Logistic regression raw 50 cls 43.9 vs 43.3</a:t>
            </a:r>
          </a:p>
          <a:p>
            <a:r>
              <a:t>SVM: Linear scaled 3 cls 40.8 vs 43.3; RBF scaled 3 cls 62.7 vs 84.0; Polynomial scaled 3 cls 51.7 vs 66.7; Sigmoid scaled 3 cls 33.1 vs 32.5; Linear scaled 10 cls 22.2 vs 23.4; RBF scaled 10 cls 61.0 vs 74.6; Polynomial scaled 10 cls 50.9 vs 73.9; Sigmoid scaled 10 cls 11.7 vs 13.4</a:t>
            </a:r>
          </a:p>
          <a:p>
            <a:r>
              <a:t>CNN: V1 raw 3 cls 91.4 vs 90.8; V2 raw 3 cls 91.3 vs 91.7; V1 binarized 3 cls 89.0 vs 89.6; V2 binarized 3 cls 89.1 vs 90.1; V3 binarized 3 cls 88.2 vs 88.8; V4 binarized 3 cls 89.1 vs 89.2; V1 raw 10 cls 89.3 vs 88.8; V2 raw 10 cls 89.2 vs 88.5; V1 binarized 10 cls 87.2 vs 86.6; V2 binarized 10 cls 86.7 vs 85.1; V3 binarized 10 cls 86.6 vs 84.1; V4 binarized 10 cls 85.6 vs 84.7; V1 raw 50 cls 81.8 vs 81.2; V2 raw 50 cls 81.8 vs 75.1; V2 (test set) raw 50 cls 81.9 vs 75.1; V1 binarized 50 cls 77.5 vs 76.8; V2 binarized 50 cls 77.4 vs 70.4; V3 binarized 50 cls 70.3 vs 65.1; V4 binarized 50 cls 70.3 vs 70.5</a:t>
            </a:r>
          </a:p>
          <a:p>
            <a:r>
              <a:t>TL: VGG19 resized 3 cls 95.6 vs 95.4; MobileNet resized 3 cls 75.4 vs 94.6; ResNet50 resized 3 cls 62.7 vs 95.4; InceptionV3 resized 3 cls 45.7 vs 93.1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gap has a cause we could check. First, the SVM. Their logs show about 70,000 drawings per class, with the same 500-step limit. More data under the same limit means a less finished model. When we reran with 70,000 drawings, RBF dropped from 84.0 to 75.0, close to theirs. Second, their script had a bug that trained V1 under the V2 label, so their V2 is really our V1. Third, BatchNorm layers behaved differently in 2018 Keras. VGG19, the only network without them, matches. So the claim that complex networks don't help is likely wrong.</a:t>
            </a:r>
          </a:p>
          <a:p/>
          <a:p>
            <a:r>
              <a:t>(about 44 s)</a:t>
            </a:r>
          </a:p>
          <a:p/>
          <a:p>
            <a:r>
              <a:t>--- Reference, not spoken ---</a:t>
            </a:r>
          </a:p>
          <a:p>
            <a:r>
              <a:t>Inception training accuracy 99.99% is from the authors' GitHub README log.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our extension we added XGBoost, because the paper never tried a tree-based model. XGBoost builds trees one after another; each new tree fixes the mistakes of the ones before, and their votes are added up. We tuned seven settings with Optuna, a Bayesian search, using only the validation set. Our first run was time-limited, so we retrained until the model stopped improving. On 50 classes that gained only half a point: the curve flattens around 78 percent.</a:t>
            </a:r>
          </a:p>
          <a:p/>
          <a:p>
            <a:r>
              <a:t>(about 36 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shows all our models on 50 classes: accuracy upwards, training time to the right on a log scale. The CNNs sit top left: accurate and quick. The best, CNN V1, reaches 81.2 percent in about 7.2 min. XGBoost reaches 78.0 percent but needs about 119.9 min. The table below gives the best model per family at each class size: every family does well on 3 classes, and the gaps open as the number of classes grows.</a:t>
            </a:r>
          </a:p>
          <a:p/>
          <a:p>
            <a:r>
              <a:t>(about 36 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 up. The CNN is the best model on 50 classes, at 81.2 percent, and it trains about 16.7 times faster than tuned XGBoost. XGBoost keeps up with CNNs on 3 and 10 classes, 91.7 against 91.7 and 89.8 against 88.8, but stalls on 50, because trees judge single pixels while CNNs learn shapes. The three surprising results in the paper come from their setup, not from the models. So yes, a computer can recognise doodles. Thank you.</a:t>
            </a:r>
          </a:p>
          <a:p/>
          <a:p>
            <a:r>
              <a:t>(about 36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182880"/>
            <a:ext cx="11064240" cy="960120"/>
          </a:xfrm>
          <a:prstGeom prst="rect">
            <a:avLst/>
          </a:prstGeom>
          <a:noFill/>
        </p:spPr>
        <p:txBody>
          <a:bodyPr wrap="square" anchor="ctr">
            <a:spAutoFit/>
          </a:bodyPr>
          <a:lstStyle/>
          <a:p>
            <a:pPr algn="l"/>
            <a:r>
              <a:rPr sz="3200" b="1">
                <a:solidFill>
                  <a:srgbClr val="1F3A5F"/>
                </a:solidFill>
                <a:latin typeface="Arial"/>
              </a:rPr>
              <a:t>Can a computer recognise quick doodles?</a:t>
            </a:r>
          </a:p>
        </p:txBody>
      </p:sp>
      <p:sp>
        <p:nvSpPr>
          <p:cNvPr id="3" name="TextBox 2"/>
          <p:cNvSpPr txBox="1"/>
          <p:nvPr/>
        </p:nvSpPr>
        <p:spPr>
          <a:xfrm>
            <a:off x="548640" y="960120"/>
            <a:ext cx="7315200" cy="411480"/>
          </a:xfrm>
          <a:prstGeom prst="rect">
            <a:avLst/>
          </a:prstGeom>
          <a:noFill/>
        </p:spPr>
        <p:txBody>
          <a:bodyPr wrap="square" anchor="t">
            <a:spAutoFit/>
          </a:bodyPr>
          <a:lstStyle/>
          <a:p>
            <a:pPr algn="l"/>
            <a:r>
              <a:rPr sz="1800" b="0">
                <a:solidFill>
                  <a:srgbClr val="5A5A5A"/>
                </a:solidFill>
                <a:latin typeface="Arial"/>
              </a:rPr>
              <a:t>[Name 1, SRN] · [Name 2, SRN]</a:t>
            </a:r>
          </a:p>
        </p:txBody>
      </p:sp>
      <p:sp>
        <p:nvSpPr>
          <p:cNvPr id="4" name="TextBox 3"/>
          <p:cNvSpPr txBox="1"/>
          <p:nvPr/>
        </p:nvSpPr>
        <p:spPr>
          <a:xfrm>
            <a:off x="548640" y="1554480"/>
            <a:ext cx="6675120" cy="3291840"/>
          </a:xfrm>
          <a:prstGeom prst="rect">
            <a:avLst/>
          </a:prstGeom>
          <a:noFill/>
        </p:spPr>
        <p:txBody>
          <a:bodyPr wrap="square">
            <a:spAutoFit/>
          </a:bodyPr>
          <a:lstStyle/>
          <a:p>
            <a:pPr marL="274320" indent="-274320">
              <a:spcAft>
                <a:spcPts val="1200"/>
              </a:spcAft>
              <a:buChar char="•"/>
            </a:pPr>
            <a:r>
              <a:rPr sz="1800" b="0">
                <a:solidFill>
                  <a:srgbClr val="1A1A1A"/>
                </a:solidFill>
                <a:latin typeface="Arial"/>
              </a:rPr>
              <a:t>Problem: name the object in a quick hand drawing</a:t>
            </a:r>
          </a:p>
          <a:p>
            <a:pPr marL="274320" indent="-274320">
              <a:spcAft>
                <a:spcPts val="1200"/>
              </a:spcAft>
              <a:buChar char="•"/>
            </a:pPr>
            <a:r>
              <a:rPr sz="1800" b="0">
                <a:solidFill>
                  <a:srgbClr val="1A1A1A"/>
                </a:solidFill>
                <a:latin typeface="Arial"/>
              </a:rPr>
              <a:t>Why it matters: drawing could become a search interface</a:t>
            </a:r>
          </a:p>
          <a:p>
            <a:pPr marL="274320" indent="-274320">
              <a:spcAft>
                <a:spcPts val="1200"/>
              </a:spcAft>
              <a:buChar char="•"/>
            </a:pPr>
            <a:r>
              <a:rPr sz="1800" b="0">
                <a:solidFill>
                  <a:srgbClr val="1A1A1A"/>
                </a:solidFill>
                <a:latin typeface="Arial"/>
              </a:rPr>
              <a:t>Data: Google QuickDraw, 28×28 grayscale; 3 / 10 / 50 classes, 20,000 each</a:t>
            </a:r>
          </a:p>
          <a:p>
            <a:pPr marL="274320" indent="-274320">
              <a:spcAft>
                <a:spcPts val="1200"/>
              </a:spcAft>
              <a:buChar char="•"/>
            </a:pPr>
            <a:r>
              <a:rPr sz="1800" b="0">
                <a:solidFill>
                  <a:srgbClr val="1A1A1A"/>
                </a:solidFill>
                <a:latin typeface="Arial"/>
              </a:rPr>
              <a:t>Split per class: 16,000 train / 2,000 validation / 2,000 test</a:t>
            </a:r>
          </a:p>
        </p:txBody>
      </p:sp>
      <p:sp>
        <p:nvSpPr>
          <p:cNvPr id="5" name="TextBox 4"/>
          <p:cNvSpPr txBox="1"/>
          <p:nvPr/>
        </p:nvSpPr>
        <p:spPr>
          <a:xfrm>
            <a:off x="548640" y="4892040"/>
            <a:ext cx="6675120" cy="731520"/>
          </a:xfrm>
          <a:prstGeom prst="rect">
            <a:avLst/>
          </a:prstGeom>
          <a:noFill/>
        </p:spPr>
        <p:txBody>
          <a:bodyPr wrap="square" anchor="t">
            <a:spAutoFit/>
          </a:bodyPr>
          <a:lstStyle/>
          <a:p>
            <a:pPr algn="l"/>
            <a:r>
              <a:rPr sz="1800" b="1">
                <a:solidFill>
                  <a:srgbClr val="1F3A5F"/>
                </a:solidFill>
                <a:latin typeface="Arial"/>
              </a:rPr>
              <a:t>Our task: reproduce the paper's results, then add one new model.</a:t>
            </a:r>
          </a:p>
        </p:txBody>
      </p:sp>
      <p:pic>
        <p:nvPicPr>
          <p:cNvPr id="6" name="Picture 5" descr="sample_drawings_10_classes.png"/>
          <p:cNvPicPr>
            <a:picLocks noChangeAspect="1"/>
          </p:cNvPicPr>
          <p:nvPr/>
        </p:nvPicPr>
        <p:blipFill>
          <a:blip r:embed="rId2"/>
          <a:stretch>
            <a:fillRect/>
          </a:stretch>
        </p:blipFill>
        <p:spPr>
          <a:xfrm>
            <a:off x="7498079" y="1051560"/>
            <a:ext cx="4206240" cy="4754879"/>
          </a:xfrm>
          <a:prstGeom prst="rect">
            <a:avLst/>
          </a:prstGeom>
        </p:spPr>
      </p:pic>
      <p:sp>
        <p:nvSpPr>
          <p:cNvPr id="7" name="TextBox 6"/>
          <p:cNvSpPr txBox="1"/>
          <p:nvPr/>
        </p:nvSpPr>
        <p:spPr>
          <a:xfrm>
            <a:off x="548640" y="5870448"/>
            <a:ext cx="11064240" cy="457200"/>
          </a:xfrm>
          <a:prstGeom prst="rect">
            <a:avLst/>
          </a:prstGeom>
          <a:noFill/>
        </p:spPr>
        <p:txBody>
          <a:bodyPr wrap="square">
            <a:spAutoFit/>
          </a:bodyPr>
          <a:lstStyle/>
          <a:p>
            <a:r>
              <a:rPr sz="1800" b="1">
                <a:solidFill>
                  <a:srgbClr val="1F3A5F"/>
                </a:solidFill>
                <a:latin typeface="Arial"/>
              </a:rPr>
              <a:t>Takeaway: same simple drawings, but harder as the number of classes grows.</a:t>
            </a:r>
          </a:p>
        </p:txBody>
      </p:sp>
      <p:sp>
        <p:nvSpPr>
          <p:cNvPr id="8" name="TextBox 7"/>
          <p:cNvSpPr txBox="1"/>
          <p:nvPr/>
        </p:nvSpPr>
        <p:spPr>
          <a:xfrm>
            <a:off x="548640" y="6446520"/>
            <a:ext cx="9144000" cy="274320"/>
          </a:xfrm>
          <a:prstGeom prst="rect">
            <a:avLst/>
          </a:prstGeom>
          <a:noFill/>
        </p:spPr>
        <p:txBody>
          <a:bodyPr wrap="square" anchor="t">
            <a:spAutoFit/>
          </a:bodyPr>
          <a:lstStyle/>
          <a:p>
            <a:pPr algn="l"/>
            <a:r>
              <a:rPr sz="1000" b="0">
                <a:solidFill>
                  <a:srgbClr val="5A5A5A"/>
                </a:solidFill>
                <a:latin typeface="Arial"/>
              </a:rPr>
              <a:t>Drawing: A New Way To Search — Reproduce &amp; Extend</a:t>
            </a:r>
          </a:p>
        </p:txBody>
      </p:sp>
      <p:sp>
        <p:nvSpPr>
          <p:cNvPr id="9" name="TextBox 8"/>
          <p:cNvSpPr txBox="1"/>
          <p:nvPr/>
        </p:nvSpPr>
        <p:spPr>
          <a:xfrm>
            <a:off x="10698480" y="6446520"/>
            <a:ext cx="914400" cy="274320"/>
          </a:xfrm>
          <a:prstGeom prst="rect">
            <a:avLst/>
          </a:prstGeom>
          <a:noFill/>
        </p:spPr>
        <p:txBody>
          <a:bodyPr wrap="square" anchor="t">
            <a:spAutoFit/>
          </a:bodyPr>
          <a:lstStyle/>
          <a:p>
            <a:pPr algn="r"/>
            <a:r>
              <a:rPr sz="1000" b="0">
                <a:solidFill>
                  <a:srgbClr val="5A5A5A"/>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182880"/>
            <a:ext cx="11064240" cy="960120"/>
          </a:xfrm>
          <a:prstGeom prst="rect">
            <a:avLst/>
          </a:prstGeom>
          <a:noFill/>
        </p:spPr>
        <p:txBody>
          <a:bodyPr wrap="square" anchor="ctr">
            <a:spAutoFit/>
          </a:bodyPr>
          <a:lstStyle/>
          <a:p>
            <a:pPr algn="l"/>
            <a:r>
              <a:rPr sz="2800" b="1">
                <a:solidFill>
                  <a:srgbClr val="1F3A5F"/>
                </a:solidFill>
                <a:latin typeface="Arial"/>
              </a:rPr>
              <a:t>The original team tried four model families, from simple to complex</a:t>
            </a:r>
          </a:p>
        </p:txBody>
      </p:sp>
      <p:graphicFrame>
        <p:nvGraphicFramePr>
          <p:cNvPr id="3" name="Table 2"/>
          <p:cNvGraphicFramePr>
            <a:graphicFrameLocks noGrp="1"/>
          </p:cNvGraphicFramePr>
          <p:nvPr/>
        </p:nvGraphicFramePr>
        <p:xfrm>
          <a:off x="548640" y="1234440"/>
          <a:ext cx="11064240" cy="1645920"/>
        </p:xfrm>
        <a:graphic>
          <a:graphicData uri="http://schemas.openxmlformats.org/drawingml/2006/table">
            <a:tbl>
              <a:tblPr firstRow="1" bandRow="1">
                <a:tableStyleId>{5C22544A-7EE6-4342-B048-85BDC9FD1C3A}</a:tableStyleId>
              </a:tblPr>
              <a:tblGrid>
                <a:gridCol w="1463040"/>
                <a:gridCol w="2103120"/>
                <a:gridCol w="2286000"/>
                <a:gridCol w="2834640"/>
                <a:gridCol w="2377440"/>
              </a:tblGrid>
              <a:tr h="411480">
                <a:tc>
                  <a:txBody>
                    <a:bodyPr wrap="square"/>
                    <a:lstStyle/>
                    <a:p>
                      <a:pPr algn="l"/>
                      <a:r>
                        <a:rPr sz="1800" b="1">
                          <a:solidFill>
                            <a:srgbClr val="FFFFFF"/>
                          </a:solidFill>
                          <a:latin typeface="Arial"/>
                        </a:rPr>
                        <a:t/>
                      </a:r>
                    </a:p>
                  </a:txBody>
                  <a:tcPr marL="73152" marR="73152" marT="36576" marB="36576" anchor="ctr">
                    <a:solidFill>
                      <a:srgbClr val="1F3A5F"/>
                    </a:solidFill>
                  </a:tcPr>
                </a:tc>
                <a:tc>
                  <a:txBody>
                    <a:bodyPr wrap="square"/>
                    <a:lstStyle/>
                    <a:p>
                      <a:pPr algn="l"/>
                      <a:r>
                        <a:rPr sz="1800" b="1">
                          <a:solidFill>
                            <a:srgbClr val="FFFFFF"/>
                          </a:solidFill>
                          <a:latin typeface="Arial"/>
                        </a:rPr>
                        <a:t>Logistic Regression</a:t>
                      </a:r>
                    </a:p>
                  </a:txBody>
                  <a:tcPr marL="73152" marR="73152" marT="36576" marB="36576" anchor="ctr">
                    <a:solidFill>
                      <a:srgbClr val="1F3A5F"/>
                    </a:solidFill>
                  </a:tcPr>
                </a:tc>
                <a:tc>
                  <a:txBody>
                    <a:bodyPr wrap="square"/>
                    <a:lstStyle/>
                    <a:p>
                      <a:pPr algn="l"/>
                      <a:r>
                        <a:rPr sz="1800" b="1">
                          <a:solidFill>
                            <a:srgbClr val="FFFFFF"/>
                          </a:solidFill>
                          <a:latin typeface="Arial"/>
                        </a:rPr>
                        <a:t>SVM</a:t>
                      </a:r>
                    </a:p>
                  </a:txBody>
                  <a:tcPr marL="73152" marR="73152" marT="36576" marB="36576" anchor="ctr">
                    <a:solidFill>
                      <a:srgbClr val="1F3A5F"/>
                    </a:solidFill>
                  </a:tcPr>
                </a:tc>
                <a:tc>
                  <a:txBody>
                    <a:bodyPr wrap="square"/>
                    <a:lstStyle/>
                    <a:p>
                      <a:pPr algn="l"/>
                      <a:r>
                        <a:rPr sz="1800" b="1">
                          <a:solidFill>
                            <a:srgbClr val="FFFFFF"/>
                          </a:solidFill>
                          <a:latin typeface="Arial"/>
                        </a:rPr>
                        <a:t>CNN</a:t>
                      </a:r>
                    </a:p>
                  </a:txBody>
                  <a:tcPr marL="73152" marR="73152" marT="36576" marB="36576" anchor="ctr">
                    <a:solidFill>
                      <a:srgbClr val="1F3A5F"/>
                    </a:solidFill>
                  </a:tcPr>
                </a:tc>
                <a:tc>
                  <a:txBody>
                    <a:bodyPr wrap="square"/>
                    <a:lstStyle/>
                    <a:p>
                      <a:pPr algn="l"/>
                      <a:r>
                        <a:rPr sz="1800" b="1">
                          <a:solidFill>
                            <a:srgbClr val="FFFFFF"/>
                          </a:solidFill>
                          <a:latin typeface="Arial"/>
                        </a:rPr>
                        <a:t>Transfer learning</a:t>
                      </a:r>
                    </a:p>
                  </a:txBody>
                  <a:tcPr marL="73152" marR="73152" marT="36576" marB="36576" anchor="ctr">
                    <a:solidFill>
                      <a:srgbClr val="1F3A5F"/>
                    </a:solidFill>
                  </a:tcPr>
                </a:tc>
              </a:tr>
              <a:tr h="411480">
                <a:tc>
                  <a:txBody>
                    <a:bodyPr wrap="square"/>
                    <a:lstStyle/>
                    <a:p>
                      <a:pPr algn="l"/>
                      <a:r>
                        <a:rPr sz="1800" b="1">
                          <a:solidFill>
                            <a:srgbClr val="1F3A5F"/>
                          </a:solidFill>
                          <a:latin typeface="Arial"/>
                        </a:rPr>
                        <a:t>How it works</a:t>
                      </a:r>
                    </a:p>
                  </a:txBody>
                  <a:tcPr marL="73152" marR="73152" marT="36576" marB="36576" anchor="ctr">
                    <a:solidFill>
                      <a:srgbClr val="FFFFFF"/>
                    </a:solidFill>
                  </a:tcPr>
                </a:tc>
                <a:tc>
                  <a:txBody>
                    <a:bodyPr wrap="square"/>
                    <a:lstStyle/>
                    <a:p>
                      <a:pPr algn="l"/>
                      <a:r>
                        <a:rPr sz="1800" b="0">
                          <a:solidFill>
                            <a:srgbClr val="1A1A1A"/>
                          </a:solidFill>
                          <a:latin typeface="Arial"/>
                        </a:rPr>
                        <a:t>Draws straight-line boundaries between classes on raw pixels</a:t>
                      </a:r>
                    </a:p>
                  </a:txBody>
                  <a:tcPr marL="73152" marR="73152" marT="36576" marB="36576" anchor="ctr">
                    <a:solidFill>
                      <a:srgbClr val="FFFFFF"/>
                    </a:solidFill>
                  </a:tcPr>
                </a:tc>
                <a:tc>
                  <a:txBody>
                    <a:bodyPr wrap="square"/>
                    <a:lstStyle/>
                    <a:p>
                      <a:pPr algn="l"/>
                      <a:r>
                        <a:rPr sz="1800" b="0">
                          <a:solidFill>
                            <a:srgbClr val="1A1A1A"/>
                          </a:solidFill>
                          <a:latin typeface="Arial"/>
                        </a:rPr>
                        <a:t>Finds the widest margin between classes; kernels allow curved boundaries</a:t>
                      </a:r>
                    </a:p>
                  </a:txBody>
                  <a:tcPr marL="73152" marR="73152" marT="36576" marB="36576" anchor="ctr">
                    <a:solidFill>
                      <a:srgbClr val="FFFFFF"/>
                    </a:solidFill>
                  </a:tcPr>
                </a:tc>
                <a:tc>
                  <a:txBody>
                    <a:bodyPr wrap="square"/>
                    <a:lstStyle/>
                    <a:p>
                      <a:pPr algn="l"/>
                      <a:r>
                        <a:rPr sz="1800" b="0">
                          <a:solidFill>
                            <a:srgbClr val="1A1A1A"/>
                          </a:solidFill>
                          <a:latin typeface="Arial"/>
                        </a:rPr>
                        <a:t>Small filters slide over the image to detect strokes and shapes</a:t>
                      </a:r>
                    </a:p>
                  </a:txBody>
                  <a:tcPr marL="73152" marR="73152" marT="36576" marB="36576" anchor="ctr">
                    <a:solidFill>
                      <a:srgbClr val="FFFFFF"/>
                    </a:solidFill>
                  </a:tcPr>
                </a:tc>
                <a:tc>
                  <a:txBody>
                    <a:bodyPr wrap="square"/>
                    <a:lstStyle/>
                    <a:p>
                      <a:pPr algn="l"/>
                      <a:r>
                        <a:rPr sz="1800" b="0">
                          <a:solidFill>
                            <a:srgbClr val="1A1A1A"/>
                          </a:solidFill>
                          <a:latin typeface="Arial"/>
                        </a:rPr>
                        <a:t>Reuses networks pre-trained on 1.2 M photos (ImageNet); trains only a small new head</a:t>
                      </a:r>
                    </a:p>
                  </a:txBody>
                  <a:tcPr marL="73152" marR="73152" marT="36576" marB="36576" anchor="ctr">
                    <a:solidFill>
                      <a:srgbClr val="FFFFFF"/>
                    </a:solidFill>
                  </a:tcPr>
                </a:tc>
              </a:tr>
              <a:tr h="411480">
                <a:tc>
                  <a:txBody>
                    <a:bodyPr wrap="square"/>
                    <a:lstStyle/>
                    <a:p>
                      <a:pPr algn="l"/>
                      <a:r>
                        <a:rPr sz="1800" b="1">
                          <a:solidFill>
                            <a:srgbClr val="1F3A5F"/>
                          </a:solidFill>
                          <a:latin typeface="Arial"/>
                        </a:rPr>
                        <a:t>Why they used it</a:t>
                      </a:r>
                    </a:p>
                  </a:txBody>
                  <a:tcPr marL="73152" marR="73152" marT="36576" marB="36576" anchor="ctr">
                    <a:solidFill>
                      <a:srgbClr val="F2F4F7"/>
                    </a:solidFill>
                  </a:tcPr>
                </a:tc>
                <a:tc>
                  <a:txBody>
                    <a:bodyPr wrap="square"/>
                    <a:lstStyle/>
                    <a:p>
                      <a:pPr algn="l"/>
                      <a:r>
                        <a:rPr sz="1800" b="0">
                          <a:solidFill>
                            <a:srgbClr val="1A1A1A"/>
                          </a:solidFill>
                          <a:latin typeface="Arial"/>
                        </a:rPr>
                        <a:t>Fast baseline</a:t>
                      </a:r>
                    </a:p>
                  </a:txBody>
                  <a:tcPr marL="73152" marR="73152" marT="36576" marB="36576" anchor="ctr">
                    <a:solidFill>
                      <a:srgbClr val="F2F4F7"/>
                    </a:solidFill>
                  </a:tcPr>
                </a:tc>
                <a:tc>
                  <a:txBody>
                    <a:bodyPr wrap="square"/>
                    <a:lstStyle/>
                    <a:p>
                      <a:pPr algn="l"/>
                      <a:r>
                        <a:rPr sz="1800" b="0">
                          <a:solidFill>
                            <a:srgbClr val="1A1A1A"/>
                          </a:solidFill>
                          <a:latin typeface="Arial"/>
                        </a:rPr>
                        <a:t>Tests if non-linear boundaries help</a:t>
                      </a:r>
                    </a:p>
                  </a:txBody>
                  <a:tcPr marL="73152" marR="73152" marT="36576" marB="36576" anchor="ctr">
                    <a:solidFill>
                      <a:srgbClr val="F2F4F7"/>
                    </a:solidFill>
                  </a:tcPr>
                </a:tc>
                <a:tc>
                  <a:txBody>
                    <a:bodyPr wrap="square"/>
                    <a:lstStyle/>
                    <a:p>
                      <a:pPr algn="l"/>
                      <a:r>
                        <a:rPr sz="1800" b="0">
                          <a:solidFill>
                            <a:srgbClr val="1A1A1A"/>
                          </a:solidFill>
                          <a:latin typeface="Arial"/>
                        </a:rPr>
                        <a:t>Learns spatial patterns</a:t>
                      </a:r>
                    </a:p>
                  </a:txBody>
                  <a:tcPr marL="73152" marR="73152" marT="36576" marB="36576" anchor="ctr">
                    <a:solidFill>
                      <a:srgbClr val="F2F4F7"/>
                    </a:solidFill>
                  </a:tcPr>
                </a:tc>
                <a:tc>
                  <a:txBody>
                    <a:bodyPr wrap="square"/>
                    <a:lstStyle/>
                    <a:p>
                      <a:pPr algn="l"/>
                      <a:r>
                        <a:rPr sz="1800" b="0">
                          <a:solidFill>
                            <a:srgbClr val="1A1A1A"/>
                          </a:solidFill>
                          <a:latin typeface="Arial"/>
                        </a:rPr>
                        <a:t>Tests if photo knowledge helps doodles</a:t>
                      </a:r>
                    </a:p>
                  </a:txBody>
                  <a:tcPr marL="73152" marR="73152" marT="36576" marB="36576" anchor="ctr">
                    <a:solidFill>
                      <a:srgbClr val="F2F4F7"/>
                    </a:solidFill>
                  </a:tcPr>
                </a:tc>
              </a:tr>
              <a:tr h="411480">
                <a:tc>
                  <a:txBody>
                    <a:bodyPr wrap="square"/>
                    <a:lstStyle/>
                    <a:p>
                      <a:pPr algn="l"/>
                      <a:r>
                        <a:rPr sz="1800" b="1">
                          <a:solidFill>
                            <a:srgbClr val="1F3A5F"/>
                          </a:solidFill>
                          <a:latin typeface="Arial"/>
                        </a:rPr>
                        <a:t>Key settings</a:t>
                      </a:r>
                    </a:p>
                  </a:txBody>
                  <a:tcPr marL="73152" marR="73152" marT="36576" marB="36576" anchor="ctr">
                    <a:solidFill>
                      <a:srgbClr val="FFFFFF"/>
                    </a:solidFill>
                  </a:tcPr>
                </a:tc>
                <a:tc>
                  <a:txBody>
                    <a:bodyPr wrap="square"/>
                    <a:lstStyle/>
                    <a:p>
                      <a:pPr algn="l"/>
                      <a:r>
                        <a:rPr sz="1800" b="0">
                          <a:solidFill>
                            <a:srgbClr val="1A1A1A"/>
                          </a:solidFill>
                          <a:latin typeface="Arial"/>
                        </a:rPr>
                        <a:t>100 iterations</a:t>
                      </a:r>
                    </a:p>
                  </a:txBody>
                  <a:tcPr marL="73152" marR="73152" marT="36576" marB="36576" anchor="ctr">
                    <a:solidFill>
                      <a:srgbClr val="FFFFFF"/>
                    </a:solidFill>
                  </a:tcPr>
                </a:tc>
                <a:tc>
                  <a:txBody>
                    <a:bodyPr wrap="square"/>
                    <a:lstStyle/>
                    <a:p>
                      <a:pPr algn="l"/>
                      <a:r>
                        <a:rPr sz="1800" b="0">
                          <a:solidFill>
                            <a:srgbClr val="1A1A1A"/>
                          </a:solidFill>
                          <a:latin typeface="Arial"/>
                        </a:rPr>
                        <a:t>4 kernels, 500 iterations; 3 and 10 classes only</a:t>
                      </a:r>
                    </a:p>
                  </a:txBody>
                  <a:tcPr marL="73152" marR="73152" marT="36576" marB="36576" anchor="ctr">
                    <a:solidFill>
                      <a:srgbClr val="FFFFFF"/>
                    </a:solidFill>
                  </a:tcPr>
                </a:tc>
                <a:tc>
                  <a:txBody>
                    <a:bodyPr wrap="square"/>
                    <a:lstStyle/>
                    <a:p>
                      <a:pPr algn="l"/>
                      <a:r>
                        <a:rPr sz="1800" b="0">
                          <a:solidFill>
                            <a:srgbClr val="1A1A1A"/>
                          </a:solidFill>
                          <a:latin typeface="Arial"/>
                        </a:rPr>
                        <a:t>V1 = 2 conv + 2 pooling layers; V2–V4 = simpler versions; 100 epochs; raw and black/white input</a:t>
                      </a:r>
                    </a:p>
                  </a:txBody>
                  <a:tcPr marL="73152" marR="73152" marT="36576" marB="36576" anchor="ctr">
                    <a:solidFill>
                      <a:srgbClr val="FFFFFF"/>
                    </a:solidFill>
                  </a:tcPr>
                </a:tc>
                <a:tc>
                  <a:txBody>
                    <a:bodyPr wrap="square"/>
                    <a:lstStyle/>
                    <a:p>
                      <a:pPr algn="l"/>
                      <a:r>
                        <a:rPr sz="1800" b="0">
                          <a:solidFill>
                            <a:srgbClr val="1A1A1A"/>
                          </a:solidFill>
                          <a:latin typeface="Arial"/>
                        </a:rPr>
                        <a:t>VGG19, InceptionV3, ResNet50, MobileNet; 3 classes</a:t>
                      </a:r>
                    </a:p>
                  </a:txBody>
                  <a:tcPr marL="73152" marR="73152" marT="36576" marB="36576" anchor="ctr">
                    <a:solidFill>
                      <a:srgbClr val="FFFFFF"/>
                    </a:solidFill>
                  </a:tcPr>
                </a:tc>
              </a:tr>
            </a:tbl>
          </a:graphicData>
        </a:graphic>
      </p:graphicFrame>
      <p:sp>
        <p:nvSpPr>
          <p:cNvPr id="4" name="TextBox 3"/>
          <p:cNvSpPr txBox="1"/>
          <p:nvPr/>
        </p:nvSpPr>
        <p:spPr>
          <a:xfrm>
            <a:off x="548640" y="5440680"/>
            <a:ext cx="10972800" cy="411480"/>
          </a:xfrm>
          <a:prstGeom prst="rect">
            <a:avLst/>
          </a:prstGeom>
          <a:noFill/>
        </p:spPr>
        <p:txBody>
          <a:bodyPr wrap="square" anchor="t">
            <a:spAutoFit/>
          </a:bodyPr>
          <a:lstStyle/>
          <a:p>
            <a:pPr algn="l"/>
            <a:r>
              <a:rPr sz="1800" b="0">
                <a:solidFill>
                  <a:srgbClr val="5A5A5A"/>
                </a:solidFill>
                <a:latin typeface="Arial"/>
              </a:rPr>
              <a:t>Measured: validation accuracy and training time.</a:t>
            </a:r>
          </a:p>
        </p:txBody>
      </p:sp>
      <p:sp>
        <p:nvSpPr>
          <p:cNvPr id="5" name="TextBox 4"/>
          <p:cNvSpPr txBox="1"/>
          <p:nvPr/>
        </p:nvSpPr>
        <p:spPr>
          <a:xfrm>
            <a:off x="548640" y="5870448"/>
            <a:ext cx="11064240" cy="457200"/>
          </a:xfrm>
          <a:prstGeom prst="rect">
            <a:avLst/>
          </a:prstGeom>
          <a:noFill/>
        </p:spPr>
        <p:txBody>
          <a:bodyPr wrap="square">
            <a:spAutoFit/>
          </a:bodyPr>
          <a:lstStyle/>
          <a:p>
            <a:r>
              <a:rPr sz="1800" b="1">
                <a:solidFill>
                  <a:srgbClr val="1F3A5F"/>
                </a:solidFill>
                <a:latin typeface="Arial"/>
              </a:rPr>
              <a:t>Takeaway: does a more complex model really help on simple drawings?</a:t>
            </a:r>
          </a:p>
        </p:txBody>
      </p:sp>
      <p:sp>
        <p:nvSpPr>
          <p:cNvPr id="6" name="TextBox 5"/>
          <p:cNvSpPr txBox="1"/>
          <p:nvPr/>
        </p:nvSpPr>
        <p:spPr>
          <a:xfrm>
            <a:off x="548640" y="6446520"/>
            <a:ext cx="9144000" cy="274320"/>
          </a:xfrm>
          <a:prstGeom prst="rect">
            <a:avLst/>
          </a:prstGeom>
          <a:noFill/>
        </p:spPr>
        <p:txBody>
          <a:bodyPr wrap="square" anchor="t">
            <a:spAutoFit/>
          </a:bodyPr>
          <a:lstStyle/>
          <a:p>
            <a:pPr algn="l"/>
            <a:r>
              <a:rPr sz="1000" b="0">
                <a:solidFill>
                  <a:srgbClr val="5A5A5A"/>
                </a:solidFill>
                <a:latin typeface="Arial"/>
              </a:rPr>
              <a:t>Drawing: A New Way To Search — Reproduce &amp; Extend</a:t>
            </a:r>
          </a:p>
        </p:txBody>
      </p:sp>
      <p:sp>
        <p:nvSpPr>
          <p:cNvPr id="7" name="TextBox 6"/>
          <p:cNvSpPr txBox="1"/>
          <p:nvPr/>
        </p:nvSpPr>
        <p:spPr>
          <a:xfrm>
            <a:off x="10698480" y="6446520"/>
            <a:ext cx="914400" cy="274320"/>
          </a:xfrm>
          <a:prstGeom prst="rect">
            <a:avLst/>
          </a:prstGeom>
          <a:noFill/>
        </p:spPr>
        <p:txBody>
          <a:bodyPr wrap="square" anchor="t">
            <a:spAutoFit/>
          </a:bodyPr>
          <a:lstStyle/>
          <a:p>
            <a:pPr algn="r"/>
            <a:r>
              <a:rPr sz="1000" b="0">
                <a:solidFill>
                  <a:srgbClr val="5A5A5A"/>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182880"/>
            <a:ext cx="11064240" cy="960120"/>
          </a:xfrm>
          <a:prstGeom prst="rect">
            <a:avLst/>
          </a:prstGeom>
          <a:noFill/>
        </p:spPr>
        <p:txBody>
          <a:bodyPr wrap="square" anchor="ctr">
            <a:spAutoFit/>
          </a:bodyPr>
          <a:lstStyle/>
          <a:p>
            <a:pPr algn="l"/>
            <a:r>
              <a:rPr sz="2800" b="1">
                <a:solidFill>
                  <a:srgbClr val="1F3A5F"/>
                </a:solidFill>
                <a:latin typeface="Arial"/>
              </a:rPr>
              <a:t>We rebuilt their exact pipeline</a:t>
            </a:r>
          </a:p>
        </p:txBody>
      </p:sp>
      <p:sp>
        <p:nvSpPr>
          <p:cNvPr id="3" name="Rectangle 2"/>
          <p:cNvSpPr/>
          <p:nvPr/>
        </p:nvSpPr>
        <p:spPr>
          <a:xfrm>
            <a:off x="548640" y="1234440"/>
            <a:ext cx="1965960" cy="1600200"/>
          </a:xfrm>
          <a:prstGeom prst="rect">
            <a:avLst/>
          </a:prstGeom>
          <a:solidFill>
            <a:srgbClr val="FFFFF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800" b="1">
                <a:solidFill>
                  <a:srgbClr val="1F3A5F"/>
                </a:solidFill>
                <a:latin typeface="Arial"/>
              </a:rPr>
              <a:t>QuickDraw</a:t>
            </a:r>
          </a:p>
          <a:p>
            <a:pPr algn="ctr"/>
            <a:r>
              <a:rPr sz="1800" b="0">
                <a:solidFill>
                  <a:srgbClr val="1A1A1A"/>
                </a:solidFill>
                <a:latin typeface="Arial"/>
              </a:rPr>
              <a:t>20,000 per class</a:t>
            </a:r>
          </a:p>
        </p:txBody>
      </p:sp>
      <p:sp>
        <p:nvSpPr>
          <p:cNvPr id="4" name="Rectangle 3"/>
          <p:cNvSpPr/>
          <p:nvPr/>
        </p:nvSpPr>
        <p:spPr>
          <a:xfrm>
            <a:off x="2816352" y="1234440"/>
            <a:ext cx="1965960" cy="1600200"/>
          </a:xfrm>
          <a:prstGeom prst="rect">
            <a:avLst/>
          </a:prstGeom>
          <a:solidFill>
            <a:srgbClr val="FFFFF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800" b="1">
                <a:solidFill>
                  <a:srgbClr val="1F3A5F"/>
                </a:solidFill>
                <a:latin typeface="Arial"/>
              </a:rPr>
              <a:t>One fixed split</a:t>
            </a:r>
          </a:p>
          <a:p>
            <a:pPr algn="ctr"/>
            <a:r>
              <a:rPr sz="1800" b="0">
                <a:solidFill>
                  <a:srgbClr val="1A1A1A"/>
                </a:solidFill>
                <a:latin typeface="Arial"/>
              </a:rPr>
              <a:t>16k / 2k / 2k,</a:t>
            </a:r>
          </a:p>
          <a:p>
            <a:pPr algn="ctr"/>
            <a:r>
              <a:rPr sz="1800" b="0">
                <a:solidFill>
                  <a:srgbClr val="1A1A1A"/>
                </a:solidFill>
                <a:latin typeface="Arial"/>
              </a:rPr>
              <a:t>shared by every model</a:t>
            </a:r>
          </a:p>
        </p:txBody>
      </p:sp>
      <p:cxnSp>
        <p:nvCxnSpPr>
          <p:cNvPr id="5" name="Connector 4"/>
          <p:cNvCxnSpPr/>
          <p:nvPr/>
        </p:nvCxnSpPr>
        <p:spPr>
          <a:xfrm>
            <a:off x="2542032" y="2034540"/>
            <a:ext cx="246888" cy="0"/>
          </a:xfrm>
          <a:prstGeom prst="line">
            <a:avLst/>
          </a:prstGeom>
          <a:ln w="22225">
            <a:solidFill>
              <a:srgbClr val="1F3A5F"/>
            </a:solidFill>
            <a:tailEnd type="triangle"/>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084064" y="1234440"/>
            <a:ext cx="1965960" cy="1600200"/>
          </a:xfrm>
          <a:prstGeom prst="rect">
            <a:avLst/>
          </a:prstGeom>
          <a:solidFill>
            <a:srgbClr val="FFFFF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800" b="1">
                <a:solidFill>
                  <a:srgbClr val="1F3A5F"/>
                </a:solidFill>
                <a:latin typeface="Arial"/>
              </a:rPr>
              <a:t>Same preprocessing</a:t>
            </a:r>
          </a:p>
          <a:p>
            <a:pPr algn="ctr"/>
            <a:r>
              <a:rPr sz="1800" b="0">
                <a:solidFill>
                  <a:srgbClr val="1A1A1A"/>
                </a:solidFill>
                <a:latin typeface="Arial"/>
              </a:rPr>
              <a:t>raw / black-white /</a:t>
            </a:r>
          </a:p>
          <a:p>
            <a:pPr algn="ctr"/>
            <a:r>
              <a:rPr sz="1800" b="0">
                <a:solidFill>
                  <a:srgbClr val="1A1A1A"/>
                </a:solidFill>
                <a:latin typeface="Arial"/>
              </a:rPr>
              <a:t>scaled [−1, 1] / resized</a:t>
            </a:r>
          </a:p>
        </p:txBody>
      </p:sp>
      <p:cxnSp>
        <p:nvCxnSpPr>
          <p:cNvPr id="7" name="Connector 6"/>
          <p:cNvCxnSpPr/>
          <p:nvPr/>
        </p:nvCxnSpPr>
        <p:spPr>
          <a:xfrm>
            <a:off x="4809744" y="2034540"/>
            <a:ext cx="246887" cy="0"/>
          </a:xfrm>
          <a:prstGeom prst="line">
            <a:avLst/>
          </a:prstGeom>
          <a:ln w="22225">
            <a:solidFill>
              <a:srgbClr val="1F3A5F"/>
            </a:solidFill>
            <a:tailEnd type="triangle"/>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7351775" y="1234440"/>
            <a:ext cx="1965960" cy="1600200"/>
          </a:xfrm>
          <a:prstGeom prst="rect">
            <a:avLst/>
          </a:prstGeom>
          <a:solidFill>
            <a:srgbClr val="FFFFF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800" b="1">
                <a:solidFill>
                  <a:srgbClr val="1F3A5F"/>
                </a:solidFill>
                <a:latin typeface="Arial"/>
              </a:rPr>
              <a:t>Same models</a:t>
            </a:r>
          </a:p>
          <a:p>
            <a:pPr algn="ctr"/>
            <a:r>
              <a:rPr sz="1800" b="0">
                <a:solidFill>
                  <a:srgbClr val="1A1A1A"/>
                </a:solidFill>
                <a:latin typeface="Arial"/>
              </a:rPr>
              <a:t>and settings</a:t>
            </a:r>
          </a:p>
        </p:txBody>
      </p:sp>
      <p:cxnSp>
        <p:nvCxnSpPr>
          <p:cNvPr id="9" name="Connector 8"/>
          <p:cNvCxnSpPr/>
          <p:nvPr/>
        </p:nvCxnSpPr>
        <p:spPr>
          <a:xfrm>
            <a:off x="7077455" y="2034540"/>
            <a:ext cx="246889" cy="0"/>
          </a:xfrm>
          <a:prstGeom prst="line">
            <a:avLst/>
          </a:prstGeom>
          <a:ln w="22225">
            <a:solidFill>
              <a:srgbClr val="1F3A5F"/>
            </a:solidFill>
            <a:tailEnd type="triangle"/>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9619488" y="1234440"/>
            <a:ext cx="1965960" cy="1600200"/>
          </a:xfrm>
          <a:prstGeom prst="rect">
            <a:avLst/>
          </a:prstGeom>
          <a:solidFill>
            <a:srgbClr val="FFFFF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800" b="1">
                <a:solidFill>
                  <a:srgbClr val="1F3A5F"/>
                </a:solidFill>
                <a:latin typeface="Arial"/>
              </a:rPr>
              <a:t>Measure</a:t>
            </a:r>
          </a:p>
          <a:p>
            <a:pPr algn="ctr"/>
            <a:r>
              <a:rPr sz="1800" b="0">
                <a:solidFill>
                  <a:srgbClr val="1A1A1A"/>
                </a:solidFill>
                <a:latin typeface="Arial"/>
              </a:rPr>
              <a:t>validation accuracy</a:t>
            </a:r>
          </a:p>
          <a:p>
            <a:pPr algn="ctr"/>
            <a:r>
              <a:rPr sz="1800" b="0">
                <a:solidFill>
                  <a:srgbClr val="1A1A1A"/>
                </a:solidFill>
                <a:latin typeface="Arial"/>
              </a:rPr>
              <a:t>+ training time</a:t>
            </a:r>
          </a:p>
        </p:txBody>
      </p:sp>
      <p:cxnSp>
        <p:nvCxnSpPr>
          <p:cNvPr id="11" name="Connector 10"/>
          <p:cNvCxnSpPr/>
          <p:nvPr/>
        </p:nvCxnSpPr>
        <p:spPr>
          <a:xfrm>
            <a:off x="9345167" y="2034540"/>
            <a:ext cx="246889" cy="0"/>
          </a:xfrm>
          <a:prstGeom prst="line">
            <a:avLst/>
          </a:prstGeom>
          <a:ln w="22225">
            <a:solidFill>
              <a:srgbClr val="1F3A5F"/>
            </a:solidFill>
            <a:tailEnd type="triangle"/>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48640" y="3108960"/>
            <a:ext cx="10972800" cy="411480"/>
          </a:xfrm>
          <a:prstGeom prst="rect">
            <a:avLst/>
          </a:prstGeom>
          <a:noFill/>
        </p:spPr>
        <p:txBody>
          <a:bodyPr wrap="square" anchor="t">
            <a:spAutoFit/>
          </a:bodyPr>
          <a:lstStyle/>
          <a:p>
            <a:pPr algn="l"/>
            <a:r>
              <a:rPr sz="1800" b="1">
                <a:solidFill>
                  <a:srgbClr val="1F3A5F"/>
                </a:solidFill>
                <a:latin typeface="Arial"/>
              </a:rPr>
              <a:t>What differed</a:t>
            </a:r>
          </a:p>
        </p:txBody>
      </p:sp>
      <p:sp>
        <p:nvSpPr>
          <p:cNvPr id="13" name="TextBox 12"/>
          <p:cNvSpPr txBox="1"/>
          <p:nvPr/>
        </p:nvSpPr>
        <p:spPr>
          <a:xfrm>
            <a:off x="548640" y="3566160"/>
            <a:ext cx="11064240" cy="2194560"/>
          </a:xfrm>
          <a:prstGeom prst="rect">
            <a:avLst/>
          </a:prstGeom>
          <a:noFill/>
        </p:spPr>
        <p:txBody>
          <a:bodyPr wrap="square">
            <a:spAutoFit/>
          </a:bodyPr>
          <a:lstStyle/>
          <a:p>
            <a:pPr marL="274320" indent="-274320">
              <a:spcAft>
                <a:spcPts val="800"/>
              </a:spcAft>
              <a:buChar char="•"/>
            </a:pPr>
            <a:r>
              <a:rPr sz="1800" b="0">
                <a:solidFill>
                  <a:srgbClr val="1A1A1A"/>
                </a:solidFill>
                <a:latin typeface="Arial"/>
              </a:rPr>
              <a:t>Newer hardware (RTX 4070 laptop GPU) and newer library versions</a:t>
            </a:r>
          </a:p>
          <a:p>
            <a:pPr marL="274320" indent="-274320">
              <a:spcAft>
                <a:spcPts val="800"/>
              </a:spcAft>
              <a:buChar char="•"/>
            </a:pPr>
            <a:r>
              <a:rPr sz="1800" b="0">
                <a:solidFill>
                  <a:srgbClr val="1A1A1A"/>
                </a:solidFill>
                <a:latin typeface="Arial"/>
              </a:rPr>
              <a:t>Transfer learning: frozen-network features computed once, identical result</a:t>
            </a:r>
          </a:p>
          <a:p>
            <a:pPr marL="274320" indent="-274320">
              <a:spcAft>
                <a:spcPts val="800"/>
              </a:spcAft>
              <a:buChar char="•"/>
            </a:pPr>
            <a:r>
              <a:rPr sz="1800" b="0">
                <a:solidFill>
                  <a:srgbClr val="1A1A1A"/>
                </a:solidFill>
                <a:latin typeface="Arial"/>
              </a:rPr>
              <a:t>30.9 min instead of about 15.7 h with their method</a:t>
            </a:r>
          </a:p>
          <a:p>
            <a:pPr marL="274320" indent="-274320">
              <a:spcAft>
                <a:spcPts val="800"/>
              </a:spcAft>
              <a:buChar char="•"/>
            </a:pPr>
            <a:r>
              <a:rPr sz="1800" b="0">
                <a:solidFill>
                  <a:srgbClr val="1A1A1A"/>
                </a:solidFill>
                <a:latin typeface="Arial"/>
              </a:rPr>
              <a:t>We read the authors' original code to explain any gaps</a:t>
            </a:r>
          </a:p>
        </p:txBody>
      </p:sp>
      <p:sp>
        <p:nvSpPr>
          <p:cNvPr id="14" name="TextBox 13"/>
          <p:cNvSpPr txBox="1"/>
          <p:nvPr/>
        </p:nvSpPr>
        <p:spPr>
          <a:xfrm>
            <a:off x="548640" y="5870448"/>
            <a:ext cx="11064240" cy="457200"/>
          </a:xfrm>
          <a:prstGeom prst="rect">
            <a:avLst/>
          </a:prstGeom>
          <a:noFill/>
        </p:spPr>
        <p:txBody>
          <a:bodyPr wrap="square">
            <a:spAutoFit/>
          </a:bodyPr>
          <a:lstStyle/>
          <a:p>
            <a:r>
              <a:rPr sz="1800" b="1">
                <a:solidFill>
                  <a:srgbClr val="1F3A5F"/>
                </a:solidFill>
                <a:latin typeface="Arial"/>
              </a:rPr>
              <a:t>Takeaway: same experiment, so any difference must have a cause.</a:t>
            </a:r>
          </a:p>
        </p:txBody>
      </p:sp>
      <p:sp>
        <p:nvSpPr>
          <p:cNvPr id="15" name="TextBox 14"/>
          <p:cNvSpPr txBox="1"/>
          <p:nvPr/>
        </p:nvSpPr>
        <p:spPr>
          <a:xfrm>
            <a:off x="548640" y="6446520"/>
            <a:ext cx="9144000" cy="274320"/>
          </a:xfrm>
          <a:prstGeom prst="rect">
            <a:avLst/>
          </a:prstGeom>
          <a:noFill/>
        </p:spPr>
        <p:txBody>
          <a:bodyPr wrap="square" anchor="t">
            <a:spAutoFit/>
          </a:bodyPr>
          <a:lstStyle/>
          <a:p>
            <a:pPr algn="l"/>
            <a:r>
              <a:rPr sz="1000" b="0">
                <a:solidFill>
                  <a:srgbClr val="5A5A5A"/>
                </a:solidFill>
                <a:latin typeface="Arial"/>
              </a:rPr>
              <a:t>Drawing: A New Way To Search — Reproduce &amp; Extend</a:t>
            </a:r>
          </a:p>
        </p:txBody>
      </p:sp>
      <p:sp>
        <p:nvSpPr>
          <p:cNvPr id="16" name="TextBox 15"/>
          <p:cNvSpPr txBox="1"/>
          <p:nvPr/>
        </p:nvSpPr>
        <p:spPr>
          <a:xfrm>
            <a:off x="10698480" y="6446520"/>
            <a:ext cx="914400" cy="274320"/>
          </a:xfrm>
          <a:prstGeom prst="rect">
            <a:avLst/>
          </a:prstGeom>
          <a:noFill/>
        </p:spPr>
        <p:txBody>
          <a:bodyPr wrap="square" anchor="t">
            <a:spAutoFit/>
          </a:bodyPr>
          <a:lstStyle/>
          <a:p>
            <a:pPr algn="r"/>
            <a:r>
              <a:rPr sz="1000" b="0">
                <a:solidFill>
                  <a:srgbClr val="5A5A5A"/>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182880"/>
            <a:ext cx="11064240" cy="960120"/>
          </a:xfrm>
          <a:prstGeom prst="rect">
            <a:avLst/>
          </a:prstGeom>
          <a:noFill/>
        </p:spPr>
        <p:txBody>
          <a:bodyPr wrap="square" anchor="ctr">
            <a:spAutoFit/>
          </a:bodyPr>
          <a:lstStyle/>
          <a:p>
            <a:pPr algn="l"/>
            <a:r>
              <a:rPr sz="2800" b="1">
                <a:solidFill>
                  <a:srgbClr val="1F3A5F"/>
                </a:solidFill>
                <a:latin typeface="Arial"/>
              </a:rPr>
              <a:t>Most results reproduce; three don't</a:t>
            </a:r>
          </a:p>
        </p:txBody>
      </p:sp>
      <p:graphicFrame>
        <p:nvGraphicFramePr>
          <p:cNvPr id="3" name="Table 2"/>
          <p:cNvGraphicFramePr>
            <a:graphicFrameLocks noGrp="1"/>
          </p:cNvGraphicFramePr>
          <p:nvPr/>
        </p:nvGraphicFramePr>
        <p:xfrm>
          <a:off x="548640" y="1188720"/>
          <a:ext cx="11064240" cy="3840480"/>
        </p:xfrm>
        <a:graphic>
          <a:graphicData uri="http://schemas.openxmlformats.org/drawingml/2006/table">
            <a:tbl>
              <a:tblPr firstRow="1" bandRow="1">
                <a:tableStyleId>{5C22544A-7EE6-4342-B048-85BDC9FD1C3A}</a:tableStyleId>
              </a:tblPr>
              <a:tblGrid>
                <a:gridCol w="3931920"/>
                <a:gridCol w="1920240"/>
                <a:gridCol w="1920240"/>
                <a:gridCol w="3291840"/>
              </a:tblGrid>
              <a:tr h="548640">
                <a:tc>
                  <a:txBody>
                    <a:bodyPr wrap="square"/>
                    <a:lstStyle/>
                    <a:p>
                      <a:pPr algn="l"/>
                      <a:r>
                        <a:rPr sz="1800" b="1">
                          <a:solidFill>
                            <a:srgbClr val="FFFFFF"/>
                          </a:solidFill>
                          <a:latin typeface="Arial"/>
                        </a:rPr>
                        <a:t>Model (classes)</a:t>
                      </a:r>
                    </a:p>
                  </a:txBody>
                  <a:tcPr marL="73152" marR="73152" marT="36576" marB="36576" anchor="ctr">
                    <a:solidFill>
                      <a:srgbClr val="1F3A5F"/>
                    </a:solidFill>
                  </a:tcPr>
                </a:tc>
                <a:tc>
                  <a:txBody>
                    <a:bodyPr wrap="square"/>
                    <a:lstStyle/>
                    <a:p>
                      <a:pPr algn="ctr"/>
                      <a:r>
                        <a:rPr sz="1800" b="1">
                          <a:solidFill>
                            <a:srgbClr val="FFFFFF"/>
                          </a:solidFill>
                          <a:latin typeface="Arial"/>
                        </a:rPr>
                        <a:t>Reported</a:t>
                      </a:r>
                    </a:p>
                  </a:txBody>
                  <a:tcPr marL="73152" marR="73152" marT="36576" marB="36576" anchor="ctr">
                    <a:solidFill>
                      <a:srgbClr val="1F3A5F"/>
                    </a:solidFill>
                  </a:tcPr>
                </a:tc>
                <a:tc>
                  <a:txBody>
                    <a:bodyPr wrap="square"/>
                    <a:lstStyle/>
                    <a:p>
                      <a:pPr algn="ctr"/>
                      <a:r>
                        <a:rPr sz="1800" b="1">
                          <a:solidFill>
                            <a:srgbClr val="FFFFFF"/>
                          </a:solidFill>
                          <a:latin typeface="Arial"/>
                        </a:rPr>
                        <a:t>Ours</a:t>
                      </a:r>
                    </a:p>
                  </a:txBody>
                  <a:tcPr marL="73152" marR="73152" marT="36576" marB="36576" anchor="ctr">
                    <a:solidFill>
                      <a:srgbClr val="1F3A5F"/>
                    </a:solidFill>
                  </a:tcPr>
                </a:tc>
                <a:tc>
                  <a:txBody>
                    <a:bodyPr wrap="square"/>
                    <a:lstStyle/>
                    <a:p>
                      <a:pPr algn="ctr"/>
                      <a:r>
                        <a:rPr sz="1800" b="1">
                          <a:solidFill>
                            <a:srgbClr val="FFFFFF"/>
                          </a:solidFill>
                          <a:latin typeface="Arial"/>
                        </a:rPr>
                        <a:t>Status</a:t>
                      </a:r>
                    </a:p>
                  </a:txBody>
                  <a:tcPr marL="73152" marR="73152" marT="36576" marB="36576" anchor="ctr">
                    <a:solidFill>
                      <a:srgbClr val="1F3A5F"/>
                    </a:solidFill>
                  </a:tcPr>
                </a:tc>
              </a:tr>
              <a:tr h="548640">
                <a:tc>
                  <a:txBody>
                    <a:bodyPr wrap="square"/>
                    <a:lstStyle/>
                    <a:p>
                      <a:pPr algn="l"/>
                      <a:r>
                        <a:rPr sz="1800" b="0">
                          <a:solidFill>
                            <a:srgbClr val="1A1A1A"/>
                          </a:solidFill>
                          <a:latin typeface="Arial"/>
                        </a:rPr>
                        <a:t>Logistic Regression (3 / 10 / 50)</a:t>
                      </a:r>
                    </a:p>
                  </a:txBody>
                  <a:tcPr marL="73152" marR="73152" marT="36576" marB="36576" anchor="ctr">
                    <a:solidFill>
                      <a:srgbClr val="FFFFFF"/>
                    </a:solidFill>
                  </a:tcPr>
                </a:tc>
                <a:tc>
                  <a:txBody>
                    <a:bodyPr wrap="square"/>
                    <a:lstStyle/>
                    <a:p>
                      <a:pPr algn="ctr"/>
                      <a:r>
                        <a:rPr sz="1800" b="0">
                          <a:solidFill>
                            <a:srgbClr val="1A1A1A"/>
                          </a:solidFill>
                          <a:latin typeface="Arial"/>
                        </a:rPr>
                        <a:t>79.5 / 64.6 / 43.9</a:t>
                      </a:r>
                    </a:p>
                  </a:txBody>
                  <a:tcPr marL="73152" marR="73152" marT="36576" marB="36576" anchor="ctr">
                    <a:solidFill>
                      <a:srgbClr val="FFFFFF"/>
                    </a:solidFill>
                  </a:tcPr>
                </a:tc>
                <a:tc>
                  <a:txBody>
                    <a:bodyPr wrap="square"/>
                    <a:lstStyle/>
                    <a:p>
                      <a:pPr algn="ctr"/>
                      <a:r>
                        <a:rPr sz="1800" b="0">
                          <a:solidFill>
                            <a:srgbClr val="1A1A1A"/>
                          </a:solidFill>
                          <a:latin typeface="Arial"/>
                        </a:rPr>
                        <a:t>79.3 / 65.8 / 43.3</a:t>
                      </a:r>
                    </a:p>
                  </a:txBody>
                  <a:tcPr marL="73152" marR="73152" marT="36576" marB="36576" anchor="ctr">
                    <a:solidFill>
                      <a:srgbClr val="FFFFFF"/>
                    </a:solidFill>
                  </a:tcPr>
                </a:tc>
                <a:tc>
                  <a:txBody>
                    <a:bodyPr wrap="square"/>
                    <a:lstStyle/>
                    <a:p>
                      <a:pPr algn="ctr"/>
                      <a:r>
                        <a:rPr sz="1800" b="1">
                          <a:solidFill>
                            <a:srgbClr val="1E8E3E"/>
                          </a:solidFill>
                          <a:latin typeface="Arial"/>
                        </a:rPr>
                        <a:t>Matches: within 1.2 points</a:t>
                      </a:r>
                    </a:p>
                  </a:txBody>
                  <a:tcPr marL="73152" marR="73152" marT="36576" marB="36576" anchor="ctr">
                    <a:solidFill>
                      <a:srgbClr val="FFFFFF"/>
                    </a:solidFill>
                  </a:tcPr>
                </a:tc>
              </a:tr>
              <a:tr h="548640">
                <a:tc>
                  <a:txBody>
                    <a:bodyPr wrap="square"/>
                    <a:lstStyle/>
                    <a:p>
                      <a:pPr algn="l"/>
                      <a:r>
                        <a:rPr sz="1800" b="0">
                          <a:solidFill>
                            <a:srgbClr val="1A1A1A"/>
                          </a:solidFill>
                          <a:latin typeface="Arial"/>
                        </a:rPr>
                        <a:t>CNN V1 (50)</a:t>
                      </a:r>
                    </a:p>
                  </a:txBody>
                  <a:tcPr marL="73152" marR="73152" marT="36576" marB="36576" anchor="ctr">
                    <a:solidFill>
                      <a:srgbClr val="F2F4F7"/>
                    </a:solidFill>
                  </a:tcPr>
                </a:tc>
                <a:tc>
                  <a:txBody>
                    <a:bodyPr wrap="square"/>
                    <a:lstStyle/>
                    <a:p>
                      <a:pPr algn="ctr"/>
                      <a:r>
                        <a:rPr sz="1800" b="0">
                          <a:solidFill>
                            <a:srgbClr val="1A1A1A"/>
                          </a:solidFill>
                          <a:latin typeface="Arial"/>
                        </a:rPr>
                        <a:t>81.8</a:t>
                      </a:r>
                    </a:p>
                  </a:txBody>
                  <a:tcPr marL="73152" marR="73152" marT="36576" marB="36576" anchor="ctr">
                    <a:solidFill>
                      <a:srgbClr val="F2F4F7"/>
                    </a:solidFill>
                  </a:tcPr>
                </a:tc>
                <a:tc>
                  <a:txBody>
                    <a:bodyPr wrap="square"/>
                    <a:lstStyle/>
                    <a:p>
                      <a:pPr algn="ctr"/>
                      <a:r>
                        <a:rPr sz="1800" b="0">
                          <a:solidFill>
                            <a:srgbClr val="1A1A1A"/>
                          </a:solidFill>
                          <a:latin typeface="Arial"/>
                        </a:rPr>
                        <a:t>81.2</a:t>
                      </a:r>
                    </a:p>
                  </a:txBody>
                  <a:tcPr marL="73152" marR="73152" marT="36576" marB="36576" anchor="ctr">
                    <a:solidFill>
                      <a:srgbClr val="F2F4F7"/>
                    </a:solidFill>
                  </a:tcPr>
                </a:tc>
                <a:tc>
                  <a:txBody>
                    <a:bodyPr wrap="square"/>
                    <a:lstStyle/>
                    <a:p>
                      <a:pPr algn="ctr"/>
                      <a:r>
                        <a:rPr sz="1800" b="1">
                          <a:solidFill>
                            <a:srgbClr val="1E8E3E"/>
                          </a:solidFill>
                          <a:latin typeface="Arial"/>
                        </a:rPr>
                        <a:t>Matches</a:t>
                      </a:r>
                    </a:p>
                  </a:txBody>
                  <a:tcPr marL="73152" marR="73152" marT="36576" marB="36576" anchor="ctr">
                    <a:solidFill>
                      <a:srgbClr val="F2F4F7"/>
                    </a:solidFill>
                  </a:tcPr>
                </a:tc>
              </a:tr>
              <a:tr h="548640">
                <a:tc>
                  <a:txBody>
                    <a:bodyPr wrap="square"/>
                    <a:lstStyle/>
                    <a:p>
                      <a:pPr algn="l"/>
                      <a:r>
                        <a:rPr sz="1800" b="0">
                          <a:solidFill>
                            <a:srgbClr val="1A1A1A"/>
                          </a:solidFill>
                          <a:latin typeface="Arial"/>
                        </a:rPr>
                        <a:t>VGG19 transfer learning (3)</a:t>
                      </a:r>
                    </a:p>
                  </a:txBody>
                  <a:tcPr marL="73152" marR="73152" marT="36576" marB="36576" anchor="ctr">
                    <a:solidFill>
                      <a:srgbClr val="FFFFFF"/>
                    </a:solidFill>
                  </a:tcPr>
                </a:tc>
                <a:tc>
                  <a:txBody>
                    <a:bodyPr wrap="square"/>
                    <a:lstStyle/>
                    <a:p>
                      <a:pPr algn="ctr"/>
                      <a:r>
                        <a:rPr sz="1800" b="0">
                          <a:solidFill>
                            <a:srgbClr val="1A1A1A"/>
                          </a:solidFill>
                          <a:latin typeface="Arial"/>
                        </a:rPr>
                        <a:t>95.6</a:t>
                      </a:r>
                    </a:p>
                  </a:txBody>
                  <a:tcPr marL="73152" marR="73152" marT="36576" marB="36576" anchor="ctr">
                    <a:solidFill>
                      <a:srgbClr val="FFFFFF"/>
                    </a:solidFill>
                  </a:tcPr>
                </a:tc>
                <a:tc>
                  <a:txBody>
                    <a:bodyPr wrap="square"/>
                    <a:lstStyle/>
                    <a:p>
                      <a:pPr algn="ctr"/>
                      <a:r>
                        <a:rPr sz="1800" b="0">
                          <a:solidFill>
                            <a:srgbClr val="1A1A1A"/>
                          </a:solidFill>
                          <a:latin typeface="Arial"/>
                        </a:rPr>
                        <a:t>95.4</a:t>
                      </a:r>
                    </a:p>
                  </a:txBody>
                  <a:tcPr marL="73152" marR="73152" marT="36576" marB="36576" anchor="ctr">
                    <a:solidFill>
                      <a:srgbClr val="FFFFFF"/>
                    </a:solidFill>
                  </a:tcPr>
                </a:tc>
                <a:tc>
                  <a:txBody>
                    <a:bodyPr wrap="square"/>
                    <a:lstStyle/>
                    <a:p>
                      <a:pPr algn="ctr"/>
                      <a:r>
                        <a:rPr sz="1800" b="1">
                          <a:solidFill>
                            <a:srgbClr val="1E8E3E"/>
                          </a:solidFill>
                          <a:latin typeface="Arial"/>
                        </a:rPr>
                        <a:t>Matches</a:t>
                      </a:r>
                    </a:p>
                  </a:txBody>
                  <a:tcPr marL="73152" marR="73152" marT="36576" marB="36576" anchor="ctr">
                    <a:solidFill>
                      <a:srgbClr val="FFFFFF"/>
                    </a:solidFill>
                  </a:tcPr>
                </a:tc>
              </a:tr>
              <a:tr h="548640">
                <a:tc>
                  <a:txBody>
                    <a:bodyPr wrap="square"/>
                    <a:lstStyle/>
                    <a:p>
                      <a:pPr algn="l"/>
                      <a:r>
                        <a:rPr sz="1800" b="0">
                          <a:solidFill>
                            <a:srgbClr val="1A1A1A"/>
                          </a:solidFill>
                          <a:latin typeface="Arial"/>
                        </a:rPr>
                        <a:t>SVM RBF (3)</a:t>
                      </a:r>
                    </a:p>
                  </a:txBody>
                  <a:tcPr marL="73152" marR="73152" marT="36576" marB="36576" anchor="ctr">
                    <a:solidFill>
                      <a:srgbClr val="F2F4F7"/>
                    </a:solidFill>
                  </a:tcPr>
                </a:tc>
                <a:tc>
                  <a:txBody>
                    <a:bodyPr wrap="square"/>
                    <a:lstStyle/>
                    <a:p>
                      <a:pPr algn="ctr"/>
                      <a:r>
                        <a:rPr sz="1800" b="0">
                          <a:solidFill>
                            <a:srgbClr val="1A1A1A"/>
                          </a:solidFill>
                          <a:latin typeface="Arial"/>
                        </a:rPr>
                        <a:t>62.7</a:t>
                      </a:r>
                    </a:p>
                  </a:txBody>
                  <a:tcPr marL="73152" marR="73152" marT="36576" marB="36576" anchor="ctr">
                    <a:solidFill>
                      <a:srgbClr val="F2F4F7"/>
                    </a:solidFill>
                  </a:tcPr>
                </a:tc>
                <a:tc>
                  <a:txBody>
                    <a:bodyPr wrap="square"/>
                    <a:lstStyle/>
                    <a:p>
                      <a:pPr algn="ctr"/>
                      <a:r>
                        <a:rPr sz="1800" b="0">
                          <a:solidFill>
                            <a:srgbClr val="1A1A1A"/>
                          </a:solidFill>
                          <a:latin typeface="Arial"/>
                        </a:rPr>
                        <a:t>84.0</a:t>
                      </a:r>
                    </a:p>
                  </a:txBody>
                  <a:tcPr marL="73152" marR="73152" marT="36576" marB="36576" anchor="ctr">
                    <a:solidFill>
                      <a:srgbClr val="F2F4F7"/>
                    </a:solidFill>
                  </a:tcPr>
                </a:tc>
                <a:tc>
                  <a:txBody>
                    <a:bodyPr wrap="square"/>
                    <a:lstStyle/>
                    <a:p>
                      <a:pPr algn="ctr"/>
                      <a:r>
                        <a:rPr sz="1800" b="1">
                          <a:solidFill>
                            <a:srgbClr val="C5221F"/>
                          </a:solidFill>
                          <a:latin typeface="Arial"/>
                        </a:rPr>
                        <a:t>Differs: ours higher</a:t>
                      </a:r>
                    </a:p>
                  </a:txBody>
                  <a:tcPr marL="73152" marR="73152" marT="36576" marB="36576" anchor="ctr">
                    <a:solidFill>
                      <a:srgbClr val="F2F4F7"/>
                    </a:solidFill>
                  </a:tcPr>
                </a:tc>
              </a:tr>
              <a:tr h="548640">
                <a:tc>
                  <a:txBody>
                    <a:bodyPr wrap="square"/>
                    <a:lstStyle/>
                    <a:p>
                      <a:pPr algn="l"/>
                      <a:r>
                        <a:rPr sz="1800" b="0">
                          <a:solidFill>
                            <a:srgbClr val="1A1A1A"/>
                          </a:solidFill>
                          <a:latin typeface="Arial"/>
                        </a:rPr>
                        <a:t>CNN "V2" (50)</a:t>
                      </a:r>
                    </a:p>
                  </a:txBody>
                  <a:tcPr marL="73152" marR="73152" marT="36576" marB="36576" anchor="ctr">
                    <a:solidFill>
                      <a:srgbClr val="FFFFFF"/>
                    </a:solidFill>
                  </a:tcPr>
                </a:tc>
                <a:tc>
                  <a:txBody>
                    <a:bodyPr wrap="square"/>
                    <a:lstStyle/>
                    <a:p>
                      <a:pPr algn="ctr"/>
                      <a:r>
                        <a:rPr sz="1800" b="0">
                          <a:solidFill>
                            <a:srgbClr val="1A1A1A"/>
                          </a:solidFill>
                          <a:latin typeface="Arial"/>
                        </a:rPr>
                        <a:t>81.8</a:t>
                      </a:r>
                    </a:p>
                  </a:txBody>
                  <a:tcPr marL="73152" marR="73152" marT="36576" marB="36576" anchor="ctr">
                    <a:solidFill>
                      <a:srgbClr val="FFFFFF"/>
                    </a:solidFill>
                  </a:tcPr>
                </a:tc>
                <a:tc>
                  <a:txBody>
                    <a:bodyPr wrap="square"/>
                    <a:lstStyle/>
                    <a:p>
                      <a:pPr algn="ctr"/>
                      <a:r>
                        <a:rPr sz="1800" b="0">
                          <a:solidFill>
                            <a:srgbClr val="1A1A1A"/>
                          </a:solidFill>
                          <a:latin typeface="Arial"/>
                        </a:rPr>
                        <a:t>75.1</a:t>
                      </a:r>
                    </a:p>
                  </a:txBody>
                  <a:tcPr marL="73152" marR="73152" marT="36576" marB="36576" anchor="ctr">
                    <a:solidFill>
                      <a:srgbClr val="FFFFFF"/>
                    </a:solidFill>
                  </a:tcPr>
                </a:tc>
                <a:tc>
                  <a:txBody>
                    <a:bodyPr wrap="square"/>
                    <a:lstStyle/>
                    <a:p>
                      <a:pPr algn="ctr"/>
                      <a:r>
                        <a:rPr sz="1800" b="1">
                          <a:solidFill>
                            <a:srgbClr val="C5221F"/>
                          </a:solidFill>
                          <a:latin typeface="Arial"/>
                        </a:rPr>
                        <a:t>Differs: ours lower</a:t>
                      </a:r>
                    </a:p>
                  </a:txBody>
                  <a:tcPr marL="73152" marR="73152" marT="36576" marB="36576" anchor="ctr">
                    <a:solidFill>
                      <a:srgbClr val="FFFFFF"/>
                    </a:solidFill>
                  </a:tcPr>
                </a:tc>
              </a:tr>
              <a:tr h="548640">
                <a:tc>
                  <a:txBody>
                    <a:bodyPr wrap="square"/>
                    <a:lstStyle/>
                    <a:p>
                      <a:pPr algn="l"/>
                      <a:r>
                        <a:rPr sz="1800" b="0">
                          <a:solidFill>
                            <a:srgbClr val="1A1A1A"/>
                          </a:solidFill>
                          <a:latin typeface="Arial"/>
                        </a:rPr>
                        <a:t>ResNet50 / InceptionV3 / MobileNet (3)</a:t>
                      </a:r>
                    </a:p>
                  </a:txBody>
                  <a:tcPr marL="73152" marR="73152" marT="36576" marB="36576" anchor="ctr">
                    <a:solidFill>
                      <a:srgbClr val="F2F4F7"/>
                    </a:solidFill>
                  </a:tcPr>
                </a:tc>
                <a:tc>
                  <a:txBody>
                    <a:bodyPr wrap="square"/>
                    <a:lstStyle/>
                    <a:p>
                      <a:pPr algn="ctr"/>
                      <a:r>
                        <a:rPr sz="1800" b="0">
                          <a:solidFill>
                            <a:srgbClr val="1A1A1A"/>
                          </a:solidFill>
                          <a:latin typeface="Arial"/>
                        </a:rPr>
                        <a:t>62.7 / 45.7 / 75.4</a:t>
                      </a:r>
                    </a:p>
                  </a:txBody>
                  <a:tcPr marL="73152" marR="73152" marT="36576" marB="36576" anchor="ctr">
                    <a:solidFill>
                      <a:srgbClr val="F2F4F7"/>
                    </a:solidFill>
                  </a:tcPr>
                </a:tc>
                <a:tc>
                  <a:txBody>
                    <a:bodyPr wrap="square"/>
                    <a:lstStyle/>
                    <a:p>
                      <a:pPr algn="ctr"/>
                      <a:r>
                        <a:rPr sz="1800" b="0">
                          <a:solidFill>
                            <a:srgbClr val="1A1A1A"/>
                          </a:solidFill>
                          <a:latin typeface="Arial"/>
                        </a:rPr>
                        <a:t>95.4 / 93.1 / 94.6</a:t>
                      </a:r>
                    </a:p>
                  </a:txBody>
                  <a:tcPr marL="73152" marR="73152" marT="36576" marB="36576" anchor="ctr">
                    <a:solidFill>
                      <a:srgbClr val="F2F4F7"/>
                    </a:solidFill>
                  </a:tcPr>
                </a:tc>
                <a:tc>
                  <a:txBody>
                    <a:bodyPr wrap="square"/>
                    <a:lstStyle/>
                    <a:p>
                      <a:pPr algn="ctr"/>
                      <a:r>
                        <a:rPr sz="1800" b="1">
                          <a:solidFill>
                            <a:srgbClr val="C5221F"/>
                          </a:solidFill>
                          <a:latin typeface="Arial"/>
                        </a:rPr>
                        <a:t>Differs: ours much higher</a:t>
                      </a:r>
                    </a:p>
                  </a:txBody>
                  <a:tcPr marL="73152" marR="73152" marT="36576" marB="36576" anchor="ctr">
                    <a:solidFill>
                      <a:srgbClr val="F2F4F7"/>
                    </a:solidFill>
                  </a:tcPr>
                </a:tc>
              </a:tr>
            </a:tbl>
          </a:graphicData>
        </a:graphic>
      </p:graphicFrame>
      <p:sp>
        <p:nvSpPr>
          <p:cNvPr id="4" name="TextBox 3"/>
          <p:cNvSpPr txBox="1"/>
          <p:nvPr/>
        </p:nvSpPr>
        <p:spPr>
          <a:xfrm>
            <a:off x="548640" y="5166360"/>
            <a:ext cx="10972800" cy="411480"/>
          </a:xfrm>
          <a:prstGeom prst="rect">
            <a:avLst/>
          </a:prstGeom>
          <a:noFill/>
        </p:spPr>
        <p:txBody>
          <a:bodyPr wrap="square" anchor="t">
            <a:spAutoFit/>
          </a:bodyPr>
          <a:lstStyle/>
          <a:p>
            <a:pPr algn="l"/>
            <a:r>
              <a:rPr sz="1800" b="0">
                <a:solidFill>
                  <a:srgbClr val="5A5A5A"/>
                </a:solidFill>
                <a:latin typeface="Arial"/>
              </a:rPr>
              <a:t>Validation accuracy (%), as in the paper.</a:t>
            </a:r>
          </a:p>
        </p:txBody>
      </p:sp>
      <p:sp>
        <p:nvSpPr>
          <p:cNvPr id="5" name="TextBox 4"/>
          <p:cNvSpPr txBox="1"/>
          <p:nvPr/>
        </p:nvSpPr>
        <p:spPr>
          <a:xfrm>
            <a:off x="548640" y="5870448"/>
            <a:ext cx="11064240" cy="457200"/>
          </a:xfrm>
          <a:prstGeom prst="rect">
            <a:avLst/>
          </a:prstGeom>
          <a:noFill/>
        </p:spPr>
        <p:txBody>
          <a:bodyPr wrap="square">
            <a:spAutoFit/>
          </a:bodyPr>
          <a:lstStyle/>
          <a:p>
            <a:r>
              <a:rPr sz="1800" b="1">
                <a:solidFill>
                  <a:srgbClr val="1F3A5F"/>
                </a:solidFill>
                <a:latin typeface="Arial"/>
              </a:rPr>
              <a:t>Takeaway: the reproduction works; three gaps needed explaining.</a:t>
            </a:r>
          </a:p>
        </p:txBody>
      </p:sp>
      <p:sp>
        <p:nvSpPr>
          <p:cNvPr id="6" name="TextBox 5"/>
          <p:cNvSpPr txBox="1"/>
          <p:nvPr/>
        </p:nvSpPr>
        <p:spPr>
          <a:xfrm>
            <a:off x="548640" y="6446520"/>
            <a:ext cx="9144000" cy="274320"/>
          </a:xfrm>
          <a:prstGeom prst="rect">
            <a:avLst/>
          </a:prstGeom>
          <a:noFill/>
        </p:spPr>
        <p:txBody>
          <a:bodyPr wrap="square" anchor="t">
            <a:spAutoFit/>
          </a:bodyPr>
          <a:lstStyle/>
          <a:p>
            <a:pPr algn="l"/>
            <a:r>
              <a:rPr sz="1000" b="0">
                <a:solidFill>
                  <a:srgbClr val="5A5A5A"/>
                </a:solidFill>
                <a:latin typeface="Arial"/>
              </a:rPr>
              <a:t>Drawing: A New Way To Search — Reproduce &amp; Extend</a:t>
            </a:r>
          </a:p>
        </p:txBody>
      </p:sp>
      <p:sp>
        <p:nvSpPr>
          <p:cNvPr id="7" name="TextBox 6"/>
          <p:cNvSpPr txBox="1"/>
          <p:nvPr/>
        </p:nvSpPr>
        <p:spPr>
          <a:xfrm>
            <a:off x="10698480" y="6446520"/>
            <a:ext cx="914400" cy="274320"/>
          </a:xfrm>
          <a:prstGeom prst="rect">
            <a:avLst/>
          </a:prstGeom>
          <a:noFill/>
        </p:spPr>
        <p:txBody>
          <a:bodyPr wrap="square" anchor="t">
            <a:spAutoFit/>
          </a:bodyPr>
          <a:lstStyle/>
          <a:p>
            <a:pPr algn="r"/>
            <a:r>
              <a:rPr sz="1000" b="0">
                <a:solidFill>
                  <a:srgbClr val="5A5A5A"/>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182880"/>
            <a:ext cx="11064240" cy="960120"/>
          </a:xfrm>
          <a:prstGeom prst="rect">
            <a:avLst/>
          </a:prstGeom>
          <a:noFill/>
        </p:spPr>
        <p:txBody>
          <a:bodyPr wrap="square" anchor="ctr">
            <a:spAutoFit/>
          </a:bodyPr>
          <a:lstStyle/>
          <a:p>
            <a:pPr algn="l"/>
            <a:r>
              <a:rPr sz="2800" b="1">
                <a:solidFill>
                  <a:srgbClr val="1F3A5F"/>
                </a:solidFill>
                <a:latin typeface="Arial"/>
              </a:rPr>
              <a:t>Why the three differences happen</a:t>
            </a:r>
          </a:p>
        </p:txBody>
      </p:sp>
      <p:graphicFrame>
        <p:nvGraphicFramePr>
          <p:cNvPr id="3" name="Table 2"/>
          <p:cNvGraphicFramePr>
            <a:graphicFrameLocks noGrp="1"/>
          </p:cNvGraphicFramePr>
          <p:nvPr/>
        </p:nvGraphicFramePr>
        <p:xfrm>
          <a:off x="548640" y="1097280"/>
          <a:ext cx="7955280" cy="1828800"/>
        </p:xfrm>
        <a:graphic>
          <a:graphicData uri="http://schemas.openxmlformats.org/drawingml/2006/table">
            <a:tbl>
              <a:tblPr firstRow="1" bandRow="1">
                <a:tableStyleId>{5C22544A-7EE6-4342-B048-85BDC9FD1C3A}</a:tableStyleId>
              </a:tblPr>
              <a:tblGrid>
                <a:gridCol w="2103120"/>
                <a:gridCol w="2743200"/>
                <a:gridCol w="3108960"/>
              </a:tblGrid>
              <a:tr h="457200">
                <a:tc>
                  <a:txBody>
                    <a:bodyPr wrap="square"/>
                    <a:lstStyle/>
                    <a:p>
                      <a:pPr algn="l"/>
                      <a:r>
                        <a:rPr sz="1800" b="1">
                          <a:solidFill>
                            <a:srgbClr val="FFFFFF"/>
                          </a:solidFill>
                          <a:latin typeface="Arial"/>
                        </a:rPr>
                        <a:t>What we saw</a:t>
                      </a:r>
                    </a:p>
                  </a:txBody>
                  <a:tcPr marL="73152" marR="73152" marT="36576" marB="36576" anchor="ctr">
                    <a:solidFill>
                      <a:srgbClr val="1F3A5F"/>
                    </a:solidFill>
                  </a:tcPr>
                </a:tc>
                <a:tc>
                  <a:txBody>
                    <a:bodyPr wrap="square"/>
                    <a:lstStyle/>
                    <a:p>
                      <a:pPr algn="l"/>
                      <a:r>
                        <a:rPr sz="1800" b="1">
                          <a:solidFill>
                            <a:srgbClr val="FFFFFF"/>
                          </a:solidFill>
                          <a:latin typeface="Arial"/>
                        </a:rPr>
                        <a:t>Why</a:t>
                      </a:r>
                    </a:p>
                  </a:txBody>
                  <a:tcPr marL="73152" marR="73152" marT="36576" marB="36576" anchor="ctr">
                    <a:solidFill>
                      <a:srgbClr val="1F3A5F"/>
                    </a:solidFill>
                  </a:tcPr>
                </a:tc>
                <a:tc>
                  <a:txBody>
                    <a:bodyPr wrap="square"/>
                    <a:lstStyle/>
                    <a:p>
                      <a:pPr algn="l"/>
                      <a:r>
                        <a:rPr sz="1800" b="1">
                          <a:solidFill>
                            <a:srgbClr val="FFFFFF"/>
                          </a:solidFill>
                          <a:latin typeface="Arial"/>
                        </a:rPr>
                        <a:t>Our evidence</a:t>
                      </a:r>
                    </a:p>
                  </a:txBody>
                  <a:tcPr marL="73152" marR="73152" marT="36576" marB="36576" anchor="ctr">
                    <a:solidFill>
                      <a:srgbClr val="1F3A5F"/>
                    </a:solidFill>
                  </a:tcPr>
                </a:tc>
              </a:tr>
              <a:tr h="457200">
                <a:tc>
                  <a:txBody>
                    <a:bodyPr wrap="square"/>
                    <a:lstStyle/>
                    <a:p>
                      <a:pPr algn="l"/>
                      <a:r>
                        <a:rPr sz="1800" b="1">
                          <a:solidFill>
                            <a:srgbClr val="1A1A1A"/>
                          </a:solidFill>
                          <a:latin typeface="Arial"/>
                        </a:rPr>
                        <a:t>SVM scores higher than reported</a:t>
                      </a:r>
                    </a:p>
                  </a:txBody>
                  <a:tcPr marL="73152" marR="73152" marT="36576" marB="36576" anchor="ctr">
                    <a:solidFill>
                      <a:srgbClr val="FFFFFF"/>
                    </a:solidFill>
                  </a:tcPr>
                </a:tc>
                <a:tc>
                  <a:txBody>
                    <a:bodyPr wrap="square"/>
                    <a:lstStyle/>
                    <a:p>
                      <a:pPr algn="l"/>
                      <a:r>
                        <a:rPr sz="1800" b="0">
                          <a:solidFill>
                            <a:srgbClr val="1A1A1A"/>
                          </a:solidFill>
                          <a:latin typeface="Arial"/>
                        </a:rPr>
                        <a:t>Their runs used ~70,000 drawings per class with the same 500-step limit: less converged</a:t>
                      </a:r>
                    </a:p>
                  </a:txBody>
                  <a:tcPr marL="73152" marR="73152" marT="36576" marB="36576" anchor="ctr">
                    <a:solidFill>
                      <a:srgbClr val="FFFFFF"/>
                    </a:solidFill>
                  </a:tcPr>
                </a:tc>
                <a:tc>
                  <a:txBody>
                    <a:bodyPr wrap="square"/>
                    <a:lstStyle/>
                    <a:p>
                      <a:pPr algn="l"/>
                      <a:r>
                        <a:rPr sz="1800" b="0">
                          <a:solidFill>
                            <a:srgbClr val="1A1A1A"/>
                          </a:solidFill>
                          <a:latin typeface="Arial"/>
                        </a:rPr>
                        <a:t>Our 70,000 rerun: RBF 84.0 → 75.0 (3 classes), 74.6 → 64.3 (10); theirs 62.7 / 61.0</a:t>
                      </a:r>
                    </a:p>
                  </a:txBody>
                  <a:tcPr marL="73152" marR="73152" marT="36576" marB="36576" anchor="ctr">
                    <a:solidFill>
                      <a:srgbClr val="FFFFFF"/>
                    </a:solidFill>
                  </a:tcPr>
                </a:tc>
              </a:tr>
              <a:tr h="457200">
                <a:tc>
                  <a:txBody>
                    <a:bodyPr wrap="square"/>
                    <a:lstStyle/>
                    <a:p>
                      <a:pPr algn="l"/>
                      <a:r>
                        <a:rPr sz="1800" b="1">
                          <a:solidFill>
                            <a:srgbClr val="1A1A1A"/>
                          </a:solidFill>
                          <a:latin typeface="Arial"/>
                        </a:rPr>
                        <a:t>Their "V2" equals our V1</a:t>
                      </a:r>
                    </a:p>
                  </a:txBody>
                  <a:tcPr marL="73152" marR="73152" marT="36576" marB="36576" anchor="ctr">
                    <a:solidFill>
                      <a:srgbClr val="F2F4F7"/>
                    </a:solidFill>
                  </a:tcPr>
                </a:tc>
                <a:tc>
                  <a:txBody>
                    <a:bodyPr wrap="square"/>
                    <a:lstStyle/>
                    <a:p>
                      <a:pPr algn="l"/>
                      <a:r>
                        <a:rPr sz="1800" b="0">
                          <a:solidFill>
                            <a:srgbClr val="1A1A1A"/>
                          </a:solidFill>
                          <a:latin typeface="Arial"/>
                        </a:rPr>
                        <a:t>A script bug trained V1 under every V2–V4 label</a:t>
                      </a:r>
                    </a:p>
                  </a:txBody>
                  <a:tcPr marL="73152" marR="73152" marT="36576" marB="36576" anchor="ctr">
                    <a:solidFill>
                      <a:srgbClr val="F2F4F7"/>
                    </a:solidFill>
                  </a:tcPr>
                </a:tc>
                <a:tc>
                  <a:txBody>
                    <a:bodyPr wrap="square"/>
                    <a:lstStyle/>
                    <a:p>
                      <a:pPr algn="l"/>
                      <a:r>
                        <a:rPr sz="1800" b="0">
                          <a:solidFill>
                            <a:srgbClr val="1A1A1A"/>
                          </a:solidFill>
                          <a:latin typeface="Arial"/>
                        </a:rPr>
                        <a:t>Our V1 81.2 vs their "V2" 81.8; our real V2 75.1</a:t>
                      </a:r>
                    </a:p>
                  </a:txBody>
                  <a:tcPr marL="73152" marR="73152" marT="36576" marB="36576" anchor="ctr">
                    <a:solidFill>
                      <a:srgbClr val="F2F4F7"/>
                    </a:solidFill>
                  </a:tcPr>
                </a:tc>
              </a:tr>
              <a:tr h="457200">
                <a:tc>
                  <a:txBody>
                    <a:bodyPr wrap="square"/>
                    <a:lstStyle/>
                    <a:p>
                      <a:pPr algn="l"/>
                      <a:r>
                        <a:rPr sz="1800" b="1">
                          <a:solidFill>
                            <a:srgbClr val="1A1A1A"/>
                          </a:solidFill>
                          <a:latin typeface="Arial"/>
                        </a:rPr>
                        <a:t>Transfer learning far higher for 3 of 4 networks</a:t>
                      </a:r>
                    </a:p>
                  </a:txBody>
                  <a:tcPr marL="73152" marR="73152" marT="36576" marB="36576" anchor="ctr">
                    <a:solidFill>
                      <a:srgbClr val="FFFFFF"/>
                    </a:solidFill>
                  </a:tcPr>
                </a:tc>
                <a:tc>
                  <a:txBody>
                    <a:bodyPr wrap="square"/>
                    <a:lstStyle/>
                    <a:p>
                      <a:pPr algn="l"/>
                      <a:r>
                        <a:rPr sz="1800" b="0">
                          <a:solidFill>
                            <a:srgbClr val="1A1A1A"/>
                          </a:solidFill>
                          <a:latin typeface="Arial"/>
                        </a:rPr>
                        <a:t>Frozen BatchNorm layers behaved differently in 2018 Keras</a:t>
                      </a:r>
                    </a:p>
                  </a:txBody>
                  <a:tcPr marL="73152" marR="73152" marT="36576" marB="36576" anchor="ctr">
                    <a:solidFill>
                      <a:srgbClr val="FFFFFF"/>
                    </a:solidFill>
                  </a:tcPr>
                </a:tc>
                <a:tc>
                  <a:txBody>
                    <a:bodyPr wrap="square"/>
                    <a:lstStyle/>
                    <a:p>
                      <a:pPr algn="l"/>
                      <a:r>
                        <a:rPr sz="1800" b="0">
                          <a:solidFill>
                            <a:srgbClr val="1A1A1A"/>
                          </a:solidFill>
                          <a:latin typeface="Arial"/>
                        </a:rPr>
                        <a:t>VGG19 (no BatchNorm) matches: 95.4 vs 95.6; their Inception log: 99.99% train vs 45.7% validation</a:t>
                      </a:r>
                    </a:p>
                  </a:txBody>
                  <a:tcPr marL="73152" marR="73152" marT="36576" marB="36576" anchor="ctr">
                    <a:solidFill>
                      <a:srgbClr val="FFFFFF"/>
                    </a:solidFill>
                  </a:tcPr>
                </a:tc>
              </a:tr>
            </a:tbl>
          </a:graphicData>
        </a:graphic>
      </p:graphicFrame>
      <p:pic>
        <p:nvPicPr>
          <p:cNvPr id="4" name="Picture 3" descr="tl_reported_vs_ours.png"/>
          <p:cNvPicPr>
            <a:picLocks noChangeAspect="1"/>
          </p:cNvPicPr>
          <p:nvPr/>
        </p:nvPicPr>
        <p:blipFill>
          <a:blip r:embed="rId2"/>
          <a:stretch>
            <a:fillRect/>
          </a:stretch>
        </p:blipFill>
        <p:spPr>
          <a:xfrm>
            <a:off x="8366760" y="1097280"/>
            <a:ext cx="3749039" cy="3566159"/>
          </a:xfrm>
          <a:prstGeom prst="rect">
            <a:avLst/>
          </a:prstGeom>
        </p:spPr>
      </p:pic>
      <p:sp>
        <p:nvSpPr>
          <p:cNvPr id="5" name="TextBox 4"/>
          <p:cNvSpPr txBox="1"/>
          <p:nvPr/>
        </p:nvSpPr>
        <p:spPr>
          <a:xfrm>
            <a:off x="548640" y="5166360"/>
            <a:ext cx="11064240" cy="640080"/>
          </a:xfrm>
          <a:prstGeom prst="rect">
            <a:avLst/>
          </a:prstGeom>
          <a:noFill/>
        </p:spPr>
        <p:txBody>
          <a:bodyPr wrap="square" anchor="t">
            <a:spAutoFit/>
          </a:bodyPr>
          <a:lstStyle/>
          <a:p>
            <a:pPr algn="l"/>
            <a:r>
              <a:rPr sz="1800" b="0">
                <a:solidFill>
                  <a:srgbClr val="5A5A5A"/>
                </a:solidFill>
                <a:latin typeface="Arial"/>
              </a:rPr>
              <a:t>CNN V3 is 2.5 / 5.2 points lower at 10 / 50 classes: unexplained, likely seed or library differences.</a:t>
            </a:r>
          </a:p>
        </p:txBody>
      </p:sp>
      <p:sp>
        <p:nvSpPr>
          <p:cNvPr id="6" name="TextBox 5"/>
          <p:cNvSpPr txBox="1"/>
          <p:nvPr/>
        </p:nvSpPr>
        <p:spPr>
          <a:xfrm>
            <a:off x="548640" y="5870448"/>
            <a:ext cx="11064240" cy="457200"/>
          </a:xfrm>
          <a:prstGeom prst="rect">
            <a:avLst/>
          </a:prstGeom>
          <a:noFill/>
        </p:spPr>
        <p:txBody>
          <a:bodyPr wrap="square">
            <a:spAutoFit/>
          </a:bodyPr>
          <a:lstStyle/>
          <a:p>
            <a:r>
              <a:rPr sz="1800" b="1">
                <a:solidFill>
                  <a:srgbClr val="1F3A5F"/>
                </a:solidFill>
                <a:latin typeface="Arial"/>
              </a:rPr>
              <a:t>Takeaway: the paper's claim that complex networks don't help doodles is likely an artefact.</a:t>
            </a:r>
          </a:p>
        </p:txBody>
      </p:sp>
      <p:sp>
        <p:nvSpPr>
          <p:cNvPr id="7" name="TextBox 6"/>
          <p:cNvSpPr txBox="1"/>
          <p:nvPr/>
        </p:nvSpPr>
        <p:spPr>
          <a:xfrm>
            <a:off x="548640" y="6446520"/>
            <a:ext cx="9144000" cy="274320"/>
          </a:xfrm>
          <a:prstGeom prst="rect">
            <a:avLst/>
          </a:prstGeom>
          <a:noFill/>
        </p:spPr>
        <p:txBody>
          <a:bodyPr wrap="square" anchor="t">
            <a:spAutoFit/>
          </a:bodyPr>
          <a:lstStyle/>
          <a:p>
            <a:pPr algn="l"/>
            <a:r>
              <a:rPr sz="1000" b="0">
                <a:solidFill>
                  <a:srgbClr val="5A5A5A"/>
                </a:solidFill>
                <a:latin typeface="Arial"/>
              </a:rPr>
              <a:t>Drawing: A New Way To Search — Reproduce &amp; Extend</a:t>
            </a:r>
          </a:p>
        </p:txBody>
      </p:sp>
      <p:sp>
        <p:nvSpPr>
          <p:cNvPr id="8" name="TextBox 7"/>
          <p:cNvSpPr txBox="1"/>
          <p:nvPr/>
        </p:nvSpPr>
        <p:spPr>
          <a:xfrm>
            <a:off x="10698480" y="6446520"/>
            <a:ext cx="914400" cy="274320"/>
          </a:xfrm>
          <a:prstGeom prst="rect">
            <a:avLst/>
          </a:prstGeom>
          <a:noFill/>
        </p:spPr>
        <p:txBody>
          <a:bodyPr wrap="square" anchor="t">
            <a:spAutoFit/>
          </a:bodyPr>
          <a:lstStyle/>
          <a:p>
            <a:pPr algn="r"/>
            <a:r>
              <a:rPr sz="1000" b="0">
                <a:solidFill>
                  <a:srgbClr val="5A5A5A"/>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182880"/>
            <a:ext cx="11064240" cy="960120"/>
          </a:xfrm>
          <a:prstGeom prst="rect">
            <a:avLst/>
          </a:prstGeom>
          <a:noFill/>
        </p:spPr>
        <p:txBody>
          <a:bodyPr wrap="square" anchor="ctr">
            <a:spAutoFit/>
          </a:bodyPr>
          <a:lstStyle/>
          <a:p>
            <a:pPr algn="l"/>
            <a:r>
              <a:rPr sz="2800" b="1">
                <a:solidFill>
                  <a:srgbClr val="1F3A5F"/>
                </a:solidFill>
                <a:latin typeface="Arial"/>
              </a:rPr>
              <a:t>Our extension: XGBoost, a model family the paper never tried</a:t>
            </a:r>
          </a:p>
        </p:txBody>
      </p:sp>
      <p:sp>
        <p:nvSpPr>
          <p:cNvPr id="3" name="Rectangle 2"/>
          <p:cNvSpPr/>
          <p:nvPr/>
        </p:nvSpPr>
        <p:spPr>
          <a:xfrm>
            <a:off x="640080" y="1234440"/>
            <a:ext cx="1920240" cy="457200"/>
          </a:xfrm>
          <a:prstGeom prst="rect">
            <a:avLst/>
          </a:prstGeom>
          <a:solidFill>
            <a:srgbClr val="FFFFF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800" b="0">
                <a:solidFill>
                  <a:srgbClr val="1A1A1A"/>
                </a:solidFill>
                <a:latin typeface="Arial"/>
              </a:rPr>
              <a:t>Tree 1</a:t>
            </a:r>
          </a:p>
        </p:txBody>
      </p:sp>
      <p:cxnSp>
        <p:nvCxnSpPr>
          <p:cNvPr id="4" name="Connector 3"/>
          <p:cNvCxnSpPr/>
          <p:nvPr/>
        </p:nvCxnSpPr>
        <p:spPr>
          <a:xfrm>
            <a:off x="1600200" y="1709928"/>
            <a:ext cx="0" cy="237744"/>
          </a:xfrm>
          <a:prstGeom prst="line">
            <a:avLst/>
          </a:prstGeom>
          <a:ln w="22225">
            <a:solidFill>
              <a:srgbClr val="1F3A5F"/>
            </a:solidFill>
            <a:tailEnd type="triangle"/>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40080" y="1965960"/>
            <a:ext cx="1920240" cy="457200"/>
          </a:xfrm>
          <a:prstGeom prst="rect">
            <a:avLst/>
          </a:prstGeom>
          <a:solidFill>
            <a:srgbClr val="FFFFF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800" b="0">
                <a:solidFill>
                  <a:srgbClr val="1A1A1A"/>
                </a:solidFill>
                <a:latin typeface="Arial"/>
              </a:rPr>
              <a:t>Tree 2</a:t>
            </a:r>
          </a:p>
        </p:txBody>
      </p:sp>
      <p:cxnSp>
        <p:nvCxnSpPr>
          <p:cNvPr id="6" name="Connector 5"/>
          <p:cNvCxnSpPr/>
          <p:nvPr/>
        </p:nvCxnSpPr>
        <p:spPr>
          <a:xfrm>
            <a:off x="1600200" y="2441448"/>
            <a:ext cx="0" cy="237744"/>
          </a:xfrm>
          <a:prstGeom prst="line">
            <a:avLst/>
          </a:prstGeom>
          <a:ln w="22225">
            <a:solidFill>
              <a:srgbClr val="1F3A5F"/>
            </a:solidFill>
            <a:tailEnd type="triangle"/>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080" y="2697480"/>
            <a:ext cx="1920240" cy="457200"/>
          </a:xfrm>
          <a:prstGeom prst="rect">
            <a:avLst/>
          </a:prstGeom>
          <a:noFill/>
        </p:spPr>
        <p:txBody>
          <a:bodyPr wrap="square" anchor="ctr">
            <a:spAutoFit/>
          </a:bodyPr>
          <a:lstStyle/>
          <a:p>
            <a:pPr algn="ctr"/>
            <a:r>
              <a:rPr sz="1800" b="0">
                <a:solidFill>
                  <a:srgbClr val="1A1A1A"/>
                </a:solidFill>
                <a:latin typeface="Arial"/>
              </a:rPr>
              <a:t>…</a:t>
            </a:r>
          </a:p>
        </p:txBody>
      </p:sp>
      <p:cxnSp>
        <p:nvCxnSpPr>
          <p:cNvPr id="8" name="Connector 7"/>
          <p:cNvCxnSpPr/>
          <p:nvPr/>
        </p:nvCxnSpPr>
        <p:spPr>
          <a:xfrm>
            <a:off x="1600200" y="3172968"/>
            <a:ext cx="0" cy="237744"/>
          </a:xfrm>
          <a:prstGeom prst="line">
            <a:avLst/>
          </a:prstGeom>
          <a:ln w="22225">
            <a:solidFill>
              <a:srgbClr val="1F3A5F"/>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640080" y="3429000"/>
            <a:ext cx="1920240" cy="457200"/>
          </a:xfrm>
          <a:prstGeom prst="rect">
            <a:avLst/>
          </a:prstGeom>
          <a:solidFill>
            <a:srgbClr val="FFFFF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800" b="0">
                <a:solidFill>
                  <a:srgbClr val="1A1A1A"/>
                </a:solidFill>
                <a:latin typeface="Arial"/>
              </a:rPr>
              <a:t>Tree N</a:t>
            </a:r>
          </a:p>
        </p:txBody>
      </p:sp>
      <p:sp>
        <p:nvSpPr>
          <p:cNvPr id="10" name="TextBox 9"/>
          <p:cNvSpPr txBox="1"/>
          <p:nvPr/>
        </p:nvSpPr>
        <p:spPr>
          <a:xfrm>
            <a:off x="548640" y="4160520"/>
            <a:ext cx="2103120" cy="1828800"/>
          </a:xfrm>
          <a:prstGeom prst="rect">
            <a:avLst/>
          </a:prstGeom>
          <a:noFill/>
        </p:spPr>
        <p:txBody>
          <a:bodyPr wrap="square" anchor="t">
            <a:spAutoFit/>
          </a:bodyPr>
          <a:lstStyle/>
          <a:p>
            <a:pPr algn="l"/>
            <a:r>
              <a:rPr sz="1800" b="0">
                <a:solidFill>
                  <a:srgbClr val="1A1A1A"/>
                </a:solidFill>
                <a:latin typeface="Arial"/>
              </a:rPr>
              <a:t>Each new tree fixes the mistakes of the previous ones; their votes are added up.</a:t>
            </a:r>
          </a:p>
        </p:txBody>
      </p:sp>
      <p:sp>
        <p:nvSpPr>
          <p:cNvPr id="11" name="TextBox 10"/>
          <p:cNvSpPr txBox="1"/>
          <p:nvPr/>
        </p:nvSpPr>
        <p:spPr>
          <a:xfrm>
            <a:off x="2743200" y="1234440"/>
            <a:ext cx="8869680" cy="1554480"/>
          </a:xfrm>
          <a:prstGeom prst="rect">
            <a:avLst/>
          </a:prstGeom>
          <a:noFill/>
        </p:spPr>
        <p:txBody>
          <a:bodyPr wrap="square">
            <a:spAutoFit/>
          </a:bodyPr>
          <a:lstStyle/>
          <a:p>
            <a:pPr marL="274320" indent="-274320">
              <a:spcAft>
                <a:spcPts val="600"/>
              </a:spcAft>
              <a:buChar char="•"/>
            </a:pPr>
            <a:r>
              <a:rPr sz="1800" b="0">
                <a:solidFill>
                  <a:srgbClr val="1A1A1A"/>
                </a:solidFill>
                <a:latin typeface="Arial"/>
              </a:rPr>
              <a:t>Why: the reference had no tree-based model; it trains fast on a GPU</a:t>
            </a:r>
          </a:p>
          <a:p>
            <a:pPr marL="274320" indent="-274320">
              <a:spcAft>
                <a:spcPts val="600"/>
              </a:spcAft>
              <a:buChar char="•"/>
            </a:pPr>
            <a:r>
              <a:rPr sz="1800" b="0">
                <a:solidFill>
                  <a:srgbClr val="1A1A1A"/>
                </a:solidFill>
                <a:latin typeface="Arial"/>
              </a:rPr>
              <a:t>Tuned 7 settings with Optuna Bayesian search, on validation only</a:t>
            </a:r>
          </a:p>
          <a:p>
            <a:pPr marL="274320" indent="-274320">
              <a:spcAft>
                <a:spcPts val="600"/>
              </a:spcAft>
              <a:buChar char="•"/>
            </a:pPr>
            <a:r>
              <a:rPr sz="1800" b="0">
                <a:solidFill>
                  <a:srgbClr val="1A1A1A"/>
                </a:solidFill>
                <a:latin typeface="Arial"/>
              </a:rPr>
              <a:t>Test set used once; first run was time-limited, so we retrained fully</a:t>
            </a:r>
          </a:p>
        </p:txBody>
      </p:sp>
      <p:graphicFrame>
        <p:nvGraphicFramePr>
          <p:cNvPr id="12" name="Table 11"/>
          <p:cNvGraphicFramePr>
            <a:graphicFrameLocks noGrp="1"/>
          </p:cNvGraphicFramePr>
          <p:nvPr/>
        </p:nvGraphicFramePr>
        <p:xfrm>
          <a:off x="2743200" y="2926080"/>
          <a:ext cx="5349240" cy="1828800"/>
        </p:xfrm>
        <a:graphic>
          <a:graphicData uri="http://schemas.openxmlformats.org/drawingml/2006/table">
            <a:tbl>
              <a:tblPr firstRow="1" bandRow="1">
                <a:tableStyleId>{5C22544A-7EE6-4342-B048-85BDC9FD1C3A}</a:tableStyleId>
              </a:tblPr>
              <a:tblGrid>
                <a:gridCol w="1143000"/>
                <a:gridCol w="2103120"/>
                <a:gridCol w="2103120"/>
              </a:tblGrid>
              <a:tr h="457200">
                <a:tc>
                  <a:txBody>
                    <a:bodyPr wrap="square"/>
                    <a:lstStyle/>
                    <a:p>
                      <a:pPr algn="l"/>
                      <a:r>
                        <a:rPr sz="1800" b="1">
                          <a:solidFill>
                            <a:srgbClr val="FFFFFF"/>
                          </a:solidFill>
                          <a:latin typeface="Arial"/>
                        </a:rPr>
                        <a:t>Classes</a:t>
                      </a:r>
                    </a:p>
                  </a:txBody>
                  <a:tcPr marL="73152" marR="73152" marT="36576" marB="36576" anchor="ctr">
                    <a:solidFill>
                      <a:srgbClr val="1F3A5F"/>
                    </a:solidFill>
                  </a:tcPr>
                </a:tc>
                <a:tc>
                  <a:txBody>
                    <a:bodyPr wrap="square"/>
                    <a:lstStyle/>
                    <a:p>
                      <a:pPr algn="ctr"/>
                      <a:r>
                        <a:rPr sz="1800" b="1">
                          <a:solidFill>
                            <a:srgbClr val="FFFFFF"/>
                          </a:solidFill>
                          <a:latin typeface="Arial"/>
                        </a:rPr>
                        <a:t>First run</a:t>
                      </a:r>
                    </a:p>
                    <a:p>
                      <a:pPr algn="ctr"/>
                      <a:r>
                        <a:rPr sz="1800" b="1">
                          <a:solidFill>
                            <a:srgbClr val="FFFFFF"/>
                          </a:solidFill>
                          <a:latin typeface="Arial"/>
                        </a:rPr>
                        <a:t>(time-limited)</a:t>
                      </a:r>
                    </a:p>
                    <a:p>
                      <a:pPr algn="ctr"/>
                      <a:r>
                        <a:rPr sz="1800" b="1">
                          <a:solidFill>
                            <a:srgbClr val="FFFFFF"/>
                          </a:solidFill>
                          <a:latin typeface="Arial"/>
                        </a:rPr>
                        <a:t>validation / test</a:t>
                      </a:r>
                    </a:p>
                  </a:txBody>
                  <a:tcPr marL="73152" marR="73152" marT="36576" marB="36576" anchor="ctr">
                    <a:solidFill>
                      <a:srgbClr val="1F3A5F"/>
                    </a:solidFill>
                  </a:tcPr>
                </a:tc>
                <a:tc>
                  <a:txBody>
                    <a:bodyPr wrap="square"/>
                    <a:lstStyle/>
                    <a:p>
                      <a:pPr algn="ctr"/>
                      <a:r>
                        <a:rPr sz="1800" b="1">
                          <a:solidFill>
                            <a:srgbClr val="FFFFFF"/>
                          </a:solidFill>
                          <a:latin typeface="Arial"/>
                        </a:rPr>
                        <a:t>Fully trained</a:t>
                      </a:r>
                    </a:p>
                    <a:p>
                      <a:pPr algn="ctr"/>
                      <a:r>
                        <a:rPr sz="1800" b="1">
                          <a:solidFill>
                            <a:srgbClr val="FFFFFF"/>
                          </a:solidFill>
                          <a:latin typeface="Arial"/>
                        </a:rPr>
                        <a:t/>
                      </a:r>
                    </a:p>
                    <a:p>
                      <a:pPr algn="ctr"/>
                      <a:r>
                        <a:rPr sz="1800" b="1">
                          <a:solidFill>
                            <a:srgbClr val="FFFFFF"/>
                          </a:solidFill>
                          <a:latin typeface="Arial"/>
                        </a:rPr>
                        <a:t>validation / test</a:t>
                      </a:r>
                    </a:p>
                  </a:txBody>
                  <a:tcPr marL="73152" marR="73152" marT="36576" marB="36576" anchor="ctr">
                    <a:solidFill>
                      <a:srgbClr val="1F3A5F"/>
                    </a:solidFill>
                  </a:tcPr>
                </a:tc>
              </a:tr>
              <a:tr h="457200">
                <a:tc>
                  <a:txBody>
                    <a:bodyPr wrap="square"/>
                    <a:lstStyle/>
                    <a:p>
                      <a:pPr algn="l"/>
                      <a:r>
                        <a:rPr sz="1800" b="0">
                          <a:solidFill>
                            <a:srgbClr val="1A1A1A"/>
                          </a:solidFill>
                          <a:latin typeface="Arial"/>
                        </a:rPr>
                        <a:t>3</a:t>
                      </a:r>
                    </a:p>
                  </a:txBody>
                  <a:tcPr marL="73152" marR="73152" marT="36576" marB="36576" anchor="ctr">
                    <a:solidFill>
                      <a:srgbClr val="FFFFFF"/>
                    </a:solidFill>
                  </a:tcPr>
                </a:tc>
                <a:tc>
                  <a:txBody>
                    <a:bodyPr wrap="square"/>
                    <a:lstStyle/>
                    <a:p>
                      <a:pPr algn="ctr"/>
                      <a:r>
                        <a:rPr sz="1800" b="0">
                          <a:solidFill>
                            <a:srgbClr val="1A1A1A"/>
                          </a:solidFill>
                          <a:latin typeface="Arial"/>
                        </a:rPr>
                        <a:t>91.7 / 90.8</a:t>
                      </a:r>
                    </a:p>
                  </a:txBody>
                  <a:tcPr marL="73152" marR="73152" marT="36576" marB="36576" anchor="ctr">
                    <a:solidFill>
                      <a:srgbClr val="FFFFFF"/>
                    </a:solidFill>
                  </a:tcPr>
                </a:tc>
                <a:tc>
                  <a:txBody>
                    <a:bodyPr wrap="square"/>
                    <a:lstStyle/>
                    <a:p>
                      <a:pPr algn="ctr"/>
                      <a:r>
                        <a:rPr sz="1800" b="0">
                          <a:solidFill>
                            <a:srgbClr val="1A1A1A"/>
                          </a:solidFill>
                          <a:latin typeface="Arial"/>
                        </a:rPr>
                        <a:t>91.7 / 90.8</a:t>
                      </a:r>
                    </a:p>
                  </a:txBody>
                  <a:tcPr marL="73152" marR="73152" marT="36576" marB="36576" anchor="ctr">
                    <a:solidFill>
                      <a:srgbClr val="FFFFFF"/>
                    </a:solidFill>
                  </a:tcPr>
                </a:tc>
              </a:tr>
              <a:tr h="457200">
                <a:tc>
                  <a:txBody>
                    <a:bodyPr wrap="square"/>
                    <a:lstStyle/>
                    <a:p>
                      <a:pPr algn="l"/>
                      <a:r>
                        <a:rPr sz="1800" b="0">
                          <a:solidFill>
                            <a:srgbClr val="1A1A1A"/>
                          </a:solidFill>
                          <a:latin typeface="Arial"/>
                        </a:rPr>
                        <a:t>10</a:t>
                      </a:r>
                    </a:p>
                  </a:txBody>
                  <a:tcPr marL="73152" marR="73152" marT="36576" marB="36576" anchor="ctr">
                    <a:solidFill>
                      <a:srgbClr val="F2F4F7"/>
                    </a:solidFill>
                  </a:tcPr>
                </a:tc>
                <a:tc>
                  <a:txBody>
                    <a:bodyPr wrap="square"/>
                    <a:lstStyle/>
                    <a:p>
                      <a:pPr algn="ctr"/>
                      <a:r>
                        <a:rPr sz="1800" b="0">
                          <a:solidFill>
                            <a:srgbClr val="1A1A1A"/>
                          </a:solidFill>
                          <a:latin typeface="Arial"/>
                        </a:rPr>
                        <a:t>89.8 / 89.7</a:t>
                      </a:r>
                    </a:p>
                  </a:txBody>
                  <a:tcPr marL="73152" marR="73152" marT="36576" marB="36576" anchor="ctr">
                    <a:solidFill>
                      <a:srgbClr val="F2F4F7"/>
                    </a:solidFill>
                  </a:tcPr>
                </a:tc>
                <a:tc>
                  <a:txBody>
                    <a:bodyPr wrap="square"/>
                    <a:lstStyle/>
                    <a:p>
                      <a:pPr algn="ctr"/>
                      <a:r>
                        <a:rPr sz="1800" b="0">
                          <a:solidFill>
                            <a:srgbClr val="1A1A1A"/>
                          </a:solidFill>
                          <a:latin typeface="Arial"/>
                        </a:rPr>
                        <a:t>89.8 / 89.8</a:t>
                      </a:r>
                    </a:p>
                  </a:txBody>
                  <a:tcPr marL="73152" marR="73152" marT="36576" marB="36576" anchor="ctr">
                    <a:solidFill>
                      <a:srgbClr val="F2F4F7"/>
                    </a:solidFill>
                  </a:tcPr>
                </a:tc>
              </a:tr>
              <a:tr h="457200">
                <a:tc>
                  <a:txBody>
                    <a:bodyPr wrap="square"/>
                    <a:lstStyle/>
                    <a:p>
                      <a:pPr algn="l"/>
                      <a:r>
                        <a:rPr sz="1800" b="0">
                          <a:solidFill>
                            <a:srgbClr val="1A1A1A"/>
                          </a:solidFill>
                          <a:latin typeface="Arial"/>
                        </a:rPr>
                        <a:t>50</a:t>
                      </a:r>
                    </a:p>
                  </a:txBody>
                  <a:tcPr marL="73152" marR="73152" marT="36576" marB="36576" anchor="ctr">
                    <a:solidFill>
                      <a:srgbClr val="FFFFFF"/>
                    </a:solidFill>
                  </a:tcPr>
                </a:tc>
                <a:tc>
                  <a:txBody>
                    <a:bodyPr wrap="square"/>
                    <a:lstStyle/>
                    <a:p>
                      <a:pPr algn="ctr"/>
                      <a:r>
                        <a:rPr sz="1800" b="0">
                          <a:solidFill>
                            <a:srgbClr val="1A1A1A"/>
                          </a:solidFill>
                          <a:latin typeface="Arial"/>
                        </a:rPr>
                        <a:t>77.4 / 77.4</a:t>
                      </a:r>
                    </a:p>
                  </a:txBody>
                  <a:tcPr marL="73152" marR="73152" marT="36576" marB="36576" anchor="ctr">
                    <a:solidFill>
                      <a:srgbClr val="FFFFFF"/>
                    </a:solidFill>
                  </a:tcPr>
                </a:tc>
                <a:tc>
                  <a:txBody>
                    <a:bodyPr wrap="square"/>
                    <a:lstStyle/>
                    <a:p>
                      <a:pPr algn="ctr"/>
                      <a:r>
                        <a:rPr sz="1800" b="0">
                          <a:solidFill>
                            <a:srgbClr val="1A1A1A"/>
                          </a:solidFill>
                          <a:latin typeface="Arial"/>
                        </a:rPr>
                        <a:t>78.0 / 77.9</a:t>
                      </a:r>
                    </a:p>
                  </a:txBody>
                  <a:tcPr marL="73152" marR="73152" marT="36576" marB="36576" anchor="ctr">
                    <a:solidFill>
                      <a:srgbClr val="FFFFFF"/>
                    </a:solidFill>
                  </a:tcPr>
                </a:tc>
              </a:tr>
            </a:tbl>
          </a:graphicData>
        </a:graphic>
      </p:graphicFrame>
      <p:pic>
        <p:nvPicPr>
          <p:cNvPr id="13" name="Picture 12" descr="xgb_50_learning_curve.png"/>
          <p:cNvPicPr>
            <a:picLocks noChangeAspect="1"/>
          </p:cNvPicPr>
          <p:nvPr/>
        </p:nvPicPr>
        <p:blipFill>
          <a:blip r:embed="rId2"/>
          <a:stretch>
            <a:fillRect/>
          </a:stretch>
        </p:blipFill>
        <p:spPr>
          <a:xfrm>
            <a:off x="8138160" y="2926080"/>
            <a:ext cx="3520440" cy="2651760"/>
          </a:xfrm>
          <a:prstGeom prst="rect">
            <a:avLst/>
          </a:prstGeom>
        </p:spPr>
      </p:pic>
      <p:sp>
        <p:nvSpPr>
          <p:cNvPr id="14" name="TextBox 13"/>
          <p:cNvSpPr txBox="1"/>
          <p:nvPr/>
        </p:nvSpPr>
        <p:spPr>
          <a:xfrm>
            <a:off x="548640" y="5870448"/>
            <a:ext cx="11064240" cy="457200"/>
          </a:xfrm>
          <a:prstGeom prst="rect">
            <a:avLst/>
          </a:prstGeom>
          <a:noFill/>
        </p:spPr>
        <p:txBody>
          <a:bodyPr wrap="square">
            <a:spAutoFit/>
          </a:bodyPr>
          <a:lstStyle/>
          <a:p>
            <a:r>
              <a:rPr sz="1800" b="1">
                <a:solidFill>
                  <a:srgbClr val="1F3A5F"/>
                </a:solidFill>
                <a:latin typeface="Arial"/>
              </a:rPr>
              <a:t>Takeaway: more training gained only +0.5 points (test); XGBoost hits a ceiling around 78%.</a:t>
            </a:r>
          </a:p>
        </p:txBody>
      </p:sp>
      <p:sp>
        <p:nvSpPr>
          <p:cNvPr id="15" name="TextBox 14"/>
          <p:cNvSpPr txBox="1"/>
          <p:nvPr/>
        </p:nvSpPr>
        <p:spPr>
          <a:xfrm>
            <a:off x="548640" y="6446520"/>
            <a:ext cx="9144000" cy="274320"/>
          </a:xfrm>
          <a:prstGeom prst="rect">
            <a:avLst/>
          </a:prstGeom>
          <a:noFill/>
        </p:spPr>
        <p:txBody>
          <a:bodyPr wrap="square" anchor="t">
            <a:spAutoFit/>
          </a:bodyPr>
          <a:lstStyle/>
          <a:p>
            <a:pPr algn="l"/>
            <a:r>
              <a:rPr sz="1000" b="0">
                <a:solidFill>
                  <a:srgbClr val="5A5A5A"/>
                </a:solidFill>
                <a:latin typeface="Arial"/>
              </a:rPr>
              <a:t>Drawing: A New Way To Search — Reproduce &amp; Extend</a:t>
            </a:r>
          </a:p>
        </p:txBody>
      </p:sp>
      <p:sp>
        <p:nvSpPr>
          <p:cNvPr id="16" name="TextBox 15"/>
          <p:cNvSpPr txBox="1"/>
          <p:nvPr/>
        </p:nvSpPr>
        <p:spPr>
          <a:xfrm>
            <a:off x="10698480" y="6446520"/>
            <a:ext cx="914400" cy="274320"/>
          </a:xfrm>
          <a:prstGeom prst="rect">
            <a:avLst/>
          </a:prstGeom>
          <a:noFill/>
        </p:spPr>
        <p:txBody>
          <a:bodyPr wrap="square" anchor="t">
            <a:spAutoFit/>
          </a:bodyPr>
          <a:lstStyle/>
          <a:p>
            <a:pPr algn="r"/>
            <a:r>
              <a:rPr sz="1000" b="0">
                <a:solidFill>
                  <a:srgbClr val="5A5A5A"/>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182880"/>
            <a:ext cx="11064240" cy="960120"/>
          </a:xfrm>
          <a:prstGeom prst="rect">
            <a:avLst/>
          </a:prstGeom>
          <a:noFill/>
        </p:spPr>
        <p:txBody>
          <a:bodyPr wrap="square" anchor="ctr">
            <a:spAutoFit/>
          </a:bodyPr>
          <a:lstStyle/>
          <a:p>
            <a:pPr algn="l"/>
            <a:r>
              <a:rPr sz="2800" b="1">
                <a:solidFill>
                  <a:srgbClr val="1F3A5F"/>
                </a:solidFill>
                <a:latin typeface="Arial"/>
              </a:rPr>
              <a:t>All models compared: the CNN wins on 50 classes, accurately and fast</a:t>
            </a:r>
          </a:p>
        </p:txBody>
      </p:sp>
      <p:pic>
        <p:nvPicPr>
          <p:cNvPr id="3" name="Picture 2" descr="acc_vs_time_50_classes.png"/>
          <p:cNvPicPr>
            <a:picLocks noChangeAspect="1"/>
          </p:cNvPicPr>
          <p:nvPr/>
        </p:nvPicPr>
        <p:blipFill>
          <a:blip r:embed="rId2"/>
          <a:stretch>
            <a:fillRect/>
          </a:stretch>
        </p:blipFill>
        <p:spPr>
          <a:xfrm>
            <a:off x="548640" y="1188720"/>
            <a:ext cx="11064239" cy="2331720"/>
          </a:xfrm>
          <a:prstGeom prst="rect">
            <a:avLst/>
          </a:prstGeom>
        </p:spPr>
      </p:pic>
      <p:graphicFrame>
        <p:nvGraphicFramePr>
          <p:cNvPr id="4" name="Table 3"/>
          <p:cNvGraphicFramePr>
            <a:graphicFrameLocks noGrp="1"/>
          </p:cNvGraphicFramePr>
          <p:nvPr/>
        </p:nvGraphicFramePr>
        <p:xfrm>
          <a:off x="548640" y="3566160"/>
          <a:ext cx="11064240" cy="1536192"/>
        </p:xfrm>
        <a:graphic>
          <a:graphicData uri="http://schemas.openxmlformats.org/drawingml/2006/table">
            <a:tbl>
              <a:tblPr firstRow="1" bandRow="1">
                <a:tableStyleId>{5C22544A-7EE6-4342-B048-85BDC9FD1C3A}</a:tableStyleId>
              </a:tblPr>
              <a:tblGrid>
                <a:gridCol w="1097280"/>
                <a:gridCol w="1737360"/>
                <a:gridCol w="2057400"/>
                <a:gridCol w="2011680"/>
                <a:gridCol w="2011680"/>
                <a:gridCol w="2148840"/>
              </a:tblGrid>
              <a:tr h="384048">
                <a:tc>
                  <a:txBody>
                    <a:bodyPr wrap="square"/>
                    <a:lstStyle/>
                    <a:p>
                      <a:pPr algn="l"/>
                      <a:r>
                        <a:rPr sz="1800" b="1">
                          <a:solidFill>
                            <a:srgbClr val="FFFFFF"/>
                          </a:solidFill>
                          <a:latin typeface="Arial"/>
                        </a:rPr>
                        <a:t>Classes</a:t>
                      </a:r>
                    </a:p>
                  </a:txBody>
                  <a:tcPr marL="73152" marR="73152" marT="36576" marB="36576" anchor="ctr">
                    <a:solidFill>
                      <a:srgbClr val="1F3A5F"/>
                    </a:solidFill>
                  </a:tcPr>
                </a:tc>
                <a:tc>
                  <a:txBody>
                    <a:bodyPr wrap="square"/>
                    <a:lstStyle/>
                    <a:p>
                      <a:pPr algn="ctr"/>
                      <a:r>
                        <a:rPr sz="1800" b="1">
                          <a:solidFill>
                            <a:srgbClr val="FFFFFF"/>
                          </a:solidFill>
                          <a:latin typeface="Arial"/>
                        </a:rPr>
                        <a:t>Logistic</a:t>
                      </a:r>
                    </a:p>
                    <a:p>
                      <a:pPr algn="ctr"/>
                      <a:r>
                        <a:rPr sz="1800" b="1">
                          <a:solidFill>
                            <a:srgbClr val="FFFFFF"/>
                          </a:solidFill>
                          <a:latin typeface="Arial"/>
                        </a:rPr>
                        <a:t>Regression</a:t>
                      </a:r>
                    </a:p>
                  </a:txBody>
                  <a:tcPr marL="73152" marR="73152" marT="36576" marB="36576" anchor="ctr">
                    <a:solidFill>
                      <a:srgbClr val="1F3A5F"/>
                    </a:solidFill>
                  </a:tcPr>
                </a:tc>
                <a:tc>
                  <a:txBody>
                    <a:bodyPr wrap="square"/>
                    <a:lstStyle/>
                    <a:p>
                      <a:pPr algn="ctr"/>
                      <a:r>
                        <a:rPr sz="1800" b="1">
                          <a:solidFill>
                            <a:srgbClr val="FFFFFF"/>
                          </a:solidFill>
                          <a:latin typeface="Arial"/>
                        </a:rPr>
                        <a:t>SVM</a:t>
                      </a:r>
                    </a:p>
                  </a:txBody>
                  <a:tcPr marL="73152" marR="73152" marT="36576" marB="36576" anchor="ctr">
                    <a:solidFill>
                      <a:srgbClr val="1F3A5F"/>
                    </a:solidFill>
                  </a:tcPr>
                </a:tc>
                <a:tc>
                  <a:txBody>
                    <a:bodyPr wrap="square"/>
                    <a:lstStyle/>
                    <a:p>
                      <a:pPr algn="ctr"/>
                      <a:r>
                        <a:rPr sz="1800" b="1">
                          <a:solidFill>
                            <a:srgbClr val="FFFFFF"/>
                          </a:solidFill>
                          <a:latin typeface="Arial"/>
                        </a:rPr>
                        <a:t>CNN</a:t>
                      </a:r>
                    </a:p>
                  </a:txBody>
                  <a:tcPr marL="73152" marR="73152" marT="36576" marB="36576" anchor="ctr">
                    <a:solidFill>
                      <a:srgbClr val="1F3A5F"/>
                    </a:solidFill>
                  </a:tcPr>
                </a:tc>
                <a:tc>
                  <a:txBody>
                    <a:bodyPr wrap="square"/>
                    <a:lstStyle/>
                    <a:p>
                      <a:pPr algn="ctr"/>
                      <a:r>
                        <a:rPr sz="1800" b="1">
                          <a:solidFill>
                            <a:srgbClr val="FFFFFF"/>
                          </a:solidFill>
                          <a:latin typeface="Arial"/>
                        </a:rPr>
                        <a:t>Transfer</a:t>
                      </a:r>
                    </a:p>
                    <a:p>
                      <a:pPr algn="ctr"/>
                      <a:r>
                        <a:rPr sz="1800" b="1">
                          <a:solidFill>
                            <a:srgbClr val="FFFFFF"/>
                          </a:solidFill>
                          <a:latin typeface="Arial"/>
                        </a:rPr>
                        <a:t>learning</a:t>
                      </a:r>
                    </a:p>
                  </a:txBody>
                  <a:tcPr marL="73152" marR="73152" marT="36576" marB="36576" anchor="ctr">
                    <a:solidFill>
                      <a:srgbClr val="1F3A5F"/>
                    </a:solidFill>
                  </a:tcPr>
                </a:tc>
                <a:tc>
                  <a:txBody>
                    <a:bodyPr wrap="square"/>
                    <a:lstStyle/>
                    <a:p>
                      <a:pPr algn="ctr"/>
                      <a:r>
                        <a:rPr sz="1800" b="1">
                          <a:solidFill>
                            <a:srgbClr val="FFFFFF"/>
                          </a:solidFill>
                          <a:latin typeface="Arial"/>
                        </a:rPr>
                        <a:t>XGBoost</a:t>
                      </a:r>
                    </a:p>
                  </a:txBody>
                  <a:tcPr marL="73152" marR="73152" marT="36576" marB="36576" anchor="ctr">
                    <a:solidFill>
                      <a:srgbClr val="1F3A5F"/>
                    </a:solidFill>
                  </a:tcPr>
                </a:tc>
              </a:tr>
              <a:tr h="384048">
                <a:tc>
                  <a:txBody>
                    <a:bodyPr wrap="square"/>
                    <a:lstStyle/>
                    <a:p>
                      <a:pPr algn="l"/>
                      <a:r>
                        <a:rPr sz="1800" b="0">
                          <a:solidFill>
                            <a:srgbClr val="1A1A1A"/>
                          </a:solidFill>
                          <a:latin typeface="Arial"/>
                        </a:rPr>
                        <a:t>3</a:t>
                      </a:r>
                    </a:p>
                  </a:txBody>
                  <a:tcPr marL="73152" marR="73152" marT="36576" marB="36576" anchor="ctr">
                    <a:solidFill>
                      <a:srgbClr val="FFFFFF"/>
                    </a:solidFill>
                  </a:tcPr>
                </a:tc>
                <a:tc>
                  <a:txBody>
                    <a:bodyPr wrap="square"/>
                    <a:lstStyle/>
                    <a:p>
                      <a:pPr algn="ctr"/>
                      <a:r>
                        <a:rPr sz="1800" b="0">
                          <a:solidFill>
                            <a:srgbClr val="1A1A1A"/>
                          </a:solidFill>
                          <a:latin typeface="Arial"/>
                        </a:rPr>
                        <a:t>79.3% · 20 s</a:t>
                      </a:r>
                    </a:p>
                  </a:txBody>
                  <a:tcPr marL="73152" marR="73152" marT="36576" marB="36576" anchor="ctr">
                    <a:solidFill>
                      <a:srgbClr val="FFFFFF"/>
                    </a:solidFill>
                  </a:tcPr>
                </a:tc>
                <a:tc>
                  <a:txBody>
                    <a:bodyPr wrap="square"/>
                    <a:lstStyle/>
                    <a:p>
                      <a:pPr algn="ctr"/>
                      <a:r>
                        <a:rPr sz="1800" b="0">
                          <a:solidFill>
                            <a:srgbClr val="1A1A1A"/>
                          </a:solidFill>
                          <a:latin typeface="Arial"/>
                        </a:rPr>
                        <a:t>84.0% · 41 s</a:t>
                      </a:r>
                    </a:p>
                  </a:txBody>
                  <a:tcPr marL="73152" marR="73152" marT="36576" marB="36576" anchor="ctr">
                    <a:solidFill>
                      <a:srgbClr val="FFFFFF"/>
                    </a:solidFill>
                  </a:tcPr>
                </a:tc>
                <a:tc>
                  <a:txBody>
                    <a:bodyPr wrap="square"/>
                    <a:lstStyle/>
                    <a:p>
                      <a:pPr algn="ctr"/>
                      <a:r>
                        <a:rPr sz="1800" b="0">
                          <a:solidFill>
                            <a:srgbClr val="1A1A1A"/>
                          </a:solidFill>
                          <a:latin typeface="Arial"/>
                        </a:rPr>
                        <a:t>91.7% · 38 s</a:t>
                      </a:r>
                    </a:p>
                  </a:txBody>
                  <a:tcPr marL="73152" marR="73152" marT="36576" marB="36576" anchor="ctr">
                    <a:solidFill>
                      <a:srgbClr val="FFFFFF"/>
                    </a:solidFill>
                  </a:tcPr>
                </a:tc>
                <a:tc>
                  <a:txBody>
                    <a:bodyPr wrap="square"/>
                    <a:lstStyle/>
                    <a:p>
                      <a:pPr algn="ctr"/>
                      <a:r>
                        <a:rPr sz="1800" b="0">
                          <a:solidFill>
                            <a:srgbClr val="1A1A1A"/>
                          </a:solidFill>
                          <a:latin typeface="Arial"/>
                        </a:rPr>
                        <a:t>95.4% · 3.5 min</a:t>
                      </a:r>
                    </a:p>
                  </a:txBody>
                  <a:tcPr marL="73152" marR="73152" marT="36576" marB="36576" anchor="ctr">
                    <a:solidFill>
                      <a:srgbClr val="FFFFFF"/>
                    </a:solidFill>
                  </a:tcPr>
                </a:tc>
                <a:tc>
                  <a:txBody>
                    <a:bodyPr wrap="square"/>
                    <a:lstStyle/>
                    <a:p>
                      <a:pPr algn="ctr"/>
                      <a:r>
                        <a:rPr sz="1800" b="0">
                          <a:solidFill>
                            <a:srgbClr val="1A1A1A"/>
                          </a:solidFill>
                          <a:latin typeface="Arial"/>
                        </a:rPr>
                        <a:t>91.7% · 57 s</a:t>
                      </a:r>
                    </a:p>
                  </a:txBody>
                  <a:tcPr marL="73152" marR="73152" marT="36576" marB="36576" anchor="ctr">
                    <a:solidFill>
                      <a:srgbClr val="FFFFFF"/>
                    </a:solidFill>
                  </a:tcPr>
                </a:tc>
              </a:tr>
              <a:tr h="384048">
                <a:tc>
                  <a:txBody>
                    <a:bodyPr wrap="square"/>
                    <a:lstStyle/>
                    <a:p>
                      <a:pPr algn="l"/>
                      <a:r>
                        <a:rPr sz="1800" b="0">
                          <a:solidFill>
                            <a:srgbClr val="1A1A1A"/>
                          </a:solidFill>
                          <a:latin typeface="Arial"/>
                        </a:rPr>
                        <a:t>10</a:t>
                      </a:r>
                    </a:p>
                  </a:txBody>
                  <a:tcPr marL="73152" marR="73152" marT="36576" marB="36576" anchor="ctr">
                    <a:solidFill>
                      <a:srgbClr val="F2F4F7"/>
                    </a:solidFill>
                  </a:tcPr>
                </a:tc>
                <a:tc>
                  <a:txBody>
                    <a:bodyPr wrap="square"/>
                    <a:lstStyle/>
                    <a:p>
                      <a:pPr algn="ctr"/>
                      <a:r>
                        <a:rPr sz="1800" b="0">
                          <a:solidFill>
                            <a:srgbClr val="1A1A1A"/>
                          </a:solidFill>
                          <a:latin typeface="Arial"/>
                        </a:rPr>
                        <a:t>65.8% · 20 s</a:t>
                      </a:r>
                    </a:p>
                  </a:txBody>
                  <a:tcPr marL="73152" marR="73152" marT="36576" marB="36576" anchor="ctr">
                    <a:solidFill>
                      <a:srgbClr val="F2F4F7"/>
                    </a:solidFill>
                  </a:tcPr>
                </a:tc>
                <a:tc>
                  <a:txBody>
                    <a:bodyPr wrap="square"/>
                    <a:lstStyle/>
                    <a:p>
                      <a:pPr algn="ctr"/>
                      <a:r>
                        <a:rPr sz="1800" b="0">
                          <a:solidFill>
                            <a:srgbClr val="1A1A1A"/>
                          </a:solidFill>
                          <a:latin typeface="Arial"/>
                        </a:rPr>
                        <a:t>74.6% · 10.9 min</a:t>
                      </a:r>
                    </a:p>
                  </a:txBody>
                  <a:tcPr marL="73152" marR="73152" marT="36576" marB="36576" anchor="ctr">
                    <a:solidFill>
                      <a:srgbClr val="F2F4F7"/>
                    </a:solidFill>
                  </a:tcPr>
                </a:tc>
                <a:tc>
                  <a:txBody>
                    <a:bodyPr wrap="square"/>
                    <a:lstStyle/>
                    <a:p>
                      <a:pPr algn="ctr"/>
                      <a:r>
                        <a:rPr sz="1800" b="0">
                          <a:solidFill>
                            <a:srgbClr val="1A1A1A"/>
                          </a:solidFill>
                          <a:latin typeface="Arial"/>
                        </a:rPr>
                        <a:t>88.8% · 1.8 min</a:t>
                      </a:r>
                    </a:p>
                  </a:txBody>
                  <a:tcPr marL="73152" marR="73152" marT="36576" marB="36576" anchor="ctr">
                    <a:solidFill>
                      <a:srgbClr val="F2F4F7"/>
                    </a:solidFill>
                  </a:tcPr>
                </a:tc>
                <a:tc>
                  <a:txBody>
                    <a:bodyPr wrap="square"/>
                    <a:lstStyle/>
                    <a:p>
                      <a:pPr algn="ctr"/>
                      <a:r>
                        <a:rPr sz="1800" b="0">
                          <a:solidFill>
                            <a:srgbClr val="1A1A1A"/>
                          </a:solidFill>
                          <a:latin typeface="Arial"/>
                        </a:rPr>
                        <a:t>—</a:t>
                      </a:r>
                    </a:p>
                  </a:txBody>
                  <a:tcPr marL="73152" marR="73152" marT="36576" marB="36576" anchor="ctr">
                    <a:solidFill>
                      <a:srgbClr val="F2F4F7"/>
                    </a:solidFill>
                  </a:tcPr>
                </a:tc>
                <a:tc>
                  <a:txBody>
                    <a:bodyPr wrap="square"/>
                    <a:lstStyle/>
                    <a:p>
                      <a:pPr algn="ctr"/>
                      <a:r>
                        <a:rPr sz="1800" b="0">
                          <a:solidFill>
                            <a:srgbClr val="1A1A1A"/>
                          </a:solidFill>
                          <a:latin typeface="Arial"/>
                        </a:rPr>
                        <a:t>89.8% · 8.1 min</a:t>
                      </a:r>
                    </a:p>
                  </a:txBody>
                  <a:tcPr marL="73152" marR="73152" marT="36576" marB="36576" anchor="ctr">
                    <a:solidFill>
                      <a:srgbClr val="F2F4F7"/>
                    </a:solidFill>
                  </a:tcPr>
                </a:tc>
              </a:tr>
              <a:tr h="384048">
                <a:tc>
                  <a:txBody>
                    <a:bodyPr wrap="square"/>
                    <a:lstStyle/>
                    <a:p>
                      <a:pPr algn="l"/>
                      <a:r>
                        <a:rPr sz="1800" b="0">
                          <a:solidFill>
                            <a:srgbClr val="1A1A1A"/>
                          </a:solidFill>
                          <a:latin typeface="Arial"/>
                        </a:rPr>
                        <a:t>50</a:t>
                      </a:r>
                    </a:p>
                  </a:txBody>
                  <a:tcPr marL="73152" marR="73152" marT="36576" marB="36576" anchor="ctr">
                    <a:solidFill>
                      <a:srgbClr val="FFFFFF"/>
                    </a:solidFill>
                  </a:tcPr>
                </a:tc>
                <a:tc>
                  <a:txBody>
                    <a:bodyPr wrap="square"/>
                    <a:lstStyle/>
                    <a:p>
                      <a:pPr algn="ctr"/>
                      <a:r>
                        <a:rPr sz="1800" b="0">
                          <a:solidFill>
                            <a:srgbClr val="1A1A1A"/>
                          </a:solidFill>
                          <a:latin typeface="Arial"/>
                        </a:rPr>
                        <a:t>43.3% · 86 s</a:t>
                      </a:r>
                    </a:p>
                  </a:txBody>
                  <a:tcPr marL="73152" marR="73152" marT="36576" marB="36576" anchor="ctr">
                    <a:solidFill>
                      <a:srgbClr val="FFFFFF"/>
                    </a:solidFill>
                  </a:tcPr>
                </a:tc>
                <a:tc>
                  <a:txBody>
                    <a:bodyPr wrap="square"/>
                    <a:lstStyle/>
                    <a:p>
                      <a:pPr algn="ctr"/>
                      <a:r>
                        <a:rPr sz="1800" b="0">
                          <a:solidFill>
                            <a:srgbClr val="1A1A1A"/>
                          </a:solidFill>
                          <a:latin typeface="Arial"/>
                        </a:rPr>
                        <a:t>—</a:t>
                      </a:r>
                    </a:p>
                  </a:txBody>
                  <a:tcPr marL="73152" marR="73152" marT="36576" marB="36576" anchor="ctr">
                    <a:solidFill>
                      <a:srgbClr val="FFFFFF"/>
                    </a:solidFill>
                  </a:tcPr>
                </a:tc>
                <a:tc>
                  <a:txBody>
                    <a:bodyPr wrap="square"/>
                    <a:lstStyle/>
                    <a:p>
                      <a:pPr algn="ctr"/>
                      <a:r>
                        <a:rPr sz="1800" b="0">
                          <a:solidFill>
                            <a:srgbClr val="1A1A1A"/>
                          </a:solidFill>
                          <a:latin typeface="Arial"/>
                        </a:rPr>
                        <a:t>81.2% · 7.2 min</a:t>
                      </a:r>
                    </a:p>
                  </a:txBody>
                  <a:tcPr marL="73152" marR="73152" marT="36576" marB="36576" anchor="ctr">
                    <a:solidFill>
                      <a:srgbClr val="FFFFFF"/>
                    </a:solidFill>
                  </a:tcPr>
                </a:tc>
                <a:tc>
                  <a:txBody>
                    <a:bodyPr wrap="square"/>
                    <a:lstStyle/>
                    <a:p>
                      <a:pPr algn="ctr"/>
                      <a:r>
                        <a:rPr sz="1800" b="0">
                          <a:solidFill>
                            <a:srgbClr val="1A1A1A"/>
                          </a:solidFill>
                          <a:latin typeface="Arial"/>
                        </a:rPr>
                        <a:t>—</a:t>
                      </a:r>
                    </a:p>
                  </a:txBody>
                  <a:tcPr marL="73152" marR="73152" marT="36576" marB="36576" anchor="ctr">
                    <a:solidFill>
                      <a:srgbClr val="FFFFFF"/>
                    </a:solidFill>
                  </a:tcPr>
                </a:tc>
                <a:tc>
                  <a:txBody>
                    <a:bodyPr wrap="square"/>
                    <a:lstStyle/>
                    <a:p>
                      <a:pPr algn="ctr"/>
                      <a:r>
                        <a:rPr sz="1800" b="0">
                          <a:solidFill>
                            <a:srgbClr val="1A1A1A"/>
                          </a:solidFill>
                          <a:latin typeface="Arial"/>
                        </a:rPr>
                        <a:t>78.0% · 119.9 min</a:t>
                      </a:r>
                    </a:p>
                  </a:txBody>
                  <a:tcPr marL="73152" marR="73152" marT="36576" marB="36576" anchor="ctr">
                    <a:solidFill>
                      <a:srgbClr val="FFFFFF"/>
                    </a:solidFill>
                  </a:tcPr>
                </a:tc>
              </a:tr>
            </a:tbl>
          </a:graphicData>
        </a:graphic>
      </p:graphicFrame>
      <p:sp>
        <p:nvSpPr>
          <p:cNvPr id="5" name="TextBox 4"/>
          <p:cNvSpPr txBox="1"/>
          <p:nvPr/>
        </p:nvSpPr>
        <p:spPr>
          <a:xfrm>
            <a:off x="548640" y="5532120"/>
            <a:ext cx="11064240" cy="320040"/>
          </a:xfrm>
          <a:prstGeom prst="rect">
            <a:avLst/>
          </a:prstGeom>
          <a:noFill/>
        </p:spPr>
        <p:txBody>
          <a:bodyPr wrap="square" anchor="t">
            <a:spAutoFit/>
          </a:bodyPr>
          <a:lstStyle/>
          <a:p>
            <a:pPr algn="l"/>
            <a:r>
              <a:rPr sz="1400" b="0">
                <a:solidFill>
                  <a:srgbClr val="5A5A5A"/>
                </a:solidFill>
                <a:latin typeface="Arial"/>
              </a:rPr>
              <a:t>Best model per family, validation %. — = not run in the reference (SVM: 3 and 10 classes; transfer learning: 3 classes).</a:t>
            </a:r>
          </a:p>
        </p:txBody>
      </p:sp>
      <p:sp>
        <p:nvSpPr>
          <p:cNvPr id="6" name="TextBox 5"/>
          <p:cNvSpPr txBox="1"/>
          <p:nvPr/>
        </p:nvSpPr>
        <p:spPr>
          <a:xfrm>
            <a:off x="548640" y="5870448"/>
            <a:ext cx="11064240" cy="457200"/>
          </a:xfrm>
          <a:prstGeom prst="rect">
            <a:avLst/>
          </a:prstGeom>
          <a:noFill/>
        </p:spPr>
        <p:txBody>
          <a:bodyPr wrap="square">
            <a:spAutoFit/>
          </a:bodyPr>
          <a:lstStyle/>
          <a:p>
            <a:r>
              <a:rPr sz="1800" b="1">
                <a:solidFill>
                  <a:srgbClr val="1F3A5F"/>
                </a:solidFill>
                <a:latin typeface="Arial"/>
              </a:rPr>
              <a:t>Takeaway: simple models fall off as classes grow; CNNs scale best.</a:t>
            </a:r>
          </a:p>
        </p:txBody>
      </p:sp>
      <p:sp>
        <p:nvSpPr>
          <p:cNvPr id="7" name="TextBox 6"/>
          <p:cNvSpPr txBox="1"/>
          <p:nvPr/>
        </p:nvSpPr>
        <p:spPr>
          <a:xfrm>
            <a:off x="548640" y="6446520"/>
            <a:ext cx="9144000" cy="274320"/>
          </a:xfrm>
          <a:prstGeom prst="rect">
            <a:avLst/>
          </a:prstGeom>
          <a:noFill/>
        </p:spPr>
        <p:txBody>
          <a:bodyPr wrap="square" anchor="t">
            <a:spAutoFit/>
          </a:bodyPr>
          <a:lstStyle/>
          <a:p>
            <a:pPr algn="l"/>
            <a:r>
              <a:rPr sz="1000" b="0">
                <a:solidFill>
                  <a:srgbClr val="5A5A5A"/>
                </a:solidFill>
                <a:latin typeface="Arial"/>
              </a:rPr>
              <a:t>Drawing: A New Way To Search — Reproduce &amp; Extend</a:t>
            </a:r>
          </a:p>
        </p:txBody>
      </p:sp>
      <p:sp>
        <p:nvSpPr>
          <p:cNvPr id="8" name="TextBox 7"/>
          <p:cNvSpPr txBox="1"/>
          <p:nvPr/>
        </p:nvSpPr>
        <p:spPr>
          <a:xfrm>
            <a:off x="10698480" y="6446520"/>
            <a:ext cx="914400" cy="274320"/>
          </a:xfrm>
          <a:prstGeom prst="rect">
            <a:avLst/>
          </a:prstGeom>
          <a:noFill/>
        </p:spPr>
        <p:txBody>
          <a:bodyPr wrap="square" anchor="t">
            <a:spAutoFit/>
          </a:bodyPr>
          <a:lstStyle/>
          <a:p>
            <a:pPr algn="r"/>
            <a:r>
              <a:rPr sz="1000" b="0">
                <a:solidFill>
                  <a:srgbClr val="5A5A5A"/>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182880"/>
            <a:ext cx="11064240" cy="960120"/>
          </a:xfrm>
          <a:prstGeom prst="rect">
            <a:avLst/>
          </a:prstGeom>
          <a:noFill/>
        </p:spPr>
        <p:txBody>
          <a:bodyPr wrap="square" anchor="ctr">
            <a:spAutoFit/>
          </a:bodyPr>
          <a:lstStyle/>
          <a:p>
            <a:pPr algn="l"/>
            <a:r>
              <a:rPr sz="2800" b="1">
                <a:solidFill>
                  <a:srgbClr val="1F3A5F"/>
                </a:solidFill>
                <a:latin typeface="Arial"/>
              </a:rPr>
              <a:t>What we learned</a:t>
            </a:r>
          </a:p>
        </p:txBody>
      </p:sp>
      <p:sp>
        <p:nvSpPr>
          <p:cNvPr id="3" name="TextBox 2"/>
          <p:cNvSpPr txBox="1"/>
          <p:nvPr/>
        </p:nvSpPr>
        <p:spPr>
          <a:xfrm>
            <a:off x="548640" y="1280160"/>
            <a:ext cx="11064240" cy="4206240"/>
          </a:xfrm>
          <a:prstGeom prst="rect">
            <a:avLst/>
          </a:prstGeom>
          <a:noFill/>
        </p:spPr>
        <p:txBody>
          <a:bodyPr wrap="square">
            <a:spAutoFit/>
          </a:bodyPr>
          <a:lstStyle/>
          <a:p>
            <a:pPr marL="274320" indent="-274320">
              <a:spcAft>
                <a:spcPts val="2000"/>
              </a:spcAft>
              <a:buChar char="•"/>
            </a:pPr>
            <a:r>
              <a:rPr sz="1800" b="0">
                <a:solidFill>
                  <a:srgbClr val="1A1A1A"/>
                </a:solidFill>
                <a:latin typeface="Arial"/>
              </a:rPr>
              <a:t>CNN is best on 50 classes: 81.2%, about 16.7× faster than XGBoost (78.0%)</a:t>
            </a:r>
          </a:p>
          <a:p>
            <a:pPr marL="274320" indent="-274320">
              <a:spcAft>
                <a:spcPts val="2000"/>
              </a:spcAft>
              <a:buChar char="•"/>
            </a:pPr>
            <a:r>
              <a:rPr sz="1800" b="0">
                <a:solidFill>
                  <a:srgbClr val="1A1A1A"/>
                </a:solidFill>
                <a:latin typeface="Arial"/>
              </a:rPr>
              <a:t>XGBoost matches CNNs on 3 and 10 classes; trees judge pixels, CNNs learn shapes</a:t>
            </a:r>
          </a:p>
          <a:p>
            <a:pPr marL="274320" indent="-274320">
              <a:spcAft>
                <a:spcPts val="2000"/>
              </a:spcAft>
              <a:buChar char="•"/>
            </a:pPr>
            <a:r>
              <a:rPr sz="1800" b="0">
                <a:solidFill>
                  <a:srgbClr val="1A1A1A"/>
                </a:solidFill>
                <a:latin typeface="Arial"/>
              </a:rPr>
              <a:t>Three surprising paper results traced to their setup: data size, script bug, BatchNorm</a:t>
            </a:r>
          </a:p>
          <a:p>
            <a:pPr marL="274320" indent="-274320">
              <a:spcAft>
                <a:spcPts val="2000"/>
              </a:spcAft>
              <a:buChar char="•"/>
            </a:pPr>
            <a:r>
              <a:rPr sz="1800" b="0">
                <a:solidFill>
                  <a:srgbClr val="1A1A1A"/>
                </a:solidFill>
                <a:latin typeface="Arial"/>
              </a:rPr>
              <a:t>Future work: feed transfer-learning features into XGBoost</a:t>
            </a:r>
          </a:p>
        </p:txBody>
      </p:sp>
      <p:sp>
        <p:nvSpPr>
          <p:cNvPr id="4" name="TextBox 3"/>
          <p:cNvSpPr txBox="1"/>
          <p:nvPr/>
        </p:nvSpPr>
        <p:spPr>
          <a:xfrm>
            <a:off x="548640" y="5870448"/>
            <a:ext cx="11064240" cy="457200"/>
          </a:xfrm>
          <a:prstGeom prst="rect">
            <a:avLst/>
          </a:prstGeom>
          <a:noFill/>
        </p:spPr>
        <p:txBody>
          <a:bodyPr wrap="square">
            <a:spAutoFit/>
          </a:bodyPr>
          <a:lstStyle/>
          <a:p>
            <a:r>
              <a:rPr sz="1800" b="1">
                <a:solidFill>
                  <a:srgbClr val="1F3A5F"/>
                </a:solidFill>
                <a:latin typeface="Arial"/>
              </a:rPr>
              <a:t>Takeaway: yes: a small CNN names the right doodle out of 50 classes 81.2% of the time.</a:t>
            </a:r>
          </a:p>
        </p:txBody>
      </p:sp>
      <p:sp>
        <p:nvSpPr>
          <p:cNvPr id="5" name="TextBox 4"/>
          <p:cNvSpPr txBox="1"/>
          <p:nvPr/>
        </p:nvSpPr>
        <p:spPr>
          <a:xfrm>
            <a:off x="548640" y="6446520"/>
            <a:ext cx="9144000" cy="274320"/>
          </a:xfrm>
          <a:prstGeom prst="rect">
            <a:avLst/>
          </a:prstGeom>
          <a:noFill/>
        </p:spPr>
        <p:txBody>
          <a:bodyPr wrap="square" anchor="t">
            <a:spAutoFit/>
          </a:bodyPr>
          <a:lstStyle/>
          <a:p>
            <a:pPr algn="l"/>
            <a:r>
              <a:rPr sz="1000" b="0">
                <a:solidFill>
                  <a:srgbClr val="5A5A5A"/>
                </a:solidFill>
                <a:latin typeface="Arial"/>
              </a:rPr>
              <a:t>Drawing: A New Way To Search — Reproduce &amp; Extend</a:t>
            </a:r>
          </a:p>
        </p:txBody>
      </p:sp>
      <p:sp>
        <p:nvSpPr>
          <p:cNvPr id="6" name="TextBox 5"/>
          <p:cNvSpPr txBox="1"/>
          <p:nvPr/>
        </p:nvSpPr>
        <p:spPr>
          <a:xfrm>
            <a:off x="10698480" y="6446520"/>
            <a:ext cx="914400" cy="274320"/>
          </a:xfrm>
          <a:prstGeom prst="rect">
            <a:avLst/>
          </a:prstGeom>
          <a:noFill/>
        </p:spPr>
        <p:txBody>
          <a:bodyPr wrap="square" anchor="t">
            <a:spAutoFit/>
          </a:bodyPr>
          <a:lstStyle/>
          <a:p>
            <a:pPr algn="r"/>
            <a:r>
              <a:rPr sz="1000" b="0">
                <a:solidFill>
                  <a:srgbClr val="5A5A5A"/>
                </a:solidFill>
                <a:latin typeface="Arial"/>
              </a:rPr>
              <a:t>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