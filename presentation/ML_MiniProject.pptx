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IN" sz="1400" b="0" u="none" strike="noStrike">
                <a:solidFill>
                  <a:srgbClr val="000000"/>
                </a:solidFill>
                <a:effectLst/>
                <a:uFillTx/>
                <a:latin typeface="Times New Roman"/>
              </a:rPr>
              <a:t>&lt;header&gt;</a:t>
            </a:r>
            <a:endParaRPr lang="en-IN"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IN" sz="1400" b="0" u="none" strike="noStrike">
                <a:solidFill>
                  <a:srgbClr val="000000"/>
                </a:solidFill>
                <a:effectLst/>
                <a:uFillTx/>
                <a:latin typeface="Times New Roman"/>
              </a:defRPr>
            </a:lvl1pPr>
          </a:lstStyle>
          <a:p>
            <a:pPr indent="0" algn="l">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88068057-E1BA-43B5-B052-EC5990016373}" type="slidenum">
              <a:rPr lang="en-IN" sz="1400" b="0" u="none" strike="noStrike">
                <a:solidFill>
                  <a:srgbClr val="000000"/>
                </a:solidFill>
                <a:effectLst/>
                <a:uFillTx/>
                <a:latin typeface="Times New Roman"/>
              </a:rPr>
              <a:t>&lt;number&gt;</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1143000" y="685800"/>
            <a:ext cx="4571640" cy="3428640"/>
          </a:xfrm>
          <a:prstGeom prst="rect">
            <a:avLst/>
          </a:prstGeom>
          <a:ln w="0">
            <a:noFill/>
          </a:ln>
        </p:spPr>
      </p:sp>
      <p:sp>
        <p:nvSpPr>
          <p:cNvPr id="13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Our project asks a simple question: can a computer recognise quick doodles? The reference report argues that if it can, drawing could become a way to search. The data is Google QuickDraw: tiny 28 by 28 grayscale drawings. We use 3, 10 and 50 classes, with 20,000 drawings per class, split into 16,000 for training, 2,000 for validation and 2,000 for testing. Our job was to reproduce the paper, then add one new model.</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34 s)</a:t>
            </a:r>
            <a:endParaRPr lang="en-IN" sz="2000" b="0" u="none" strike="noStrike">
              <a:solidFill>
                <a:srgbClr val="000000"/>
              </a:solidFill>
              <a:effectLst/>
              <a:uFillTx/>
              <a:latin typeface="Arial"/>
            </a:endParaRPr>
          </a:p>
        </p:txBody>
      </p:sp>
      <p:sp>
        <p:nvSpPr>
          <p:cNvPr id="138"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A52693-20E1-4178-A915-7EF49E2EF332}"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1143000" y="685800"/>
            <a:ext cx="4571640" cy="3428640"/>
          </a:xfrm>
          <a:prstGeom prst="rect">
            <a:avLst/>
          </a:prstGeom>
          <a:ln w="0">
            <a:noFill/>
          </a:ln>
        </p:spPr>
      </p:sp>
      <p:sp>
        <p:nvSpPr>
          <p:cNvPr id="14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The original team compared four model families, from simple to complex. Logistic regression draws straight lines between classes and is the fast baseline. An SVM looks for the widest gap between classes, and its kernels allow curved boundaries. A CNN slides small filters over the image to find strokes and shapes; V1 is their full network and V2 to V4 are simpler versions. Transfer learning reuses networks trained on over a million photos.</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34 s)</a:t>
            </a:r>
            <a:endParaRPr lang="en-IN" sz="2000" b="0" u="none" strike="noStrike">
              <a:solidFill>
                <a:srgbClr val="000000"/>
              </a:solidFill>
              <a:effectLst/>
              <a:uFillTx/>
              <a:latin typeface="Arial"/>
            </a:endParaRPr>
          </a:p>
        </p:txBody>
      </p:sp>
      <p:sp>
        <p:nvSpPr>
          <p:cNvPr id="141"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98A52A-130E-4CCA-BB00-13A7B8A8ACC0}"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sldImg"/>
          </p:nvPr>
        </p:nvSpPr>
        <p:spPr>
          <a:xfrm>
            <a:off x="1143000" y="685800"/>
            <a:ext cx="4571640" cy="3428640"/>
          </a:xfrm>
          <a:prstGeom prst="rect">
            <a:avLst/>
          </a:prstGeom>
          <a:ln w="0">
            <a:noFill/>
          </a:ln>
        </p:spPr>
      </p:sp>
      <p:sp>
        <p:nvSpPr>
          <p:cNvPr id="14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We rebuilt their pipeline step by step. The same QuickDraw data, one fixed split shared by every model, the same preprocessing for each model, the same models and settings, and the same two measurements. What differed: we used a newer laptop GPU and newer libraries. For transfer learning we computed the frozen networks' outputs once and trained only the new head, which gives the same result in 30.9 minutes instead of about 15.7 hours.</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34 s)</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 Reference, not spoken ---</a:t>
            </a: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Their time = report Table 6 seconds per epoch × epochs in their logs: VGG19 207 s × 20 + MobileNet 103 s × 100 + ResNet50 152 s × 100 + InceptionV3 540 s × 50 = 56,640 s = 15.7 h. Ours = sum of transfer-learning training times in cross_model_ours.csv (feature extraction + head) = 1,852 s = 30.9 min.</a:t>
            </a:r>
            <a:endParaRPr lang="en-IN" sz="2000" b="0" u="none" strike="noStrike">
              <a:solidFill>
                <a:srgbClr val="000000"/>
              </a:solidFill>
              <a:effectLst/>
              <a:uFillTx/>
              <a:latin typeface="Arial"/>
            </a:endParaRPr>
          </a:p>
        </p:txBody>
      </p:sp>
      <p:sp>
        <p:nvSpPr>
          <p:cNvPr id="144"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9579A92-2509-47E6-B547-E7C8F005A222}"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sldImg"/>
          </p:nvPr>
        </p:nvSpPr>
        <p:spPr>
          <a:xfrm>
            <a:off x="1143000" y="685800"/>
            <a:ext cx="4571640" cy="3428640"/>
          </a:xfrm>
          <a:prstGeom prst="rect">
            <a:avLst/>
          </a:prstGeom>
          <a:ln w="0">
            <a:noFill/>
          </a:ln>
        </p:spPr>
      </p:sp>
      <p:sp>
        <p:nvSpPr>
          <p:cNvPr id="1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Here is the scorecard, all in validation accuracy. Logistic regression matches at every class size, within 1.2 points. Our CNN V1 matches their V1 on 50 classes, and VGG19 transfer learning matches almost exactly. So the pipeline is right. But three results differ. Our SVM with the RBF kernel scores much higher than theirs. Their CNN called V2 scores much higher than our V2. And three of the four transfer-learning networks score far higher for us. Because the setup is the same, each of these gaps needs a cause, which is the next slide. The full tables are in the repository.</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47 s)</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 Reference, not spoken ---</a:t>
            </a: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LR: Logistic regression raw 3 cls 79.5 vs 79.3; Logistic regression raw 10 cls 64.6 vs 65.8; Logistic regression raw 50 cls 43.9 vs 43.3</a:t>
            </a: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SVM: Linear scaled 3 cls 40.8 vs 43.3; RBF scaled 3 cls 62.7 vs 84.0; Polynomial scaled 3 cls 51.7 vs 66.7; Sigmoid scaled 3 cls 33.1 vs 32.5; Linear scaled 10 cls 22.2 vs 23.4; RBF scaled 10 cls 61.0 vs 74.6; Polynomial scaled 10 cls 50.9 vs 73.9; Sigmoid scaled 10 cls 11.7 vs 13.4</a:t>
            </a: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CNN: V1 raw 3 cls 91.4 vs 90.8; V2 raw 3 cls 91.3 vs 91.7; V1 binarized 3 cls 89.0 vs 89.6; V2 binarized 3 cls 89.1 vs 90.1; V3 binarized 3 cls 88.2 vs 88.8; V4 binarized 3 cls 89.1 vs 89.2; V1 raw 10 cls 89.3 vs 88.8; V2 raw 10 cls 89.2 vs 88.5; V1 binarized 10 cls 87.2 vs 86.6; V2 binarized 10 cls 86.7 vs 85.1; V3 binarized 10 cls 86.6 vs 84.1; V4 binarized 10 cls 85.6 vs 84.7; V1 raw 50 cls 81.8 vs 81.2; V2 raw 50 cls 81.8 vs 75.1; V2 (test set) raw 50 cls 81.9 vs 75.1; V1 binarized 50 cls 77.5 vs 76.8; V2 binarized 50 cls 77.4 vs 70.4; V3 binarized 50 cls 70.3 vs 65.1; V4 binarized 50 cls 70.3 vs 70.5</a:t>
            </a: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TL: VGG19 resized 3 cls 95.6 vs 95.4; MobileNet resized 3 cls 75.4 vs 94.6; ResNet50 resized 3 cls 62.7 vs 95.4; InceptionV3 resized 3 cls 45.7 vs 93.1</a:t>
            </a:r>
            <a:endParaRPr lang="en-IN" sz="2000" b="0" u="none" strike="noStrike">
              <a:solidFill>
                <a:srgbClr val="000000"/>
              </a:solidFill>
              <a:effectLst/>
              <a:uFillTx/>
              <a:latin typeface="Arial"/>
            </a:endParaRPr>
          </a:p>
        </p:txBody>
      </p:sp>
      <p:sp>
        <p:nvSpPr>
          <p:cNvPr id="147"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413F99-BE7D-4236-8F19-83336631EB42}"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1143000" y="685800"/>
            <a:ext cx="4571640" cy="3428640"/>
          </a:xfrm>
          <a:prstGeom prst="rect">
            <a:avLst/>
          </a:prstGeom>
          <a:ln w="0">
            <a:noFill/>
          </a:ln>
        </p:spPr>
      </p:sp>
      <p:sp>
        <p:nvSpPr>
          <p:cNvPr id="1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Each gap has a cause we could check. First, the SVM. Their logs show about 70,000 drawings per class, with the same 500-step limit. More data under the same limit means a less finished model. When we reran with 70,000 drawings, RBF dropped from 84.0 to 75.0, close to theirs. Second, their script had a bug that trained V1 under the V2 label, so their V2 is really our V1. Third, BatchNorm layers behaved differently in 2018 Keras. VGG19, the only network without them, matches. So the claim that complex networks don't help is likely wrong.</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44 s)</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 Reference, not spoken ---</a:t>
            </a: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Inception training accuracy 99.99% is from the authors' GitHub README log.</a:t>
            </a:r>
            <a:endParaRPr lang="en-IN" sz="2000" b="0" u="none" strike="noStrike">
              <a:solidFill>
                <a:srgbClr val="000000"/>
              </a:solidFill>
              <a:effectLst/>
              <a:uFillTx/>
              <a:latin typeface="Arial"/>
            </a:endParaRPr>
          </a:p>
        </p:txBody>
      </p:sp>
      <p:sp>
        <p:nvSpPr>
          <p:cNvPr id="150"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96362E5-19C1-4E27-A0B9-CDBBD8BFA60B}"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1143000" y="685800"/>
            <a:ext cx="4571640" cy="3428640"/>
          </a:xfrm>
          <a:prstGeom prst="rect">
            <a:avLst/>
          </a:prstGeom>
          <a:ln w="0">
            <a:noFill/>
          </a:ln>
        </p:spPr>
      </p:sp>
      <p:sp>
        <p:nvSpPr>
          <p:cNvPr id="1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For our extension we added XGBoost, because the paper never tried a tree-based model. XGBoost builds trees one after another; each new tree fixes the mistakes of the ones before, and their votes are added up. We tuned seven settings with Optuna, a Bayesian search, using only the validation set. Our first run was time-limited, so we retrained until the model stopped improving. On 50 classes that gained only half a point: the curve flattens around 78 percent.</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36 s)</a:t>
            </a:r>
            <a:endParaRPr lang="en-IN" sz="2000" b="0" u="none" strike="noStrike">
              <a:solidFill>
                <a:srgbClr val="000000"/>
              </a:solidFill>
              <a:effectLst/>
              <a:uFillTx/>
              <a:latin typeface="Arial"/>
            </a:endParaRPr>
          </a:p>
        </p:txBody>
      </p:sp>
      <p:sp>
        <p:nvSpPr>
          <p:cNvPr id="153"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CD7CDFF-4A6B-4BBC-A0C0-862CF06EC8AB}"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sldImg"/>
          </p:nvPr>
        </p:nvSpPr>
        <p:spPr>
          <a:xfrm>
            <a:off x="1143000" y="685800"/>
            <a:ext cx="4571640" cy="3428640"/>
          </a:xfrm>
          <a:prstGeom prst="rect">
            <a:avLst/>
          </a:prstGeom>
          <a:ln w="0">
            <a:noFill/>
          </a:ln>
        </p:spPr>
      </p:sp>
      <p:sp>
        <p:nvSpPr>
          <p:cNvPr id="1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This chart shows all our models on 50 classes: accuracy upwards, training time to the right on a log scale. The CNNs sit top left: accurate and quick. The best, CNN V1, reaches 81.2 percent in about 7.2 min. XGBoost reaches 78.0 percent but needs about 119.9 min. The table below gives the best model per family at each class size: every family does well on 3 classes, and the gaps open as the number of classes grows.</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36 s)</a:t>
            </a:r>
            <a:endParaRPr lang="en-IN" sz="2000" b="0" u="none" strike="noStrike">
              <a:solidFill>
                <a:srgbClr val="000000"/>
              </a:solidFill>
              <a:effectLst/>
              <a:uFillTx/>
              <a:latin typeface="Arial"/>
            </a:endParaRPr>
          </a:p>
        </p:txBody>
      </p:sp>
      <p:sp>
        <p:nvSpPr>
          <p:cNvPr id="156"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D7DB68-3EDF-4756-B22A-0A65FC123AE2}"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sldImg"/>
          </p:nvPr>
        </p:nvSpPr>
        <p:spPr>
          <a:xfrm>
            <a:off x="1143000" y="685800"/>
            <a:ext cx="4571640" cy="3428640"/>
          </a:xfrm>
          <a:prstGeom prst="rect">
            <a:avLst/>
          </a:prstGeom>
          <a:ln w="0">
            <a:noFill/>
          </a:ln>
        </p:spPr>
      </p:sp>
      <p:sp>
        <p:nvSpPr>
          <p:cNvPr id="1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IN" sz="2000" b="0" u="none" strike="noStrike">
                <a:solidFill>
                  <a:srgbClr val="000000"/>
                </a:solidFill>
                <a:effectLst/>
                <a:uFillTx/>
                <a:latin typeface="Arial"/>
              </a:rPr>
              <a:t>To sum up. The CNN is the best model on 50 classes, at 81.2 percent, and it trains about 16.7 times faster than tuned XGBoost. XGBoost keeps up with CNNs on 3 and 10 classes, 91.7 against 91.7 and 89.8 against 88.8, but stalls on 50, because trees judge single pixels while CNNs learn shapes. The three surprising results in the paper come from their setup, not from the models. So yes, a computer can recognise doodles. Thank you.</a:t>
            </a:r>
            <a:endParaRPr lang="en-IN" sz="2000" b="0" u="none" strike="noStrike">
              <a:solidFill>
                <a:srgbClr val="000000"/>
              </a:solidFill>
              <a:effectLst/>
              <a:uFillTx/>
              <a:latin typeface="Arial"/>
            </a:endParaRPr>
          </a:p>
          <a:p>
            <a:pPr indent="0" algn="l">
              <a:lnSpc>
                <a:spcPct val="100000"/>
              </a:lnSpc>
              <a:buNone/>
            </a:pPr>
            <a:endParaRPr lang="en-IN" sz="2000" b="0" u="none" strike="noStrike">
              <a:solidFill>
                <a:srgbClr val="000000"/>
              </a:solidFill>
              <a:effectLst/>
              <a:uFillTx/>
              <a:latin typeface="Arial"/>
            </a:endParaRPr>
          </a:p>
          <a:p>
            <a:pPr indent="0" algn="l">
              <a:lnSpc>
                <a:spcPct val="100000"/>
              </a:lnSpc>
              <a:buNone/>
            </a:pPr>
            <a:r>
              <a:rPr lang="en-IN" sz="2000" b="0" u="none" strike="noStrike">
                <a:solidFill>
                  <a:srgbClr val="000000"/>
                </a:solidFill>
                <a:effectLst/>
                <a:uFillTx/>
                <a:latin typeface="Arial"/>
              </a:rPr>
              <a:t>(about 36 s)</a:t>
            </a:r>
            <a:endParaRPr lang="en-IN" sz="2000" b="0" u="none" strike="noStrike">
              <a:solidFill>
                <a:srgbClr val="000000"/>
              </a:solidFill>
              <a:effectLst/>
              <a:uFillTx/>
              <a:latin typeface="Arial"/>
            </a:endParaRPr>
          </a:p>
        </p:txBody>
      </p:sp>
      <p:sp>
        <p:nvSpPr>
          <p:cNvPr id="159"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A18E0E2-1422-4ACD-8420-056FE6C887E3}" type="slidenum">
              <a:rPr lang="en-US" sz="1200" b="0" u="none" strike="noStrike">
                <a:solidFill>
                  <a:srgbClr val="000000"/>
                </a:solidFill>
                <a:effectLst/>
                <a:uFillTx/>
                <a:latin typeface="Times New Roman"/>
              </a:rPr>
              <a:t>&lt;number&gt;</a:t>
            </a:fld>
            <a:endParaRPr lang="en-IN"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4C7BE1D-2A72-440E-96B6-4A6AC9996E9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5A0C522-20EF-4501-9489-8787A4123636}"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a:t>
            </a:r>
            <a:r>
              <a:rPr lang="en-US" sz="4400" b="0" u="none" strike="noStrike">
                <a:solidFill>
                  <a:schemeClr val="dk1"/>
                </a:solidFill>
                <a:effectLst/>
                <a:uFillTx/>
                <a:latin typeface="Calibri"/>
              </a:rPr>
              <a:t>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a:t>
            </a:r>
            <a:r>
              <a:rPr lang="en-US" sz="4400" b="0" u="none" strike="noStrike">
                <a:solidFill>
                  <a:schemeClr val="dk1"/>
                </a:solidFill>
                <a:effectLst/>
                <a:uFillTx/>
                <a:latin typeface="Calibri"/>
              </a:rPr>
              <a:t>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t>
            </a:r>
            <a:r>
              <a:rPr lang="en-US" sz="4400" b="0" u="none" strike="noStrike">
                <a:solidFill>
                  <a:schemeClr val="dk1"/>
                </a:solidFill>
                <a:effectLst/>
                <a:uFillTx/>
                <a:latin typeface="Calibri"/>
              </a:rPr>
              <a:t>a</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er </a:t>
            </a:r>
            <a:r>
              <a:rPr lang="en-US" sz="4400" b="0" u="none" strike="noStrike">
                <a:solidFill>
                  <a:schemeClr val="dk1"/>
                </a:solidFill>
                <a:effectLst/>
                <a:uFillTx/>
                <a:latin typeface="Calibri"/>
              </a:rPr>
              <a:t>ti</a:t>
            </a:r>
            <a:r>
              <a:rPr lang="en-US" sz="4400" b="0" u="none" strike="noStrike">
                <a:solidFill>
                  <a:schemeClr val="dk1"/>
                </a:solidFill>
                <a:effectLst/>
                <a:uFillTx/>
                <a:latin typeface="Calibri"/>
              </a:rPr>
              <a:t>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a:t>
            </a:r>
            <a:r>
              <a:rPr lang="en-US" sz="4400" b="0" u="none" strike="noStrike">
                <a:solidFill>
                  <a:schemeClr val="dk1"/>
                </a:solidFill>
                <a:effectLst/>
                <a:uFillTx/>
                <a:latin typeface="Calibri"/>
              </a:rPr>
              <a: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848CFEC-E68F-4EB7-B3C1-D7D6D3D1A9EB}"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a:t>
            </a:r>
            <a:r>
              <a:rPr lang="en-US" sz="4400" b="0" u="none" strike="noStrike">
                <a:solidFill>
                  <a:schemeClr val="dk1"/>
                </a:solidFill>
                <a:effectLst/>
                <a:uFillTx/>
                <a:latin typeface="Calibri"/>
              </a:rPr>
              <a:t>ste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01D70E6-4417-4417-A506-72ACEED70DB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a:t>
            </a:r>
            <a:r>
              <a:rPr lang="en-US" sz="4000" b="1" u="none" strike="noStrike" cap="all">
                <a:solidFill>
                  <a:schemeClr val="dk1"/>
                </a:solidFill>
                <a:effectLst/>
                <a:uFillTx/>
                <a:latin typeface="Calibri"/>
              </a:rPr>
              <a:t>ck </a:t>
            </a:r>
            <a:r>
              <a:rPr lang="en-US" sz="4000" b="1" u="none" strike="noStrike" cap="all">
                <a:solidFill>
                  <a:schemeClr val="dk1"/>
                </a:solidFill>
                <a:effectLst/>
                <a:uFillTx/>
                <a:latin typeface="Calibri"/>
              </a:rPr>
              <a:t>to </a:t>
            </a:r>
            <a:r>
              <a:rPr lang="en-US" sz="4000" b="1" u="none" strike="noStrike" cap="all">
                <a:solidFill>
                  <a:schemeClr val="dk1"/>
                </a:solidFill>
                <a:effectLst/>
                <a:uFillTx/>
                <a:latin typeface="Calibri"/>
              </a:rPr>
              <a:t>edi</a:t>
            </a:r>
            <a:r>
              <a:rPr lang="en-US" sz="4000" b="1" u="none" strike="noStrike" cap="all">
                <a:solidFill>
                  <a:schemeClr val="dk1"/>
                </a:solidFill>
                <a:effectLst/>
                <a:uFillTx/>
                <a:latin typeface="Calibri"/>
              </a:rPr>
              <a:t>t </a:t>
            </a:r>
            <a:r>
              <a:rPr lang="en-US" sz="4000" b="1" u="none" strike="noStrike" cap="all">
                <a:solidFill>
                  <a:schemeClr val="dk1"/>
                </a:solidFill>
                <a:effectLst/>
                <a:uFillTx/>
                <a:latin typeface="Calibri"/>
              </a:rPr>
              <a:t>Ma</a:t>
            </a:r>
            <a:r>
              <a:rPr lang="en-US" sz="4000" b="1" u="none" strike="noStrike" cap="all">
                <a:solidFill>
                  <a:schemeClr val="dk1"/>
                </a:solidFill>
                <a:effectLst/>
                <a:uFillTx/>
                <a:latin typeface="Calibri"/>
              </a:rPr>
              <a:t>ste</a:t>
            </a:r>
            <a:r>
              <a:rPr lang="en-US" sz="4000" b="1" u="none" strike="noStrike" cap="all">
                <a:solidFill>
                  <a:schemeClr val="dk1"/>
                </a:solidFill>
                <a:effectLst/>
                <a:uFillTx/>
                <a:latin typeface="Calibri"/>
              </a:rPr>
              <a:t>r </a:t>
            </a:r>
            <a:r>
              <a:rPr lang="en-US" sz="4000" b="1" u="none" strike="noStrike" cap="all">
                <a:solidFill>
                  <a:schemeClr val="dk1"/>
                </a:solidFill>
                <a:effectLst/>
                <a:uFillTx/>
                <a:latin typeface="Calibri"/>
              </a:rPr>
              <a:t>tit</a:t>
            </a:r>
            <a:r>
              <a:rPr lang="en-US" sz="4000" b="1" u="none" strike="noStrike" cap="all">
                <a:solidFill>
                  <a:schemeClr val="dk1"/>
                </a:solidFill>
                <a:effectLst/>
                <a:uFillTx/>
                <a:latin typeface="Calibri"/>
              </a:rPr>
              <a:t>le </a:t>
            </a:r>
            <a:r>
              <a:rPr lang="en-US" sz="4000" b="1" u="none" strike="noStrike" cap="all">
                <a:solidFill>
                  <a:schemeClr val="dk1"/>
                </a:solidFill>
                <a:effectLst/>
                <a:uFillTx/>
                <a:latin typeface="Calibri"/>
              </a:rPr>
              <a:t>sty</a:t>
            </a:r>
            <a:r>
              <a:rPr lang="en-US" sz="4000" b="1" u="none" strike="noStrike" cap="all">
                <a:solidFill>
                  <a:schemeClr val="dk1"/>
                </a:solidFill>
                <a:effectLst/>
                <a:uFillTx/>
                <a:latin typeface="Calibri"/>
              </a:rPr>
              <a:t>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AE6CADF5-706F-4C7C-8678-6CA89EBD94DA}"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a:t>
            </a:r>
            <a:r>
              <a:rPr lang="en-US" sz="4400" b="0" u="none" strike="noStrike">
                <a:solidFill>
                  <a:schemeClr val="dk1"/>
                </a:solidFill>
                <a:effectLst/>
                <a:uFillTx/>
                <a:latin typeface="Calibri"/>
              </a:rPr>
              <a:t>ste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25EC06EF-D22A-4B63-B707-28886D210F72}"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a:t>
            </a:r>
            <a:r>
              <a:rPr lang="en-US" sz="4400" b="0" u="none" strike="noStrike">
                <a:solidFill>
                  <a:schemeClr val="dk1"/>
                </a:solidFill>
                <a:effectLst/>
                <a:uFillTx/>
                <a:latin typeface="Calibri"/>
              </a:rPr>
              <a:t>ste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592BCF8-B763-439C-A9B0-DFD5822AB743}"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Ma</a:t>
            </a:r>
            <a:r>
              <a:rPr lang="en-US" sz="4400" b="0" u="none" strike="noStrike">
                <a:solidFill>
                  <a:schemeClr val="dk1"/>
                </a:solidFill>
                <a:effectLst/>
                <a:uFillTx/>
                <a:latin typeface="Calibri"/>
              </a:rPr>
              <a:t>ste</a:t>
            </a:r>
            <a:r>
              <a:rPr lang="en-US" sz="4400" b="0" u="none" strike="noStrike">
                <a:solidFill>
                  <a:schemeClr val="dk1"/>
                </a:solidFill>
                <a:effectLst/>
                <a:uFillTx/>
                <a:latin typeface="Calibri"/>
              </a:rPr>
              <a:t>r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styl</a:t>
            </a:r>
            <a:r>
              <a:rPr lang="en-US" sz="4400" b="0" u="none" strike="noStrike">
                <a:solidFill>
                  <a:schemeClr val="dk1"/>
                </a:solidFill>
                <a:effectLst/>
                <a:uFillTx/>
                <a:latin typeface="Calibri"/>
              </a:rPr>
              <a:t>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5F2B124-264A-4426-A99B-50952808E6BD}"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D424796-1A14-4E88-8483-0C2F6F8F846C}"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a:t>
            </a:r>
            <a:r>
              <a:rPr lang="en-US" sz="4400" b="0" u="none" strike="noStrike">
                <a:solidFill>
                  <a:schemeClr val="dk1"/>
                </a:solidFill>
                <a:effectLst/>
                <a:uFillTx/>
                <a:latin typeface="Calibri"/>
              </a:rPr>
              <a:t>k </a:t>
            </a:r>
            <a:r>
              <a:rPr lang="en-US" sz="4400" b="0" u="none" strike="noStrike">
                <a:solidFill>
                  <a:schemeClr val="dk1"/>
                </a:solidFill>
                <a:effectLst/>
                <a:uFillTx/>
                <a:latin typeface="Calibri"/>
              </a:rPr>
              <a:t>to </a:t>
            </a:r>
            <a:r>
              <a:rPr lang="en-US" sz="4400" b="0" u="none" strike="noStrike">
                <a:solidFill>
                  <a:schemeClr val="dk1"/>
                </a:solidFill>
                <a:effectLst/>
                <a:uFillTx/>
                <a:latin typeface="Calibri"/>
              </a:rPr>
              <a:t>edi</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the </a:t>
            </a:r>
            <a:r>
              <a:rPr lang="en-US" sz="4400" b="0" u="none" strike="noStrike">
                <a:solidFill>
                  <a:schemeClr val="dk1"/>
                </a:solidFill>
                <a:effectLst/>
                <a:uFillTx/>
                <a:latin typeface="Calibri"/>
              </a:rPr>
              <a:t>titl</a:t>
            </a:r>
            <a:r>
              <a:rPr lang="en-US" sz="4400" b="0" u="none" strike="noStrike">
                <a:solidFill>
                  <a:schemeClr val="dk1"/>
                </a:solidFill>
                <a:effectLst/>
                <a:uFillTx/>
                <a:latin typeface="Calibri"/>
              </a:rPr>
              <a:t>e </a:t>
            </a:r>
            <a:r>
              <a:rPr lang="en-US" sz="4400" b="0" u="none" strike="noStrike">
                <a:solidFill>
                  <a:schemeClr val="dk1"/>
                </a:solidFill>
                <a:effectLst/>
                <a:uFillTx/>
                <a:latin typeface="Calibri"/>
              </a:rPr>
              <a:t>tex</a:t>
            </a:r>
            <a:r>
              <a:rPr lang="en-US" sz="4400" b="0" u="none" strike="noStrike">
                <a:solidFill>
                  <a:schemeClr val="dk1"/>
                </a:solidFill>
                <a:effectLst/>
                <a:uFillTx/>
                <a:latin typeface="Calibri"/>
              </a:rPr>
              <a:t>t </a:t>
            </a:r>
            <a:r>
              <a:rPr lang="en-US" sz="4400" b="0" u="none" strike="noStrike">
                <a:solidFill>
                  <a:schemeClr val="dk1"/>
                </a:solidFill>
                <a:effectLst/>
                <a:uFillTx/>
                <a:latin typeface="Calibri"/>
              </a:rPr>
              <a:t>for</a:t>
            </a:r>
            <a:r>
              <a:rPr lang="en-US" sz="4400" b="0" u="none" strike="noStrike">
                <a:solidFill>
                  <a:schemeClr val="dk1"/>
                </a:solidFill>
                <a:effectLst/>
                <a:uFillTx/>
                <a:latin typeface="Calibri"/>
              </a:rPr>
              <a:t>ma</a:t>
            </a:r>
            <a:r>
              <a:rPr lang="en-US" sz="4400" b="0" u="none" strike="noStrike">
                <a:solidFill>
                  <a:schemeClr val="dk1"/>
                </a:solidFill>
                <a:effectLst/>
                <a:uFillTx/>
                <a:latin typeface="Calibri"/>
              </a:rPr>
              <a:t>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1D8B2A7-7513-461D-ADF5-4686C503D951}"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IN"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IN" sz="1400" b="0" u="none" strike="noStrike">
                <a:solidFill>
                  <a:srgbClr val="000000"/>
                </a:solidFill>
                <a:effectLst/>
                <a:uFillTx/>
                <a:latin typeface="Times New Roman"/>
              </a:defRPr>
            </a:lvl1pPr>
          </a:lstStyle>
          <a:p>
            <a:pPr indent="0" algn="ctr">
              <a:buNone/>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EB6A08A-D044-4FB6-9087-36A5DDF73109}" type="slidenum">
              <a:rPr lang="en-US" sz="1200" b="0" u="none" strike="noStrike">
                <a:solidFill>
                  <a:schemeClr val="dk1">
                    <a:tint val="75000"/>
                  </a:schemeClr>
                </a:solidFill>
                <a:effectLst/>
                <a:uFillTx/>
                <a:latin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3200" b="1" u="none" strike="noStrike">
                <a:solidFill>
                  <a:srgbClr val="1F3A5F"/>
                </a:solidFill>
                <a:effectLst/>
                <a:uFillTx/>
                <a:latin typeface="Arial"/>
              </a:rPr>
              <a:t>Can a computer recognise quick doodles?</a:t>
            </a:r>
            <a:endParaRPr lang="en-IN" sz="3200" b="0" u="none" strike="noStrike">
              <a:solidFill>
                <a:srgbClr val="000000"/>
              </a:solidFill>
              <a:effectLst/>
              <a:uFillTx/>
              <a:latin typeface="Arial"/>
            </a:endParaRPr>
          </a:p>
        </p:txBody>
      </p:sp>
      <p:sp>
        <p:nvSpPr>
          <p:cNvPr id="68" name="TextBox 2"/>
          <p:cNvSpPr/>
          <p:nvPr/>
        </p:nvSpPr>
        <p:spPr>
          <a:xfrm>
            <a:off x="605160" y="1051560"/>
            <a:ext cx="7314840" cy="91260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5A5A5A"/>
                </a:solidFill>
                <a:effectLst/>
                <a:uFillTx/>
                <a:latin typeface="Arial"/>
              </a:rPr>
              <a:t>TEAM -08</a:t>
            </a:r>
            <a:r>
              <a:rPr lang="en-US" sz="1800" b="0" u="none" strike="noStrike">
                <a:solidFill>
                  <a:srgbClr val="5A5A5A"/>
                </a:solidFill>
                <a:effectLst/>
                <a:uFillTx/>
                <a:latin typeface="Arial"/>
              </a:rPr>
              <a:t> </a:t>
            </a:r>
            <a:br>
              <a:rPr sz="1800"/>
            </a:br>
            <a:r>
              <a:rPr lang="en-US" sz="1800" b="0" u="none" strike="noStrike">
                <a:solidFill>
                  <a:srgbClr val="5A5A5A"/>
                </a:solidFill>
                <a:effectLst/>
                <a:uFillTx/>
                <a:latin typeface="Arial"/>
              </a:rPr>
              <a:t>Shobhit Rachit Keshri </a:t>
            </a:r>
            <a:r>
              <a:rPr lang="en-US" sz="1800" b="0" i="1" u="none" strike="noStrike">
                <a:solidFill>
                  <a:srgbClr val="5A5A5A"/>
                </a:solidFill>
                <a:effectLst/>
                <a:uFillTx/>
                <a:latin typeface="Arial"/>
              </a:rPr>
              <a:t>PES2UG24CS475</a:t>
            </a:r>
            <a:endParaRPr lang="en-IN" sz="1800" b="0" u="none" strike="noStrike">
              <a:solidFill>
                <a:srgbClr val="000000"/>
              </a:solidFill>
              <a:effectLst/>
              <a:uFillTx/>
              <a:latin typeface="Arial"/>
            </a:endParaRPr>
          </a:p>
          <a:p>
            <a:pPr defTabSz="457200">
              <a:lnSpc>
                <a:spcPct val="100000"/>
              </a:lnSpc>
            </a:pPr>
            <a:r>
              <a:rPr lang="en-US" sz="1800" b="0" u="none" strike="noStrike">
                <a:solidFill>
                  <a:srgbClr val="5A5A5A"/>
                </a:solidFill>
                <a:effectLst/>
                <a:uFillTx/>
                <a:latin typeface="Arial"/>
              </a:rPr>
              <a:t>Sanjith R </a:t>
            </a:r>
            <a:r>
              <a:rPr lang="en-US" sz="1800" b="0" i="1" u="none" strike="noStrike">
                <a:solidFill>
                  <a:srgbClr val="5A5A5A"/>
                </a:solidFill>
                <a:effectLst/>
                <a:uFillTx/>
                <a:latin typeface="Arial"/>
              </a:rPr>
              <a:t>PES2UG24CS445</a:t>
            </a:r>
            <a:endParaRPr lang="en-IN" sz="1800" b="0" u="none" strike="noStrike">
              <a:solidFill>
                <a:srgbClr val="000000"/>
              </a:solidFill>
              <a:effectLst/>
              <a:uFillTx/>
              <a:latin typeface="Arial"/>
            </a:endParaRPr>
          </a:p>
        </p:txBody>
      </p:sp>
      <p:sp>
        <p:nvSpPr>
          <p:cNvPr id="69" name="TextBox 3"/>
          <p:cNvSpPr/>
          <p:nvPr/>
        </p:nvSpPr>
        <p:spPr>
          <a:xfrm>
            <a:off x="823320" y="3368520"/>
            <a:ext cx="6674760" cy="3291480"/>
          </a:xfrm>
          <a:prstGeom prst="rect">
            <a:avLst/>
          </a:prstGeom>
          <a:noFill/>
          <a:ln w="0">
            <a:noFill/>
          </a:ln>
        </p:spPr>
        <p:style>
          <a:lnRef idx="0"/>
          <a:fillRef idx="0"/>
          <a:effectRef idx="0"/>
          <a:fontRef idx="minor"/>
        </p:style>
        <p:txBody>
          <a:bodyPr lIns="90000" tIns="45000" rIns="90000" bIns="45000" anchor="t">
            <a:spAutoFit/>
          </a:bodyPr>
          <a:p>
            <a:pPr marL="274320" indent="-274320" defTabSz="457200">
              <a:lnSpc>
                <a:spcPct val="100000"/>
              </a:lnSpc>
              <a:spcAft>
                <a:spcPts val="1199"/>
              </a:spcAft>
              <a:buClr>
                <a:srgbClr val="1A1A1A"/>
              </a:buClr>
              <a:buFont typeface="Symbol" charset="2"/>
              <a:buChar char=""/>
            </a:pPr>
            <a:r>
              <a:rPr lang="en-US" sz="1800" b="0" u="none" strike="noStrike">
                <a:solidFill>
                  <a:srgbClr val="1A1A1A"/>
                </a:solidFill>
                <a:effectLst/>
                <a:uFillTx/>
                <a:latin typeface="Arial"/>
              </a:rPr>
              <a:t>Problem: name the object in a quick hand drawing</a:t>
            </a:r>
            <a:endParaRPr lang="en-IN" sz="1800" b="0" u="none" strike="noStrike">
              <a:solidFill>
                <a:srgbClr val="000000"/>
              </a:solidFill>
              <a:effectLst/>
              <a:uFillTx/>
              <a:latin typeface="Arial"/>
            </a:endParaRPr>
          </a:p>
          <a:p>
            <a:pPr marL="274320" indent="-274320" defTabSz="457200">
              <a:lnSpc>
                <a:spcPct val="100000"/>
              </a:lnSpc>
              <a:spcAft>
                <a:spcPts val="1199"/>
              </a:spcAft>
              <a:buClr>
                <a:srgbClr val="1A1A1A"/>
              </a:buClr>
              <a:buFont typeface="Symbol" charset="2"/>
              <a:buChar char=""/>
            </a:pPr>
            <a:r>
              <a:rPr lang="en-US" sz="1800" b="0" u="none" strike="noStrike">
                <a:solidFill>
                  <a:srgbClr val="1A1A1A"/>
                </a:solidFill>
                <a:effectLst/>
                <a:uFillTx/>
                <a:latin typeface="Arial"/>
              </a:rPr>
              <a:t>Why it matters: drawing could become a search interface</a:t>
            </a:r>
            <a:endParaRPr lang="en-IN" sz="1800" b="0" u="none" strike="noStrike">
              <a:solidFill>
                <a:srgbClr val="000000"/>
              </a:solidFill>
              <a:effectLst/>
              <a:uFillTx/>
              <a:latin typeface="Arial"/>
            </a:endParaRPr>
          </a:p>
          <a:p>
            <a:pPr marL="274320" indent="-274320" defTabSz="457200">
              <a:lnSpc>
                <a:spcPct val="100000"/>
              </a:lnSpc>
              <a:spcAft>
                <a:spcPts val="1199"/>
              </a:spcAft>
              <a:buClr>
                <a:srgbClr val="1A1A1A"/>
              </a:buClr>
              <a:buFont typeface="Symbol" charset="2"/>
              <a:buChar char=""/>
            </a:pPr>
            <a:r>
              <a:rPr lang="en-US" sz="1800" b="0" u="none" strike="noStrike">
                <a:solidFill>
                  <a:srgbClr val="1A1A1A"/>
                </a:solidFill>
                <a:effectLst/>
                <a:uFillTx/>
                <a:latin typeface="Arial"/>
              </a:rPr>
              <a:t>Data: Google QuickDraw, 28×28 grayscale; 3 / 10 / 50 classes, 20,000 each</a:t>
            </a:r>
            <a:endParaRPr lang="en-IN" sz="1800" b="0" u="none" strike="noStrike">
              <a:solidFill>
                <a:srgbClr val="000000"/>
              </a:solidFill>
              <a:effectLst/>
              <a:uFillTx/>
              <a:latin typeface="Arial"/>
            </a:endParaRPr>
          </a:p>
          <a:p>
            <a:pPr marL="274320" indent="-274320" defTabSz="457200">
              <a:lnSpc>
                <a:spcPct val="100000"/>
              </a:lnSpc>
              <a:spcAft>
                <a:spcPts val="1199"/>
              </a:spcAft>
              <a:buClr>
                <a:srgbClr val="1A1A1A"/>
              </a:buClr>
              <a:buFont typeface="Symbol" charset="2"/>
              <a:buChar char=""/>
            </a:pPr>
            <a:r>
              <a:rPr lang="en-US" sz="1800" b="0" u="none" strike="noStrike">
                <a:solidFill>
                  <a:srgbClr val="1A1A1A"/>
                </a:solidFill>
                <a:effectLst/>
                <a:uFillTx/>
                <a:latin typeface="Arial"/>
              </a:rPr>
              <a:t>Split per class: 16,000 train / 2,000 validation / 2,000 test</a:t>
            </a:r>
            <a:endParaRPr lang="en-IN" sz="1800" b="0" u="none" strike="noStrike">
              <a:solidFill>
                <a:srgbClr val="000000"/>
              </a:solidFill>
              <a:effectLst/>
              <a:uFillTx/>
              <a:latin typeface="Arial"/>
            </a:endParaRPr>
          </a:p>
        </p:txBody>
      </p:sp>
      <p:sp>
        <p:nvSpPr>
          <p:cNvPr id="70" name="TextBox 4"/>
          <p:cNvSpPr/>
          <p:nvPr/>
        </p:nvSpPr>
        <p:spPr>
          <a:xfrm>
            <a:off x="705240" y="2328840"/>
            <a:ext cx="6674760" cy="7311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Our task: reproduce the paper's results, then add one new model.</a:t>
            </a:r>
            <a:endParaRPr lang="en-IN" sz="1800" b="0" u="none" strike="noStrike">
              <a:solidFill>
                <a:srgbClr val="000000"/>
              </a:solidFill>
              <a:effectLst/>
              <a:uFillTx/>
              <a:latin typeface="Arial"/>
            </a:endParaRPr>
          </a:p>
        </p:txBody>
      </p:sp>
      <p:pic>
        <p:nvPicPr>
          <p:cNvPr id="71" name="Picture 5" descr="sample_drawings_10_classes.png"/>
          <p:cNvPicPr/>
          <p:nvPr/>
        </p:nvPicPr>
        <p:blipFill>
          <a:blip r:embed="rId1"/>
          <a:stretch/>
        </p:blipFill>
        <p:spPr>
          <a:xfrm>
            <a:off x="7498080" y="1051560"/>
            <a:ext cx="4205880" cy="4754520"/>
          </a:xfrm>
          <a:prstGeom prst="rect">
            <a:avLst/>
          </a:prstGeom>
          <a:noFill/>
          <a:ln w="0">
            <a:noFill/>
          </a:ln>
        </p:spPr>
      </p:pic>
      <p:sp>
        <p:nvSpPr>
          <p:cNvPr id="72" name="TextBox 6"/>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same simple drawings, but harder as the number of classes grows.</a:t>
            </a:r>
            <a:endParaRPr lang="en-IN" sz="1800" b="0" u="none" strike="noStrike">
              <a:solidFill>
                <a:srgbClr val="000000"/>
              </a:solidFill>
              <a:effectLst/>
              <a:uFillTx/>
              <a:latin typeface="Arial"/>
            </a:endParaRPr>
          </a:p>
        </p:txBody>
      </p:sp>
      <p:sp>
        <p:nvSpPr>
          <p:cNvPr id="73" name="TextBox 7"/>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74" name="TextBox 8"/>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1</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The original team tried four model families, from simple to complex</a:t>
            </a:r>
            <a:endParaRPr lang="en-IN" sz="2800" b="0" u="none" strike="noStrike">
              <a:solidFill>
                <a:srgbClr val="000000"/>
              </a:solidFill>
              <a:effectLst/>
              <a:uFillTx/>
              <a:latin typeface="Arial"/>
            </a:endParaRPr>
          </a:p>
        </p:txBody>
      </p:sp>
      <p:graphicFrame>
        <p:nvGraphicFramePr>
          <p:cNvPr id="76" name="Table 2"/>
          <p:cNvGraphicFramePr/>
          <p:nvPr/>
        </p:nvGraphicFramePr>
        <p:xfrm>
          <a:off x="548640" y="1234440"/>
          <a:ext cx="11063880" cy="4132800"/>
        </p:xfrm>
        <a:graphic>
          <a:graphicData uri="http://schemas.openxmlformats.org/drawingml/2006/table">
            <a:tbl>
              <a:tblPr/>
              <a:tblGrid>
                <a:gridCol w="1463040"/>
                <a:gridCol w="2103120"/>
                <a:gridCol w="2286000"/>
                <a:gridCol w="2834640"/>
                <a:gridCol w="2377440"/>
              </a:tblGrid>
              <a:tr h="411480">
                <a:tc>
                  <a:txBody>
                    <a:bodyPr lIns="73080" tIns="36360" rIns="73080" bIns="36360" anchor="ctr">
                      <a:noAutofit/>
                    </a:bodyPr>
                    <a:p>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Logistic Regression</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SVM</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CNN</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Transfer learning</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r>
              <a:tr h="411480">
                <a:tc>
                  <a:txBody>
                    <a:bodyPr lIns="73080" tIns="36360" rIns="73080" bIns="36360" anchor="ctr">
                      <a:noAutofit/>
                    </a:bodyPr>
                    <a:p>
                      <a:pPr defTabSz="457200">
                        <a:lnSpc>
                          <a:spcPct val="100000"/>
                        </a:lnSpc>
                      </a:pPr>
                      <a:r>
                        <a:rPr lang="en-US" sz="1800" b="1" u="none" strike="noStrike">
                          <a:solidFill>
                            <a:srgbClr val="1F3A5F"/>
                          </a:solidFill>
                          <a:effectLst/>
                          <a:uFillTx/>
                          <a:latin typeface="Arial"/>
                        </a:rPr>
                        <a:t>How it works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Draws straight-line boundaries between classes on raw pixels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Finds the widest margin between classes; kernels allow curved boundaries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Small filters slide over the image to detect strokes and shapes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Reuses networks pre-trained on 1.2 M photos (ImageNet); trains only a small new head</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73080" tIns="36360" rIns="73080" bIns="36360" anchor="ctr">
                      <a:noAutofit/>
                    </a:bodyPr>
                    <a:p>
                      <a:pPr defTabSz="457200">
                        <a:lnSpc>
                          <a:spcPct val="100000"/>
                        </a:lnSpc>
                      </a:pPr>
                      <a:r>
                        <a:rPr lang="en-US" sz="1800" b="1" u="none" strike="noStrike">
                          <a:solidFill>
                            <a:srgbClr val="1F3A5F"/>
                          </a:solidFill>
                          <a:effectLst/>
                          <a:uFillTx/>
                          <a:latin typeface="Arial"/>
                        </a:rPr>
                        <a:t>Why they used it</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Fast baseline</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Tests if non-linear boundaries help</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Learns spatial patterns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Tests if photo knowledge helps doodles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r h="411480">
                <a:tc>
                  <a:txBody>
                    <a:bodyPr lIns="73080" tIns="36360" rIns="73080" bIns="36360" anchor="ctr">
                      <a:noAutofit/>
                    </a:bodyPr>
                    <a:p>
                      <a:pPr defTabSz="457200">
                        <a:lnSpc>
                          <a:spcPct val="100000"/>
                        </a:lnSpc>
                      </a:pPr>
                      <a:r>
                        <a:rPr lang="en-US" sz="1800" b="1" u="none" strike="noStrike">
                          <a:solidFill>
                            <a:srgbClr val="1F3A5F"/>
                          </a:solidFill>
                          <a:effectLst/>
                          <a:uFillTx/>
                          <a:latin typeface="Arial"/>
                        </a:rPr>
                        <a:t>Key settings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100 iterations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4 kernels, 500 iterations; 3 and 10 classes only</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V1 = 2 conv + 2 pooling layers; V2–V4 = simpler versions; 100 epochs; raw and black/white input</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VGG19, InceptionV3, ResNet50, MobileNet; 3 classes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77" name="TextBox 3"/>
          <p:cNvSpPr/>
          <p:nvPr/>
        </p:nvSpPr>
        <p:spPr>
          <a:xfrm>
            <a:off x="548640" y="5440680"/>
            <a:ext cx="10972440" cy="411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5A5A5A"/>
                </a:solidFill>
                <a:effectLst/>
                <a:uFillTx/>
                <a:latin typeface="Arial"/>
              </a:rPr>
              <a:t>Measured: validation accuracy and training time.</a:t>
            </a:r>
            <a:endParaRPr lang="en-IN" sz="1800" b="0" u="none" strike="noStrike">
              <a:solidFill>
                <a:srgbClr val="000000"/>
              </a:solidFill>
              <a:effectLst/>
              <a:uFillTx/>
              <a:latin typeface="Arial"/>
            </a:endParaRPr>
          </a:p>
        </p:txBody>
      </p:sp>
      <p:sp>
        <p:nvSpPr>
          <p:cNvPr id="78" name="TextBox 4"/>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does a more complex model really help on simple drawings?</a:t>
            </a:r>
            <a:endParaRPr lang="en-IN" sz="1800" b="0" u="none" strike="noStrike">
              <a:solidFill>
                <a:srgbClr val="000000"/>
              </a:solidFill>
              <a:effectLst/>
              <a:uFillTx/>
              <a:latin typeface="Arial"/>
            </a:endParaRPr>
          </a:p>
        </p:txBody>
      </p:sp>
      <p:sp>
        <p:nvSpPr>
          <p:cNvPr id="79" name="TextBox 5"/>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80" name="TextBox 6"/>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2</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We rebuilt their exact pipeline</a:t>
            </a:r>
            <a:endParaRPr lang="en-IN" sz="2800" b="0" u="none" strike="noStrike">
              <a:solidFill>
                <a:srgbClr val="000000"/>
              </a:solidFill>
              <a:effectLst/>
              <a:uFillTx/>
              <a:latin typeface="Arial"/>
            </a:endParaRPr>
          </a:p>
        </p:txBody>
      </p:sp>
      <p:sp>
        <p:nvSpPr>
          <p:cNvPr id="82" name="Rectangle 2"/>
          <p:cNvSpPr/>
          <p:nvPr/>
        </p:nvSpPr>
        <p:spPr>
          <a:xfrm>
            <a:off x="548640" y="1234440"/>
            <a:ext cx="1965600" cy="1599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F3A5F"/>
                </a:solidFill>
                <a:effectLst/>
                <a:uFillTx/>
                <a:latin typeface="Arial"/>
              </a:rPr>
              <a:t>QuickDraw</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20,000 per class</a:t>
            </a:r>
            <a:endParaRPr lang="en-IN" sz="1800" b="0" u="none" strike="noStrike">
              <a:solidFill>
                <a:srgbClr val="000000"/>
              </a:solidFill>
              <a:effectLst/>
              <a:uFillTx/>
              <a:latin typeface="Arial"/>
            </a:endParaRPr>
          </a:p>
        </p:txBody>
      </p:sp>
      <p:sp>
        <p:nvSpPr>
          <p:cNvPr id="83" name="Rectangle 3"/>
          <p:cNvSpPr/>
          <p:nvPr/>
        </p:nvSpPr>
        <p:spPr>
          <a:xfrm>
            <a:off x="2816280" y="1234440"/>
            <a:ext cx="1965600" cy="1599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F3A5F"/>
                </a:solidFill>
                <a:effectLst/>
                <a:uFillTx/>
                <a:latin typeface="Arial"/>
              </a:rPr>
              <a:t>One fixed split</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16k / 2k / 2k,</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shared by every model</a:t>
            </a:r>
            <a:endParaRPr lang="en-IN" sz="1800" b="0" u="none" strike="noStrike">
              <a:solidFill>
                <a:srgbClr val="000000"/>
              </a:solidFill>
              <a:effectLst/>
              <a:uFillTx/>
              <a:latin typeface="Arial"/>
            </a:endParaRPr>
          </a:p>
        </p:txBody>
      </p:sp>
      <p:cxnSp>
        <p:nvCxnSpPr>
          <p:cNvPr id="84" name="Connector 4"/>
          <p:cNvCxnSpPr/>
          <p:nvPr/>
        </p:nvCxnSpPr>
        <p:spPr>
          <a:xfrm>
            <a:off x="2541960" y="2034360"/>
            <a:ext cx="247320" cy="360"/>
          </a:xfrm>
          <a:prstGeom prst="straightConnector1">
            <a:avLst/>
          </a:prstGeom>
          <a:ln w="22225">
            <a:solidFill>
              <a:srgbClr val="1F3A5F"/>
            </a:solidFill>
            <a:round/>
            <a:tailEnd len="med" type="triangle" w="med"/>
          </a:ln>
        </p:spPr>
      </p:cxnSp>
      <p:sp>
        <p:nvSpPr>
          <p:cNvPr id="85" name="Rectangle 5"/>
          <p:cNvSpPr/>
          <p:nvPr/>
        </p:nvSpPr>
        <p:spPr>
          <a:xfrm>
            <a:off x="5083920" y="1234440"/>
            <a:ext cx="1965600" cy="1599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F3A5F"/>
                </a:solidFill>
                <a:effectLst/>
                <a:uFillTx/>
                <a:latin typeface="Arial"/>
              </a:rPr>
              <a:t>Same preprocessing</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raw / black-white /</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scaled [−1, 1] / resized</a:t>
            </a:r>
            <a:endParaRPr lang="en-IN" sz="1800" b="0" u="none" strike="noStrike">
              <a:solidFill>
                <a:srgbClr val="000000"/>
              </a:solidFill>
              <a:effectLst/>
              <a:uFillTx/>
              <a:latin typeface="Arial"/>
            </a:endParaRPr>
          </a:p>
        </p:txBody>
      </p:sp>
      <p:cxnSp>
        <p:nvCxnSpPr>
          <p:cNvPr id="86" name="Connector 6"/>
          <p:cNvCxnSpPr/>
          <p:nvPr/>
        </p:nvCxnSpPr>
        <p:spPr>
          <a:xfrm>
            <a:off x="4809600" y="2034360"/>
            <a:ext cx="247320" cy="360"/>
          </a:xfrm>
          <a:prstGeom prst="straightConnector1">
            <a:avLst/>
          </a:prstGeom>
          <a:ln w="22225">
            <a:solidFill>
              <a:srgbClr val="1F3A5F"/>
            </a:solidFill>
            <a:round/>
            <a:tailEnd len="med" type="triangle" w="med"/>
          </a:ln>
        </p:spPr>
      </p:cxnSp>
      <p:sp>
        <p:nvSpPr>
          <p:cNvPr id="87" name="Rectangle 7"/>
          <p:cNvSpPr/>
          <p:nvPr/>
        </p:nvSpPr>
        <p:spPr>
          <a:xfrm>
            <a:off x="7351920" y="1234440"/>
            <a:ext cx="1965600" cy="1599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F3A5F"/>
                </a:solidFill>
                <a:effectLst/>
                <a:uFillTx/>
                <a:latin typeface="Arial"/>
              </a:rPr>
              <a:t>Same models</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and settings</a:t>
            </a:r>
            <a:endParaRPr lang="en-IN" sz="1800" b="0" u="none" strike="noStrike">
              <a:solidFill>
                <a:srgbClr val="000000"/>
              </a:solidFill>
              <a:effectLst/>
              <a:uFillTx/>
              <a:latin typeface="Arial"/>
            </a:endParaRPr>
          </a:p>
        </p:txBody>
      </p:sp>
      <p:cxnSp>
        <p:nvCxnSpPr>
          <p:cNvPr id="88" name="Connector 8"/>
          <p:cNvCxnSpPr/>
          <p:nvPr/>
        </p:nvCxnSpPr>
        <p:spPr>
          <a:xfrm>
            <a:off x="7077240" y="2034360"/>
            <a:ext cx="247320" cy="360"/>
          </a:xfrm>
          <a:prstGeom prst="straightConnector1">
            <a:avLst/>
          </a:prstGeom>
          <a:ln w="22225">
            <a:solidFill>
              <a:srgbClr val="1F3A5F"/>
            </a:solidFill>
            <a:round/>
            <a:tailEnd len="med" type="triangle" w="med"/>
          </a:ln>
        </p:spPr>
      </p:cxnSp>
      <p:sp>
        <p:nvSpPr>
          <p:cNvPr id="89" name="Rectangle 9"/>
          <p:cNvSpPr/>
          <p:nvPr/>
        </p:nvSpPr>
        <p:spPr>
          <a:xfrm>
            <a:off x="9619560" y="1234440"/>
            <a:ext cx="1965600" cy="1599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1" u="none" strike="noStrike">
                <a:solidFill>
                  <a:srgbClr val="1F3A5F"/>
                </a:solidFill>
                <a:effectLst/>
                <a:uFillTx/>
                <a:latin typeface="Arial"/>
              </a:rPr>
              <a:t>Measure</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validation accuracy</a:t>
            </a:r>
            <a:endParaRPr lang="en-IN" sz="1800" b="0" u="none" strike="noStrike">
              <a:solidFill>
                <a:srgbClr val="000000"/>
              </a:solidFill>
              <a:effectLst/>
              <a:uFillTx/>
              <a:latin typeface="Arial"/>
            </a:endParaRPr>
          </a:p>
          <a:p>
            <a:pPr algn="ctr" defTabSz="457200">
              <a:lnSpc>
                <a:spcPct val="100000"/>
              </a:lnSpc>
            </a:pPr>
            <a:r>
              <a:rPr lang="en-US" sz="1800" b="0" u="none" strike="noStrike">
                <a:solidFill>
                  <a:srgbClr val="1A1A1A"/>
                </a:solidFill>
                <a:effectLst/>
                <a:uFillTx/>
                <a:latin typeface="Arial"/>
              </a:rPr>
              <a:t>+ training time</a:t>
            </a:r>
            <a:endParaRPr lang="en-IN" sz="1800" b="0" u="none" strike="noStrike">
              <a:solidFill>
                <a:srgbClr val="000000"/>
              </a:solidFill>
              <a:effectLst/>
              <a:uFillTx/>
              <a:latin typeface="Arial"/>
            </a:endParaRPr>
          </a:p>
        </p:txBody>
      </p:sp>
      <p:cxnSp>
        <p:nvCxnSpPr>
          <p:cNvPr id="90" name="Connector 10"/>
          <p:cNvCxnSpPr/>
          <p:nvPr/>
        </p:nvCxnSpPr>
        <p:spPr>
          <a:xfrm>
            <a:off x="9344880" y="2034360"/>
            <a:ext cx="247320" cy="360"/>
          </a:xfrm>
          <a:prstGeom prst="straightConnector1">
            <a:avLst/>
          </a:prstGeom>
          <a:ln w="22225">
            <a:solidFill>
              <a:srgbClr val="1F3A5F"/>
            </a:solidFill>
            <a:round/>
            <a:tailEnd len="med" type="triangle" w="med"/>
          </a:ln>
        </p:spPr>
      </p:cxnSp>
      <p:sp>
        <p:nvSpPr>
          <p:cNvPr id="91" name="TextBox 11"/>
          <p:cNvSpPr/>
          <p:nvPr/>
        </p:nvSpPr>
        <p:spPr>
          <a:xfrm>
            <a:off x="548640" y="3108960"/>
            <a:ext cx="10972440" cy="411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What differed</a:t>
            </a:r>
            <a:endParaRPr lang="en-IN" sz="1800" b="0" u="none" strike="noStrike">
              <a:solidFill>
                <a:srgbClr val="000000"/>
              </a:solidFill>
              <a:effectLst/>
              <a:uFillTx/>
              <a:latin typeface="Arial"/>
            </a:endParaRPr>
          </a:p>
        </p:txBody>
      </p:sp>
      <p:sp>
        <p:nvSpPr>
          <p:cNvPr id="92" name="TextBox 12"/>
          <p:cNvSpPr/>
          <p:nvPr/>
        </p:nvSpPr>
        <p:spPr>
          <a:xfrm>
            <a:off x="548640" y="3566160"/>
            <a:ext cx="11063880" cy="2194200"/>
          </a:xfrm>
          <a:prstGeom prst="rect">
            <a:avLst/>
          </a:prstGeom>
          <a:noFill/>
          <a:ln w="0">
            <a:noFill/>
          </a:ln>
        </p:spPr>
        <p:style>
          <a:lnRef idx="0"/>
          <a:fillRef idx="0"/>
          <a:effectRef idx="0"/>
          <a:fontRef idx="minor"/>
        </p:style>
        <p:txBody>
          <a:bodyPr lIns="90000" tIns="45000" rIns="90000" bIns="45000" anchor="t">
            <a:spAutoFit/>
          </a:bodyPr>
          <a:p>
            <a:pPr marL="274320" indent="-274320" defTabSz="457200">
              <a:lnSpc>
                <a:spcPct val="100000"/>
              </a:lnSpc>
              <a:spcAft>
                <a:spcPts val="799"/>
              </a:spcAft>
              <a:buClr>
                <a:srgbClr val="1A1A1A"/>
              </a:buClr>
              <a:buFont typeface="Symbol" charset="2"/>
              <a:buChar char=""/>
            </a:pPr>
            <a:r>
              <a:rPr lang="en-US" sz="1800" b="0" u="none" strike="noStrike">
                <a:solidFill>
                  <a:srgbClr val="1A1A1A"/>
                </a:solidFill>
                <a:effectLst/>
                <a:uFillTx/>
                <a:latin typeface="Arial"/>
              </a:rPr>
              <a:t>Newer hardware (RTX 4070 laptop GPU) and newer library versions</a:t>
            </a:r>
            <a:endParaRPr lang="en-IN" sz="1800" b="0" u="none" strike="noStrike">
              <a:solidFill>
                <a:srgbClr val="000000"/>
              </a:solidFill>
              <a:effectLst/>
              <a:uFillTx/>
              <a:latin typeface="Arial"/>
            </a:endParaRPr>
          </a:p>
          <a:p>
            <a:pPr marL="274320" indent="-274320" defTabSz="457200">
              <a:lnSpc>
                <a:spcPct val="100000"/>
              </a:lnSpc>
              <a:spcAft>
                <a:spcPts val="799"/>
              </a:spcAft>
              <a:buClr>
                <a:srgbClr val="1A1A1A"/>
              </a:buClr>
              <a:buFont typeface="Symbol" charset="2"/>
              <a:buChar char=""/>
            </a:pPr>
            <a:r>
              <a:rPr lang="en-US" sz="1800" b="0" u="none" strike="noStrike">
                <a:solidFill>
                  <a:srgbClr val="1A1A1A"/>
                </a:solidFill>
                <a:effectLst/>
                <a:uFillTx/>
                <a:latin typeface="Arial"/>
              </a:rPr>
              <a:t>Transfer learning: frozen-network features computed once, identical result</a:t>
            </a:r>
            <a:endParaRPr lang="en-IN" sz="1800" b="0" u="none" strike="noStrike">
              <a:solidFill>
                <a:srgbClr val="000000"/>
              </a:solidFill>
              <a:effectLst/>
              <a:uFillTx/>
              <a:latin typeface="Arial"/>
            </a:endParaRPr>
          </a:p>
          <a:p>
            <a:pPr marL="274320" indent="-274320" defTabSz="457200">
              <a:lnSpc>
                <a:spcPct val="100000"/>
              </a:lnSpc>
              <a:spcAft>
                <a:spcPts val="799"/>
              </a:spcAft>
              <a:buClr>
                <a:srgbClr val="1A1A1A"/>
              </a:buClr>
              <a:buFont typeface="Symbol" charset="2"/>
              <a:buChar char=""/>
            </a:pPr>
            <a:r>
              <a:rPr lang="en-US" sz="1800" b="0" u="none" strike="noStrike">
                <a:solidFill>
                  <a:srgbClr val="1A1A1A"/>
                </a:solidFill>
                <a:effectLst/>
                <a:uFillTx/>
                <a:latin typeface="Arial"/>
              </a:rPr>
              <a:t>30.9 min instead of about 15.7 h with their method</a:t>
            </a:r>
            <a:endParaRPr lang="en-IN" sz="1800" b="0" u="none" strike="noStrike">
              <a:solidFill>
                <a:srgbClr val="000000"/>
              </a:solidFill>
              <a:effectLst/>
              <a:uFillTx/>
              <a:latin typeface="Arial"/>
            </a:endParaRPr>
          </a:p>
          <a:p>
            <a:pPr marL="274320" indent="-274320" defTabSz="457200">
              <a:lnSpc>
                <a:spcPct val="100000"/>
              </a:lnSpc>
              <a:spcAft>
                <a:spcPts val="799"/>
              </a:spcAft>
              <a:buClr>
                <a:srgbClr val="1A1A1A"/>
              </a:buClr>
              <a:buFont typeface="Symbol" charset="2"/>
              <a:buChar char=""/>
            </a:pPr>
            <a:r>
              <a:rPr lang="en-US" sz="1800" b="0" u="none" strike="noStrike">
                <a:solidFill>
                  <a:srgbClr val="1A1A1A"/>
                </a:solidFill>
                <a:effectLst/>
                <a:uFillTx/>
                <a:latin typeface="Arial"/>
              </a:rPr>
              <a:t>We read the authors' original code to explain any gaps</a:t>
            </a:r>
            <a:endParaRPr lang="en-IN" sz="1800" b="0" u="none" strike="noStrike">
              <a:solidFill>
                <a:srgbClr val="000000"/>
              </a:solidFill>
              <a:effectLst/>
              <a:uFillTx/>
              <a:latin typeface="Arial"/>
            </a:endParaRPr>
          </a:p>
        </p:txBody>
      </p:sp>
      <p:sp>
        <p:nvSpPr>
          <p:cNvPr id="93" name="TextBox 13"/>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same experiment, so any difference must have a cause.</a:t>
            </a:r>
            <a:endParaRPr lang="en-IN" sz="1800" b="0" u="none" strike="noStrike">
              <a:solidFill>
                <a:srgbClr val="000000"/>
              </a:solidFill>
              <a:effectLst/>
              <a:uFillTx/>
              <a:latin typeface="Arial"/>
            </a:endParaRPr>
          </a:p>
        </p:txBody>
      </p:sp>
      <p:sp>
        <p:nvSpPr>
          <p:cNvPr id="94" name="TextBox 14"/>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95" name="TextBox 15"/>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3</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Most results reproduce; three don't</a:t>
            </a:r>
            <a:endParaRPr lang="en-IN" sz="2800" b="0" u="none" strike="noStrike">
              <a:solidFill>
                <a:srgbClr val="000000"/>
              </a:solidFill>
              <a:effectLst/>
              <a:uFillTx/>
              <a:latin typeface="Arial"/>
            </a:endParaRPr>
          </a:p>
        </p:txBody>
      </p:sp>
      <p:graphicFrame>
        <p:nvGraphicFramePr>
          <p:cNvPr id="97" name="Table 2"/>
          <p:cNvGraphicFramePr/>
          <p:nvPr/>
        </p:nvGraphicFramePr>
        <p:xfrm>
          <a:off x="548640" y="1188720"/>
          <a:ext cx="11063880" cy="3913560"/>
        </p:xfrm>
        <a:graphic>
          <a:graphicData uri="http://schemas.openxmlformats.org/drawingml/2006/table">
            <a:tbl>
              <a:tblPr/>
              <a:tblGrid>
                <a:gridCol w="3931920"/>
                <a:gridCol w="1920240"/>
                <a:gridCol w="1920240"/>
                <a:gridCol w="3291840"/>
              </a:tblGrid>
              <a:tr h="548640">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Model (classes)</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Reported</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Ours</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Status</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r>
              <a:tr h="54864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Logistic Regression (3 / 10 / 50)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79.5 / 64.6 / 43.9</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79.3 / 65.8 / 43.3</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1" u="none" strike="noStrike">
                          <a:solidFill>
                            <a:srgbClr val="1E8E3E"/>
                          </a:solidFill>
                          <a:effectLst/>
                          <a:uFillTx/>
                          <a:latin typeface="Arial"/>
                        </a:rPr>
                        <a:t>Matches: within 1.2 points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64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CNN V1 (50)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81.8</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81.2</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1" u="none" strike="noStrike">
                          <a:solidFill>
                            <a:srgbClr val="1E8E3E"/>
                          </a:solidFill>
                          <a:effectLst/>
                          <a:uFillTx/>
                          <a:latin typeface="Arial"/>
                        </a:rPr>
                        <a:t>Matches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r h="54864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VGG19 transfer learning (3)</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95.6</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95.4</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1" u="none" strike="noStrike">
                          <a:solidFill>
                            <a:srgbClr val="1E8E3E"/>
                          </a:solidFill>
                          <a:effectLst/>
                          <a:uFillTx/>
                          <a:latin typeface="Arial"/>
                        </a:rPr>
                        <a:t>Matches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64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SVM RBF (3)</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62.7</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84.0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1" u="none" strike="noStrike">
                          <a:solidFill>
                            <a:srgbClr val="C5221F"/>
                          </a:solidFill>
                          <a:effectLst/>
                          <a:uFillTx/>
                          <a:latin typeface="Arial"/>
                        </a:rPr>
                        <a:t>Differs: ours higher</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r h="54864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CNN "V2" (50)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81.8</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75.1</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1" u="none" strike="noStrike">
                          <a:solidFill>
                            <a:srgbClr val="C5221F"/>
                          </a:solidFill>
                          <a:effectLst/>
                          <a:uFillTx/>
                          <a:latin typeface="Arial"/>
                        </a:rPr>
                        <a:t>Differs: ours lower</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4864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ResNet50 / InceptionV3 / MobileNet (3)</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62.7 / 45.7 / 75.4</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95.4 / 93.1 / 94.6</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1" u="none" strike="noStrike">
                          <a:solidFill>
                            <a:srgbClr val="C5221F"/>
                          </a:solidFill>
                          <a:effectLst/>
                          <a:uFillTx/>
                          <a:latin typeface="Arial"/>
                        </a:rPr>
                        <a:t>Differs: ours much higher</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bl>
          </a:graphicData>
        </a:graphic>
      </p:graphicFrame>
      <p:sp>
        <p:nvSpPr>
          <p:cNvPr id="98" name="TextBox 3"/>
          <p:cNvSpPr/>
          <p:nvPr/>
        </p:nvSpPr>
        <p:spPr>
          <a:xfrm>
            <a:off x="548640" y="5166360"/>
            <a:ext cx="10972440" cy="4111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5A5A5A"/>
                </a:solidFill>
                <a:effectLst/>
                <a:uFillTx/>
                <a:latin typeface="Arial"/>
              </a:rPr>
              <a:t>Validation accuracy (%), as in the paper.</a:t>
            </a:r>
            <a:endParaRPr lang="en-IN" sz="1800" b="0" u="none" strike="noStrike">
              <a:solidFill>
                <a:srgbClr val="000000"/>
              </a:solidFill>
              <a:effectLst/>
              <a:uFillTx/>
              <a:latin typeface="Arial"/>
            </a:endParaRPr>
          </a:p>
        </p:txBody>
      </p:sp>
      <p:sp>
        <p:nvSpPr>
          <p:cNvPr id="99" name="TextBox 4"/>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the reproduction works; three gaps needed explaining.</a:t>
            </a:r>
            <a:endParaRPr lang="en-IN" sz="1800" b="0" u="none" strike="noStrike">
              <a:solidFill>
                <a:srgbClr val="000000"/>
              </a:solidFill>
              <a:effectLst/>
              <a:uFillTx/>
              <a:latin typeface="Arial"/>
            </a:endParaRPr>
          </a:p>
        </p:txBody>
      </p:sp>
      <p:sp>
        <p:nvSpPr>
          <p:cNvPr id="100" name="TextBox 5"/>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101" name="TextBox 6"/>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4</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Why the three differences happen</a:t>
            </a:r>
            <a:endParaRPr lang="en-IN" sz="2800" b="0" u="none" strike="noStrike">
              <a:solidFill>
                <a:srgbClr val="000000"/>
              </a:solidFill>
              <a:effectLst/>
              <a:uFillTx/>
              <a:latin typeface="Arial"/>
            </a:endParaRPr>
          </a:p>
        </p:txBody>
      </p:sp>
      <p:graphicFrame>
        <p:nvGraphicFramePr>
          <p:cNvPr id="103" name="Table 2"/>
          <p:cNvGraphicFramePr/>
          <p:nvPr/>
        </p:nvGraphicFramePr>
        <p:xfrm>
          <a:off x="548640" y="1097280"/>
          <a:ext cx="7954920" cy="3419640"/>
        </p:xfrm>
        <a:graphic>
          <a:graphicData uri="http://schemas.openxmlformats.org/drawingml/2006/table">
            <a:tbl>
              <a:tblPr/>
              <a:tblGrid>
                <a:gridCol w="2103120"/>
                <a:gridCol w="2743200"/>
                <a:gridCol w="3108960"/>
              </a:tblGrid>
              <a:tr h="457200">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What we saw</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Why</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Our evidence</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r>
              <a:tr h="457200">
                <a:tc>
                  <a:txBody>
                    <a:bodyPr lIns="73080" tIns="36360" rIns="73080" bIns="36360" anchor="ctr">
                      <a:noAutofit/>
                    </a:bodyPr>
                    <a:p>
                      <a:pPr defTabSz="457200">
                        <a:lnSpc>
                          <a:spcPct val="100000"/>
                        </a:lnSpc>
                      </a:pPr>
                      <a:r>
                        <a:rPr lang="en-US" sz="1800" b="1" u="none" strike="noStrike">
                          <a:solidFill>
                            <a:srgbClr val="1A1A1A"/>
                          </a:solidFill>
                          <a:effectLst/>
                          <a:uFillTx/>
                          <a:latin typeface="Arial"/>
                        </a:rPr>
                        <a:t>SVM scores higher than reported</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Their runs used ~70,000 drawings per class with the same 500-step limit: less converged</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Our 70,000 rerun: RBF 84.0 → 75.0 (3 classes), 74.6 → 64.3 (10); theirs 62.7 / 61.0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73080" tIns="36360" rIns="73080" bIns="36360" anchor="ctr">
                      <a:noAutofit/>
                    </a:bodyPr>
                    <a:p>
                      <a:pPr defTabSz="457200">
                        <a:lnSpc>
                          <a:spcPct val="100000"/>
                        </a:lnSpc>
                      </a:pPr>
                      <a:r>
                        <a:rPr lang="en-US" sz="1800" b="1" u="none" strike="noStrike">
                          <a:solidFill>
                            <a:srgbClr val="1A1A1A"/>
                          </a:solidFill>
                          <a:effectLst/>
                          <a:uFillTx/>
                          <a:latin typeface="Arial"/>
                        </a:rPr>
                        <a:t>Their "V2" equals our V1</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A script bug trained V1 under every V2–V4 label</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Our V1 81.2 vs their "V2" 81.8; our real V2 75.1</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r h="457200">
                <a:tc>
                  <a:txBody>
                    <a:bodyPr lIns="73080" tIns="36360" rIns="73080" bIns="36360" anchor="ctr">
                      <a:noAutofit/>
                    </a:bodyPr>
                    <a:p>
                      <a:pPr defTabSz="457200">
                        <a:lnSpc>
                          <a:spcPct val="100000"/>
                        </a:lnSpc>
                      </a:pPr>
                      <a:r>
                        <a:rPr lang="en-US" sz="1800" b="1" u="none" strike="noStrike">
                          <a:solidFill>
                            <a:srgbClr val="1A1A1A"/>
                          </a:solidFill>
                          <a:effectLst/>
                          <a:uFillTx/>
                          <a:latin typeface="Arial"/>
                        </a:rPr>
                        <a:t>Transfer learning far higher for 3 of 4 networks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Frozen BatchNorm layers behaved differently in 2018 Keras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VGG19 (no BatchNorm) matches: 95.4 vs 95.6; their Inception log: 99.99% train vs 45.7% validation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pic>
        <p:nvPicPr>
          <p:cNvPr id="104" name="Picture 3" descr="tl_reported_vs_ours.png"/>
          <p:cNvPicPr/>
          <p:nvPr/>
        </p:nvPicPr>
        <p:blipFill>
          <a:blip r:embed="rId1"/>
          <a:stretch/>
        </p:blipFill>
        <p:spPr>
          <a:xfrm>
            <a:off x="8366760" y="1097280"/>
            <a:ext cx="3748680" cy="3565800"/>
          </a:xfrm>
          <a:prstGeom prst="rect">
            <a:avLst/>
          </a:prstGeom>
          <a:noFill/>
          <a:ln w="0">
            <a:noFill/>
          </a:ln>
        </p:spPr>
      </p:pic>
      <p:sp>
        <p:nvSpPr>
          <p:cNvPr id="105" name="TextBox 4"/>
          <p:cNvSpPr/>
          <p:nvPr/>
        </p:nvSpPr>
        <p:spPr>
          <a:xfrm>
            <a:off x="548640" y="5166360"/>
            <a:ext cx="11063880" cy="63972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5A5A5A"/>
                </a:solidFill>
                <a:effectLst/>
                <a:uFillTx/>
                <a:latin typeface="Arial"/>
              </a:rPr>
              <a:t>CNN V3 is 2.5 / 5.2 points lower at 10 / 50 classes: unexplained, likely seed or library differences.</a:t>
            </a:r>
            <a:endParaRPr lang="en-IN" sz="1800" b="0" u="none" strike="noStrike">
              <a:solidFill>
                <a:srgbClr val="000000"/>
              </a:solidFill>
              <a:effectLst/>
              <a:uFillTx/>
              <a:latin typeface="Arial"/>
            </a:endParaRPr>
          </a:p>
        </p:txBody>
      </p:sp>
      <p:sp>
        <p:nvSpPr>
          <p:cNvPr id="106" name="TextBox 5"/>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the paper's claim that complex networks don't help doodles is likely an artefact.</a:t>
            </a:r>
            <a:endParaRPr lang="en-IN" sz="1800" b="0" u="none" strike="noStrike">
              <a:solidFill>
                <a:srgbClr val="000000"/>
              </a:solidFill>
              <a:effectLst/>
              <a:uFillTx/>
              <a:latin typeface="Arial"/>
            </a:endParaRPr>
          </a:p>
        </p:txBody>
      </p:sp>
      <p:sp>
        <p:nvSpPr>
          <p:cNvPr id="107" name="TextBox 6"/>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108" name="TextBox 7"/>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5</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Our extension: XGBoost, a model family the paper never tried</a:t>
            </a:r>
            <a:endParaRPr lang="en-IN" sz="2800" b="0" u="none" strike="noStrike">
              <a:solidFill>
                <a:srgbClr val="000000"/>
              </a:solidFill>
              <a:effectLst/>
              <a:uFillTx/>
              <a:latin typeface="Arial"/>
            </a:endParaRPr>
          </a:p>
        </p:txBody>
      </p:sp>
      <p:sp>
        <p:nvSpPr>
          <p:cNvPr id="110" name="Rectangle 2"/>
          <p:cNvSpPr/>
          <p:nvPr/>
        </p:nvSpPr>
        <p:spPr>
          <a:xfrm>
            <a:off x="640080" y="1234440"/>
            <a:ext cx="1919880" cy="456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0" u="none" strike="noStrike">
                <a:solidFill>
                  <a:srgbClr val="1A1A1A"/>
                </a:solidFill>
                <a:effectLst/>
                <a:uFillTx/>
                <a:latin typeface="Arial"/>
              </a:rPr>
              <a:t>Tree 1</a:t>
            </a:r>
            <a:endParaRPr lang="en-IN" sz="1800" b="0" u="none" strike="noStrike">
              <a:solidFill>
                <a:srgbClr val="000000"/>
              </a:solidFill>
              <a:effectLst/>
              <a:uFillTx/>
              <a:latin typeface="Arial"/>
            </a:endParaRPr>
          </a:p>
        </p:txBody>
      </p:sp>
      <p:cxnSp>
        <p:nvCxnSpPr>
          <p:cNvPr id="111" name="Connector 3"/>
          <p:cNvCxnSpPr/>
          <p:nvPr/>
        </p:nvCxnSpPr>
        <p:spPr>
          <a:xfrm>
            <a:off x="1600200" y="1709640"/>
            <a:ext cx="360" cy="238320"/>
          </a:xfrm>
          <a:prstGeom prst="straightConnector1">
            <a:avLst/>
          </a:prstGeom>
          <a:ln w="22225">
            <a:solidFill>
              <a:srgbClr val="1F3A5F"/>
            </a:solidFill>
            <a:round/>
            <a:tailEnd len="med" type="triangle" w="med"/>
          </a:ln>
        </p:spPr>
      </p:cxnSp>
      <p:sp>
        <p:nvSpPr>
          <p:cNvPr id="112" name="Rectangle 4"/>
          <p:cNvSpPr/>
          <p:nvPr/>
        </p:nvSpPr>
        <p:spPr>
          <a:xfrm>
            <a:off x="640080" y="1965960"/>
            <a:ext cx="1919880" cy="456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0" u="none" strike="noStrike">
                <a:solidFill>
                  <a:srgbClr val="1A1A1A"/>
                </a:solidFill>
                <a:effectLst/>
                <a:uFillTx/>
                <a:latin typeface="Arial"/>
              </a:rPr>
              <a:t>Tree 2</a:t>
            </a:r>
            <a:endParaRPr lang="en-IN" sz="1800" b="0" u="none" strike="noStrike">
              <a:solidFill>
                <a:srgbClr val="000000"/>
              </a:solidFill>
              <a:effectLst/>
              <a:uFillTx/>
              <a:latin typeface="Arial"/>
            </a:endParaRPr>
          </a:p>
        </p:txBody>
      </p:sp>
      <p:cxnSp>
        <p:nvCxnSpPr>
          <p:cNvPr id="113" name="Connector 5"/>
          <p:cNvCxnSpPr/>
          <p:nvPr/>
        </p:nvCxnSpPr>
        <p:spPr>
          <a:xfrm>
            <a:off x="1600200" y="2441160"/>
            <a:ext cx="360" cy="238320"/>
          </a:xfrm>
          <a:prstGeom prst="straightConnector1">
            <a:avLst/>
          </a:prstGeom>
          <a:ln w="22225">
            <a:solidFill>
              <a:srgbClr val="1F3A5F"/>
            </a:solidFill>
            <a:round/>
            <a:tailEnd len="med" type="triangle" w="med"/>
          </a:ln>
        </p:spPr>
      </p:cxnSp>
      <p:sp>
        <p:nvSpPr>
          <p:cNvPr id="114" name="TextBox 6"/>
          <p:cNvSpPr/>
          <p:nvPr/>
        </p:nvSpPr>
        <p:spPr>
          <a:xfrm>
            <a:off x="640080" y="2697480"/>
            <a:ext cx="1919880" cy="456840"/>
          </a:xfrm>
          <a:prstGeom prst="rect">
            <a:avLst/>
          </a:prstGeom>
          <a:noFill/>
          <a:ln w="0">
            <a:noFill/>
          </a:ln>
        </p:spPr>
        <p:style>
          <a:lnRef idx="0"/>
          <a:fillRef idx="0"/>
          <a:effectRef idx="0"/>
          <a:fontRef idx="minor"/>
        </p:style>
        <p:txBody>
          <a:bodyPr lIns="90000" tIns="45000" rIns="90000" bIns="45000" anchor="ctr">
            <a:spAutoFit/>
          </a:bodyPr>
          <a:p>
            <a:pPr algn="ctr" defTabSz="457200">
              <a:lnSpc>
                <a:spcPct val="100000"/>
              </a:lnSpc>
            </a:pPr>
            <a:r>
              <a:rPr lang="en-US" sz="1800" b="0" u="none" strike="noStrike">
                <a:solidFill>
                  <a:srgbClr val="1A1A1A"/>
                </a:solidFill>
                <a:effectLst/>
                <a:uFillTx/>
                <a:latin typeface="Arial"/>
              </a:rPr>
              <a:t>…</a:t>
            </a:r>
            <a:endParaRPr lang="en-IN" sz="1800" b="0" u="none" strike="noStrike">
              <a:solidFill>
                <a:srgbClr val="000000"/>
              </a:solidFill>
              <a:effectLst/>
              <a:uFillTx/>
              <a:latin typeface="Arial"/>
            </a:endParaRPr>
          </a:p>
        </p:txBody>
      </p:sp>
      <p:cxnSp>
        <p:nvCxnSpPr>
          <p:cNvPr id="115" name="Connector 7"/>
          <p:cNvCxnSpPr/>
          <p:nvPr/>
        </p:nvCxnSpPr>
        <p:spPr>
          <a:xfrm>
            <a:off x="1600200" y="3172680"/>
            <a:ext cx="360" cy="238320"/>
          </a:xfrm>
          <a:prstGeom prst="straightConnector1">
            <a:avLst/>
          </a:prstGeom>
          <a:ln w="22225">
            <a:solidFill>
              <a:srgbClr val="1F3A5F"/>
            </a:solidFill>
            <a:round/>
            <a:tailEnd len="med" type="triangle" w="med"/>
          </a:ln>
        </p:spPr>
      </p:cxnSp>
      <p:sp>
        <p:nvSpPr>
          <p:cNvPr id="116" name="Rectangle 8"/>
          <p:cNvSpPr/>
          <p:nvPr/>
        </p:nvSpPr>
        <p:spPr>
          <a:xfrm>
            <a:off x="640080" y="3429000"/>
            <a:ext cx="1919880" cy="456840"/>
          </a:xfrm>
          <a:prstGeom prst="rect">
            <a:avLst/>
          </a:prstGeom>
          <a:solidFill>
            <a:srgbClr val="FFFFFF"/>
          </a:solidFill>
          <a:ln w="19050">
            <a:solidFill>
              <a:srgbClr val="1F3A5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tIns="45000" rIns="54720" bIns="45000" anchor="ctr">
            <a:noAutofit/>
          </a:bodyPr>
          <a:p>
            <a:pPr algn="ctr" defTabSz="457200">
              <a:lnSpc>
                <a:spcPct val="100000"/>
              </a:lnSpc>
            </a:pPr>
            <a:r>
              <a:rPr lang="en-US" sz="1800" b="0" u="none" strike="noStrike">
                <a:solidFill>
                  <a:srgbClr val="1A1A1A"/>
                </a:solidFill>
                <a:effectLst/>
                <a:uFillTx/>
                <a:latin typeface="Arial"/>
              </a:rPr>
              <a:t>Tree N</a:t>
            </a:r>
            <a:endParaRPr lang="en-IN" sz="1800" b="0" u="none" strike="noStrike">
              <a:solidFill>
                <a:srgbClr val="000000"/>
              </a:solidFill>
              <a:effectLst/>
              <a:uFillTx/>
              <a:latin typeface="Arial"/>
            </a:endParaRPr>
          </a:p>
        </p:txBody>
      </p:sp>
      <p:sp>
        <p:nvSpPr>
          <p:cNvPr id="117" name="TextBox 9"/>
          <p:cNvSpPr/>
          <p:nvPr/>
        </p:nvSpPr>
        <p:spPr>
          <a:xfrm>
            <a:off x="548640" y="4160520"/>
            <a:ext cx="210276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0" u="none" strike="noStrike">
                <a:solidFill>
                  <a:srgbClr val="1A1A1A"/>
                </a:solidFill>
                <a:effectLst/>
                <a:uFillTx/>
                <a:latin typeface="Arial"/>
              </a:rPr>
              <a:t>Each new tree fixes the mistakes of the previous ones; their votes are added up.</a:t>
            </a:r>
            <a:endParaRPr lang="en-IN" sz="1800" b="0" u="none" strike="noStrike">
              <a:solidFill>
                <a:srgbClr val="000000"/>
              </a:solidFill>
              <a:effectLst/>
              <a:uFillTx/>
              <a:latin typeface="Arial"/>
            </a:endParaRPr>
          </a:p>
        </p:txBody>
      </p:sp>
      <p:sp>
        <p:nvSpPr>
          <p:cNvPr id="118" name="TextBox 10"/>
          <p:cNvSpPr/>
          <p:nvPr/>
        </p:nvSpPr>
        <p:spPr>
          <a:xfrm>
            <a:off x="2743200" y="1234440"/>
            <a:ext cx="8869320" cy="1554120"/>
          </a:xfrm>
          <a:prstGeom prst="rect">
            <a:avLst/>
          </a:prstGeom>
          <a:noFill/>
          <a:ln w="0">
            <a:noFill/>
          </a:ln>
        </p:spPr>
        <p:style>
          <a:lnRef idx="0"/>
          <a:fillRef idx="0"/>
          <a:effectRef idx="0"/>
          <a:fontRef idx="minor"/>
        </p:style>
        <p:txBody>
          <a:bodyPr lIns="90000" tIns="45000" rIns="90000" bIns="45000" anchor="t">
            <a:spAutoFit/>
          </a:bodyPr>
          <a:p>
            <a:pPr marL="274320" indent="-274320" defTabSz="457200">
              <a:lnSpc>
                <a:spcPct val="100000"/>
              </a:lnSpc>
              <a:spcAft>
                <a:spcPts val="601"/>
              </a:spcAft>
              <a:buClr>
                <a:srgbClr val="1A1A1A"/>
              </a:buClr>
              <a:buFont typeface="Symbol" charset="2"/>
              <a:buChar char=""/>
            </a:pPr>
            <a:r>
              <a:rPr lang="en-US" sz="1800" b="0" u="none" strike="noStrike">
                <a:solidFill>
                  <a:srgbClr val="1A1A1A"/>
                </a:solidFill>
                <a:effectLst/>
                <a:uFillTx/>
                <a:latin typeface="Arial"/>
              </a:rPr>
              <a:t>Why: the reference had no tree-based model; it trains fast on a GPU</a:t>
            </a:r>
            <a:endParaRPr lang="en-IN" sz="1800" b="0" u="none" strike="noStrike">
              <a:solidFill>
                <a:srgbClr val="000000"/>
              </a:solidFill>
              <a:effectLst/>
              <a:uFillTx/>
              <a:latin typeface="Arial"/>
            </a:endParaRPr>
          </a:p>
          <a:p>
            <a:pPr marL="274320" indent="-274320" defTabSz="457200">
              <a:lnSpc>
                <a:spcPct val="100000"/>
              </a:lnSpc>
              <a:spcAft>
                <a:spcPts val="601"/>
              </a:spcAft>
              <a:buClr>
                <a:srgbClr val="1A1A1A"/>
              </a:buClr>
              <a:buFont typeface="Symbol" charset="2"/>
              <a:buChar char=""/>
            </a:pPr>
            <a:r>
              <a:rPr lang="en-US" sz="1800" b="0" u="none" strike="noStrike">
                <a:solidFill>
                  <a:srgbClr val="1A1A1A"/>
                </a:solidFill>
                <a:effectLst/>
                <a:uFillTx/>
                <a:latin typeface="Arial"/>
              </a:rPr>
              <a:t>Tuned 7 settings with Optuna Bayesian search, on validation only</a:t>
            </a:r>
            <a:endParaRPr lang="en-IN" sz="1800" b="0" u="none" strike="noStrike">
              <a:solidFill>
                <a:srgbClr val="000000"/>
              </a:solidFill>
              <a:effectLst/>
              <a:uFillTx/>
              <a:latin typeface="Arial"/>
            </a:endParaRPr>
          </a:p>
          <a:p>
            <a:pPr marL="274320" indent="-274320" defTabSz="457200">
              <a:lnSpc>
                <a:spcPct val="100000"/>
              </a:lnSpc>
              <a:spcAft>
                <a:spcPts val="601"/>
              </a:spcAft>
              <a:buClr>
                <a:srgbClr val="1A1A1A"/>
              </a:buClr>
              <a:buFont typeface="Symbol" charset="2"/>
              <a:buChar char=""/>
            </a:pPr>
            <a:r>
              <a:rPr lang="en-US" sz="1800" b="0" u="none" strike="noStrike">
                <a:solidFill>
                  <a:srgbClr val="1A1A1A"/>
                </a:solidFill>
                <a:effectLst/>
                <a:uFillTx/>
                <a:latin typeface="Arial"/>
              </a:rPr>
              <a:t>Test set used once; first run was time-limited, so we retrained fully</a:t>
            </a:r>
            <a:endParaRPr lang="en-IN" sz="1800" b="0" u="none" strike="noStrike">
              <a:solidFill>
                <a:srgbClr val="000000"/>
              </a:solidFill>
              <a:effectLst/>
              <a:uFillTx/>
              <a:latin typeface="Arial"/>
            </a:endParaRPr>
          </a:p>
        </p:txBody>
      </p:sp>
      <p:graphicFrame>
        <p:nvGraphicFramePr>
          <p:cNvPr id="119" name="Table 11"/>
          <p:cNvGraphicFramePr/>
          <p:nvPr/>
        </p:nvGraphicFramePr>
        <p:xfrm>
          <a:off x="2743200" y="2926080"/>
          <a:ext cx="5348880" cy="2267640"/>
        </p:xfrm>
        <a:graphic>
          <a:graphicData uri="http://schemas.openxmlformats.org/drawingml/2006/table">
            <a:tbl>
              <a:tblPr/>
              <a:tblGrid>
                <a:gridCol w="1143000"/>
                <a:gridCol w="2103120"/>
                <a:gridCol w="2103120"/>
              </a:tblGrid>
              <a:tr h="457200">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Classes</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First run</a:t>
                      </a:r>
                      <a:endParaRPr lang="en-IN" sz="1800" b="0" u="none" strike="noStrike">
                        <a:solidFill>
                          <a:srgbClr val="FFFFFF"/>
                        </a:solidFill>
                        <a:effectLst/>
                        <a:uFillTx/>
                        <a:latin typeface="Arial"/>
                      </a:endParaRPr>
                    </a:p>
                    <a:p>
                      <a:pPr algn="ctr" defTabSz="457200">
                        <a:lnSpc>
                          <a:spcPct val="100000"/>
                        </a:lnSpc>
                      </a:pPr>
                      <a:r>
                        <a:rPr lang="en-US" sz="1800" b="1" u="none" strike="noStrike">
                          <a:solidFill>
                            <a:srgbClr val="FFFFFF"/>
                          </a:solidFill>
                          <a:effectLst/>
                          <a:uFillTx/>
                          <a:latin typeface="Arial"/>
                        </a:rPr>
                        <a:t>(time-limited)</a:t>
                      </a:r>
                      <a:endParaRPr lang="en-IN" sz="1800" b="0" u="none" strike="noStrike">
                        <a:solidFill>
                          <a:srgbClr val="FFFFFF"/>
                        </a:solidFill>
                        <a:effectLst/>
                        <a:uFillTx/>
                        <a:latin typeface="Arial"/>
                      </a:endParaRPr>
                    </a:p>
                    <a:p>
                      <a:pPr algn="ctr" defTabSz="457200">
                        <a:lnSpc>
                          <a:spcPct val="100000"/>
                        </a:lnSpc>
                      </a:pPr>
                      <a:r>
                        <a:rPr lang="en-US" sz="1800" b="1" u="none" strike="noStrike">
                          <a:solidFill>
                            <a:srgbClr val="FFFFFF"/>
                          </a:solidFill>
                          <a:effectLst/>
                          <a:uFillTx/>
                          <a:latin typeface="Arial"/>
                        </a:rPr>
                        <a:t>validation / test</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Fully trained</a:t>
                      </a:r>
                      <a:endParaRPr lang="en-IN" sz="1800" b="0" u="none" strike="noStrike">
                        <a:solidFill>
                          <a:srgbClr val="FFFFFF"/>
                        </a:solidFill>
                        <a:effectLst/>
                        <a:uFillTx/>
                        <a:latin typeface="Arial"/>
                      </a:endParaRPr>
                    </a:p>
                    <a:p>
                      <a:pPr algn="ctr" defTabSz="457200">
                        <a:lnSpc>
                          <a:spcPct val="100000"/>
                        </a:lnSpc>
                      </a:pPr>
                      <a:endParaRPr lang="en-IN" sz="1800" b="0" u="none" strike="noStrike">
                        <a:solidFill>
                          <a:srgbClr val="FFFFFF"/>
                        </a:solidFill>
                        <a:effectLst/>
                        <a:uFillTx/>
                        <a:latin typeface="Arial"/>
                      </a:endParaRPr>
                    </a:p>
                    <a:p>
                      <a:pPr algn="ctr" defTabSz="457200">
                        <a:lnSpc>
                          <a:spcPct val="100000"/>
                        </a:lnSpc>
                      </a:pPr>
                      <a:r>
                        <a:rPr lang="en-US" sz="1800" b="1" u="none" strike="noStrike">
                          <a:solidFill>
                            <a:srgbClr val="FFFFFF"/>
                          </a:solidFill>
                          <a:effectLst/>
                          <a:uFillTx/>
                          <a:latin typeface="Arial"/>
                        </a:rPr>
                        <a:t>validation / test</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r>
              <a:tr h="45720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3</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91.7 / 90.8</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91.7 / 90.8</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10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89.8 / 89.7</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89.8 / 89.8</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r h="45720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50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77.4 / 77.4</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78.0 / 77.9</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pic>
        <p:nvPicPr>
          <p:cNvPr id="120" name="Picture 12" descr="xgb_50_learning_curve.png"/>
          <p:cNvPicPr/>
          <p:nvPr/>
        </p:nvPicPr>
        <p:blipFill>
          <a:blip r:embed="rId1"/>
          <a:stretch/>
        </p:blipFill>
        <p:spPr>
          <a:xfrm>
            <a:off x="8138160" y="2926080"/>
            <a:ext cx="3520080" cy="2651400"/>
          </a:xfrm>
          <a:prstGeom prst="rect">
            <a:avLst/>
          </a:prstGeom>
          <a:noFill/>
          <a:ln w="0">
            <a:noFill/>
          </a:ln>
        </p:spPr>
      </p:pic>
      <p:sp>
        <p:nvSpPr>
          <p:cNvPr id="121" name="TextBox 13"/>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more training gained only +0.5 points (test); XGBoost hits a ceiling around 78%.</a:t>
            </a:r>
            <a:endParaRPr lang="en-IN" sz="1800" b="0" u="none" strike="noStrike">
              <a:solidFill>
                <a:srgbClr val="000000"/>
              </a:solidFill>
              <a:effectLst/>
              <a:uFillTx/>
              <a:latin typeface="Arial"/>
            </a:endParaRPr>
          </a:p>
        </p:txBody>
      </p:sp>
      <p:sp>
        <p:nvSpPr>
          <p:cNvPr id="122" name="TextBox 14"/>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123" name="TextBox 15"/>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6</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All models compared: the CNN wins on 50 classes, accurately and fast</a:t>
            </a:r>
            <a:endParaRPr lang="en-IN" sz="2800" b="0" u="none" strike="noStrike">
              <a:solidFill>
                <a:srgbClr val="000000"/>
              </a:solidFill>
              <a:effectLst/>
              <a:uFillTx/>
              <a:latin typeface="Arial"/>
            </a:endParaRPr>
          </a:p>
        </p:txBody>
      </p:sp>
      <p:pic>
        <p:nvPicPr>
          <p:cNvPr id="125" name="Picture 2" descr="acc_vs_time_50_classes.png"/>
          <p:cNvPicPr/>
          <p:nvPr/>
        </p:nvPicPr>
        <p:blipFill>
          <a:blip r:embed="rId1"/>
          <a:stretch/>
        </p:blipFill>
        <p:spPr>
          <a:xfrm>
            <a:off x="548640" y="1188720"/>
            <a:ext cx="11063880" cy="2331360"/>
          </a:xfrm>
          <a:prstGeom prst="rect">
            <a:avLst/>
          </a:prstGeom>
          <a:noFill/>
          <a:ln w="0">
            <a:noFill/>
          </a:ln>
        </p:spPr>
      </p:pic>
      <p:graphicFrame>
        <p:nvGraphicFramePr>
          <p:cNvPr id="126" name="Table 3"/>
          <p:cNvGraphicFramePr/>
          <p:nvPr/>
        </p:nvGraphicFramePr>
        <p:xfrm>
          <a:off x="548640" y="3566160"/>
          <a:ext cx="11063880" cy="1773000"/>
        </p:xfrm>
        <a:graphic>
          <a:graphicData uri="http://schemas.openxmlformats.org/drawingml/2006/table">
            <a:tbl>
              <a:tblPr/>
              <a:tblGrid>
                <a:gridCol w="1097280"/>
                <a:gridCol w="1737360"/>
                <a:gridCol w="2057400"/>
                <a:gridCol w="2011680"/>
                <a:gridCol w="2011680"/>
                <a:gridCol w="2148840"/>
              </a:tblGrid>
              <a:tr h="383760">
                <a:tc>
                  <a:txBody>
                    <a:bodyPr lIns="73080" tIns="36360" rIns="73080" bIns="36360" anchor="ctr">
                      <a:noAutofit/>
                    </a:bodyPr>
                    <a:p>
                      <a:pPr defTabSz="457200">
                        <a:lnSpc>
                          <a:spcPct val="100000"/>
                        </a:lnSpc>
                      </a:pPr>
                      <a:r>
                        <a:rPr lang="en-US" sz="1800" b="1" u="none" strike="noStrike">
                          <a:solidFill>
                            <a:srgbClr val="FFFFFF"/>
                          </a:solidFill>
                          <a:effectLst/>
                          <a:uFillTx/>
                          <a:latin typeface="Arial"/>
                        </a:rPr>
                        <a:t>Classes</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Logistic</a:t>
                      </a:r>
                      <a:endParaRPr lang="en-IN" sz="1800" b="0" u="none" strike="noStrike">
                        <a:solidFill>
                          <a:srgbClr val="FFFFFF"/>
                        </a:solidFill>
                        <a:effectLst/>
                        <a:uFillTx/>
                        <a:latin typeface="Arial"/>
                      </a:endParaRPr>
                    </a:p>
                    <a:p>
                      <a:pPr algn="ctr" defTabSz="457200">
                        <a:lnSpc>
                          <a:spcPct val="100000"/>
                        </a:lnSpc>
                      </a:pPr>
                      <a:r>
                        <a:rPr lang="en-US" sz="1800" b="1" u="none" strike="noStrike">
                          <a:solidFill>
                            <a:srgbClr val="FFFFFF"/>
                          </a:solidFill>
                          <a:effectLst/>
                          <a:uFillTx/>
                          <a:latin typeface="Arial"/>
                        </a:rPr>
                        <a:t>Regression</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SVM</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CNN</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Transfer</a:t>
                      </a:r>
                      <a:endParaRPr lang="en-IN" sz="1800" b="0" u="none" strike="noStrike">
                        <a:solidFill>
                          <a:srgbClr val="FFFFFF"/>
                        </a:solidFill>
                        <a:effectLst/>
                        <a:uFillTx/>
                        <a:latin typeface="Arial"/>
                      </a:endParaRPr>
                    </a:p>
                    <a:p>
                      <a:pPr algn="ctr" defTabSz="457200">
                        <a:lnSpc>
                          <a:spcPct val="100000"/>
                        </a:lnSpc>
                      </a:pPr>
                      <a:r>
                        <a:rPr lang="en-US" sz="1800" b="1" u="none" strike="noStrike">
                          <a:solidFill>
                            <a:srgbClr val="FFFFFF"/>
                          </a:solidFill>
                          <a:effectLst/>
                          <a:uFillTx/>
                          <a:latin typeface="Arial"/>
                        </a:rPr>
                        <a:t>learning</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c>
                  <a:txBody>
                    <a:bodyPr lIns="73080" tIns="36360" rIns="73080" bIns="36360" anchor="ctr">
                      <a:noAutofit/>
                    </a:bodyPr>
                    <a:p>
                      <a:pPr algn="ctr" defTabSz="457200">
                        <a:lnSpc>
                          <a:spcPct val="100000"/>
                        </a:lnSpc>
                      </a:pPr>
                      <a:r>
                        <a:rPr lang="en-US" sz="1800" b="1" u="none" strike="noStrike">
                          <a:solidFill>
                            <a:srgbClr val="FFFFFF"/>
                          </a:solidFill>
                          <a:effectLst/>
                          <a:uFillTx/>
                          <a:latin typeface="Arial"/>
                        </a:rPr>
                        <a:t>XGBoost</a:t>
                      </a:r>
                      <a:endParaRPr lang="en-IN" sz="1800" b="0" u="none" strike="noStrike">
                        <a:solidFill>
                          <a:srgbClr val="FFFFFF"/>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3A5F"/>
                    </a:solidFill>
                  </a:tcPr>
                </a:tc>
              </a:tr>
              <a:tr h="38376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3</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79.3% · 20 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84.0% · 41 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91.7% · 38 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95.4% · 3.5 min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91.7% · 57 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8376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10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65.8% · 20 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74.6% · 10.9 min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88.8% · 1.8 min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89.8% · 8.1 min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4F7"/>
                    </a:solidFill>
                  </a:tcPr>
                </a:tc>
              </a:tr>
              <a:tr h="383760">
                <a:tc>
                  <a:txBody>
                    <a:bodyPr lIns="73080" tIns="36360" rIns="73080" bIns="36360" anchor="ctr">
                      <a:noAutofit/>
                    </a:bodyPr>
                    <a:p>
                      <a:pPr defTabSz="457200">
                        <a:lnSpc>
                          <a:spcPct val="100000"/>
                        </a:lnSpc>
                      </a:pPr>
                      <a:r>
                        <a:rPr lang="en-US" sz="1800" b="0" u="none" strike="noStrike">
                          <a:solidFill>
                            <a:srgbClr val="1A1A1A"/>
                          </a:solidFill>
                          <a:effectLst/>
                          <a:uFillTx/>
                          <a:latin typeface="Arial"/>
                        </a:rPr>
                        <a:t>50</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43.3% · 86 s</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81.2% · 7.2 min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73080" tIns="36360" rIns="73080" bIns="36360" anchor="ctr">
                      <a:noAutofit/>
                    </a:bodyPr>
                    <a:p>
                      <a:pPr algn="ctr" defTabSz="457200">
                        <a:lnSpc>
                          <a:spcPct val="100000"/>
                        </a:lnSpc>
                      </a:pPr>
                      <a:r>
                        <a:rPr lang="en-US" sz="1800" b="0" u="none" strike="noStrike">
                          <a:solidFill>
                            <a:srgbClr val="1A1A1A"/>
                          </a:solidFill>
                          <a:effectLst/>
                          <a:uFillTx/>
                          <a:latin typeface="Arial"/>
                        </a:rPr>
                        <a:t>78.0% · 119.9 min</a:t>
                      </a:r>
                      <a:endParaRPr lang="en-IN" sz="1800" b="0" u="none" strike="noStrike">
                        <a:solidFill>
                          <a:srgbClr val="000000"/>
                        </a:solidFill>
                        <a:effectLst/>
                        <a:uFillTx/>
                        <a:latin typeface="Arial"/>
                      </a:endParaRPr>
                    </a:p>
                  </a:txBody>
                  <a:tcPr anchor="ctr" marL="73080" marR="73080" marT="36360" marB="3636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27" name="TextBox 4"/>
          <p:cNvSpPr/>
          <p:nvPr/>
        </p:nvSpPr>
        <p:spPr>
          <a:xfrm>
            <a:off x="548640" y="5532120"/>
            <a:ext cx="11063880" cy="3196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400" b="0" u="none" strike="noStrike">
                <a:solidFill>
                  <a:srgbClr val="5A5A5A"/>
                </a:solidFill>
                <a:effectLst/>
                <a:uFillTx/>
                <a:latin typeface="Arial"/>
              </a:rPr>
              <a:t>Best model per family, validation %. — = not run in the reference (SVM: 3 and 10 classes; transfer learning: 3 classes).</a:t>
            </a:r>
            <a:endParaRPr lang="en-IN" sz="1400" b="0" u="none" strike="noStrike">
              <a:solidFill>
                <a:srgbClr val="000000"/>
              </a:solidFill>
              <a:effectLst/>
              <a:uFillTx/>
              <a:latin typeface="Arial"/>
            </a:endParaRPr>
          </a:p>
        </p:txBody>
      </p:sp>
      <p:sp>
        <p:nvSpPr>
          <p:cNvPr id="128" name="TextBox 5"/>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simple models fall off as classes grow; CNNs scale best.</a:t>
            </a:r>
            <a:endParaRPr lang="en-IN" sz="1800" b="0" u="none" strike="noStrike">
              <a:solidFill>
                <a:srgbClr val="000000"/>
              </a:solidFill>
              <a:effectLst/>
              <a:uFillTx/>
              <a:latin typeface="Arial"/>
            </a:endParaRPr>
          </a:p>
        </p:txBody>
      </p:sp>
      <p:sp>
        <p:nvSpPr>
          <p:cNvPr id="129" name="TextBox 6"/>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130" name="TextBox 7"/>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7</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 name="TextBox 1"/>
          <p:cNvSpPr/>
          <p:nvPr/>
        </p:nvSpPr>
        <p:spPr>
          <a:xfrm>
            <a:off x="548640" y="182880"/>
            <a:ext cx="11063880" cy="959760"/>
          </a:xfrm>
          <a:prstGeom prst="rect">
            <a:avLst/>
          </a:prstGeom>
          <a:noFill/>
          <a:ln w="0">
            <a:noFill/>
          </a:ln>
        </p:spPr>
        <p:style>
          <a:lnRef idx="0"/>
          <a:fillRef idx="0"/>
          <a:effectRef idx="0"/>
          <a:fontRef idx="minor"/>
        </p:style>
        <p:txBody>
          <a:bodyPr lIns="90000" tIns="45000" rIns="90000" bIns="45000" anchor="ctr">
            <a:spAutoFit/>
          </a:bodyPr>
          <a:p>
            <a:pPr defTabSz="457200">
              <a:lnSpc>
                <a:spcPct val="100000"/>
              </a:lnSpc>
            </a:pPr>
            <a:r>
              <a:rPr lang="en-US" sz="2800" b="1" u="none" strike="noStrike">
                <a:solidFill>
                  <a:srgbClr val="1F3A5F"/>
                </a:solidFill>
                <a:effectLst/>
                <a:uFillTx/>
                <a:latin typeface="Arial"/>
              </a:rPr>
              <a:t>What we learned</a:t>
            </a:r>
            <a:endParaRPr lang="en-IN" sz="2800" b="0" u="none" strike="noStrike">
              <a:solidFill>
                <a:srgbClr val="000000"/>
              </a:solidFill>
              <a:effectLst/>
              <a:uFillTx/>
              <a:latin typeface="Arial"/>
            </a:endParaRPr>
          </a:p>
        </p:txBody>
      </p:sp>
      <p:sp>
        <p:nvSpPr>
          <p:cNvPr id="132" name="TextBox 2"/>
          <p:cNvSpPr/>
          <p:nvPr/>
        </p:nvSpPr>
        <p:spPr>
          <a:xfrm>
            <a:off x="456120" y="1280160"/>
            <a:ext cx="11063880" cy="4205880"/>
          </a:xfrm>
          <a:prstGeom prst="rect">
            <a:avLst/>
          </a:prstGeom>
          <a:noFill/>
          <a:ln w="0">
            <a:noFill/>
          </a:ln>
        </p:spPr>
        <p:style>
          <a:lnRef idx="0"/>
          <a:fillRef idx="0"/>
          <a:effectRef idx="0"/>
          <a:fontRef idx="minor"/>
        </p:style>
        <p:txBody>
          <a:bodyPr lIns="90000" tIns="45000" rIns="90000" bIns="45000" anchor="t">
            <a:spAutoFit/>
          </a:bodyPr>
          <a:p>
            <a:pPr marL="274320" indent="-274320" defTabSz="457200">
              <a:lnSpc>
                <a:spcPct val="100000"/>
              </a:lnSpc>
              <a:spcAft>
                <a:spcPts val="2001"/>
              </a:spcAft>
              <a:buClr>
                <a:srgbClr val="1A1A1A"/>
              </a:buClr>
              <a:buFont typeface="Symbol" charset="2"/>
              <a:buChar char=""/>
            </a:pPr>
            <a:r>
              <a:rPr lang="en-US" sz="1800" b="0" u="none" strike="noStrike">
                <a:solidFill>
                  <a:srgbClr val="1A1A1A"/>
                </a:solidFill>
                <a:effectLst/>
                <a:uFillTx/>
                <a:latin typeface="Arial"/>
              </a:rPr>
              <a:t>CNN is best on 50 classes: 81.2%, about 16.7× faster than XGBoost (78.0%)</a:t>
            </a:r>
            <a:endParaRPr lang="en-IN" sz="1800" b="0" u="none" strike="noStrike">
              <a:solidFill>
                <a:srgbClr val="000000"/>
              </a:solidFill>
              <a:effectLst/>
              <a:uFillTx/>
              <a:latin typeface="Arial"/>
            </a:endParaRPr>
          </a:p>
          <a:p>
            <a:pPr marL="274320" indent="-274320" defTabSz="457200">
              <a:lnSpc>
                <a:spcPct val="100000"/>
              </a:lnSpc>
              <a:spcAft>
                <a:spcPts val="2001"/>
              </a:spcAft>
              <a:buClr>
                <a:srgbClr val="1A1A1A"/>
              </a:buClr>
              <a:buFont typeface="Symbol" charset="2"/>
              <a:buChar char=""/>
            </a:pPr>
            <a:r>
              <a:rPr lang="en-US" sz="1800" b="0" u="none" strike="noStrike">
                <a:solidFill>
                  <a:srgbClr val="1A1A1A"/>
                </a:solidFill>
                <a:effectLst/>
                <a:uFillTx/>
                <a:latin typeface="Arial"/>
              </a:rPr>
              <a:t>XGBoost matches CNNs on 3 and 10 classes; trees judge pixels, CNNs learn shapes</a:t>
            </a:r>
            <a:endParaRPr lang="en-IN" sz="1800" b="0" u="none" strike="noStrike">
              <a:solidFill>
                <a:srgbClr val="000000"/>
              </a:solidFill>
              <a:effectLst/>
              <a:uFillTx/>
              <a:latin typeface="Arial"/>
            </a:endParaRPr>
          </a:p>
          <a:p>
            <a:pPr marL="274320" indent="-274320" defTabSz="457200">
              <a:lnSpc>
                <a:spcPct val="100000"/>
              </a:lnSpc>
              <a:spcAft>
                <a:spcPts val="2001"/>
              </a:spcAft>
              <a:buClr>
                <a:srgbClr val="1A1A1A"/>
              </a:buClr>
              <a:buFont typeface="Symbol" charset="2"/>
              <a:buChar char=""/>
            </a:pPr>
            <a:r>
              <a:rPr lang="en-US" sz="1800" b="0" u="none" strike="noStrike">
                <a:solidFill>
                  <a:srgbClr val="1A1A1A"/>
                </a:solidFill>
                <a:effectLst/>
                <a:uFillTx/>
                <a:latin typeface="Arial"/>
              </a:rPr>
              <a:t>Three surprising paper results traced to their setup: data size, script bug, BatchNorm</a:t>
            </a:r>
            <a:endParaRPr lang="en-IN" sz="1800" b="0" u="none" strike="noStrike">
              <a:solidFill>
                <a:srgbClr val="000000"/>
              </a:solidFill>
              <a:effectLst/>
              <a:uFillTx/>
              <a:latin typeface="Arial"/>
            </a:endParaRPr>
          </a:p>
          <a:p>
            <a:pPr marL="274320" indent="-274320" defTabSz="457200">
              <a:lnSpc>
                <a:spcPct val="100000"/>
              </a:lnSpc>
              <a:spcAft>
                <a:spcPts val="2001"/>
              </a:spcAft>
              <a:buClr>
                <a:srgbClr val="1A1A1A"/>
              </a:buClr>
              <a:buFont typeface="Symbol" charset="2"/>
              <a:buChar char=""/>
            </a:pPr>
            <a:r>
              <a:rPr lang="en-US" sz="1800" b="0" u="none" strike="noStrike">
                <a:solidFill>
                  <a:srgbClr val="1A1A1A"/>
                </a:solidFill>
                <a:effectLst/>
                <a:uFillTx/>
                <a:latin typeface="Arial"/>
              </a:rPr>
              <a:t>Future work: feed transfer-learning features into XGBoost</a:t>
            </a:r>
            <a:endParaRPr lang="en-IN" sz="1800" b="0" u="none" strike="noStrike">
              <a:solidFill>
                <a:srgbClr val="000000"/>
              </a:solidFill>
              <a:effectLst/>
              <a:uFillTx/>
              <a:latin typeface="Arial"/>
            </a:endParaRPr>
          </a:p>
        </p:txBody>
      </p:sp>
      <p:sp>
        <p:nvSpPr>
          <p:cNvPr id="133" name="TextBox 3"/>
          <p:cNvSpPr/>
          <p:nvPr/>
        </p:nvSpPr>
        <p:spPr>
          <a:xfrm>
            <a:off x="548640" y="5870520"/>
            <a:ext cx="11063880" cy="4568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800" b="1" u="none" strike="noStrike">
                <a:solidFill>
                  <a:srgbClr val="1F3A5F"/>
                </a:solidFill>
                <a:effectLst/>
                <a:uFillTx/>
                <a:latin typeface="Arial"/>
              </a:rPr>
              <a:t>Takeaway: yes: a small CNN names the right doodle out of 50 classes 81.2% of the time.</a:t>
            </a:r>
            <a:endParaRPr lang="en-IN" sz="1800" b="0" u="none" strike="noStrike">
              <a:solidFill>
                <a:srgbClr val="000000"/>
              </a:solidFill>
              <a:effectLst/>
              <a:uFillTx/>
              <a:latin typeface="Arial"/>
            </a:endParaRPr>
          </a:p>
        </p:txBody>
      </p:sp>
      <p:sp>
        <p:nvSpPr>
          <p:cNvPr id="134" name="TextBox 4"/>
          <p:cNvSpPr/>
          <p:nvPr/>
        </p:nvSpPr>
        <p:spPr>
          <a:xfrm>
            <a:off x="548640" y="6446520"/>
            <a:ext cx="9143640" cy="27396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1000" b="0" u="none" strike="noStrike">
                <a:solidFill>
                  <a:srgbClr val="5A5A5A"/>
                </a:solidFill>
                <a:effectLst/>
                <a:uFillTx/>
                <a:latin typeface="Arial"/>
              </a:rPr>
              <a:t>Drawing: A New Way To Search — Reproduce &amp; Extend</a:t>
            </a:r>
            <a:endParaRPr lang="en-IN" sz="1000" b="0" u="none" strike="noStrike">
              <a:solidFill>
                <a:srgbClr val="000000"/>
              </a:solidFill>
              <a:effectLst/>
              <a:uFillTx/>
              <a:latin typeface="Arial"/>
            </a:endParaRPr>
          </a:p>
        </p:txBody>
      </p:sp>
      <p:sp>
        <p:nvSpPr>
          <p:cNvPr id="135" name="TextBox 5"/>
          <p:cNvSpPr/>
          <p:nvPr/>
        </p:nvSpPr>
        <p:spPr>
          <a:xfrm>
            <a:off x="10698480" y="6446520"/>
            <a:ext cx="914040" cy="273960"/>
          </a:xfrm>
          <a:prstGeom prst="rect">
            <a:avLst/>
          </a:prstGeom>
          <a:noFill/>
          <a:ln w="0">
            <a:noFill/>
          </a:ln>
        </p:spPr>
        <p:style>
          <a:lnRef idx="0"/>
          <a:fillRef idx="0"/>
          <a:effectRef idx="0"/>
          <a:fontRef idx="minor"/>
        </p:style>
        <p:txBody>
          <a:bodyPr lIns="90000" tIns="45000" rIns="90000" bIns="45000" anchor="t">
            <a:spAutoFit/>
          </a:bodyPr>
          <a:p>
            <a:pPr algn="r" defTabSz="457200">
              <a:lnSpc>
                <a:spcPct val="100000"/>
              </a:lnSpc>
            </a:pPr>
            <a:r>
              <a:rPr lang="en-US" sz="1000" b="0" u="none" strike="noStrike">
                <a:solidFill>
                  <a:srgbClr val="5A5A5A"/>
                </a:solidFill>
                <a:effectLst/>
                <a:uFillTx/>
                <a:latin typeface="Arial"/>
              </a:rPr>
              <a:t>8</a:t>
            </a:r>
            <a:endParaRPr lang="en-IN"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TotalTime>
  <Application>LibreOffice/26.2.6.3$Linux_X86_64 LibreOffice_project/620$Build-3</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2026-10-13T10:59:07Z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